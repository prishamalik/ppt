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Default Extension="jpg" ContentType="image/jpg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A717F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A717F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5519" y="12"/>
            <a:ext cx="2316238" cy="16910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A717F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5519" y="12"/>
            <a:ext cx="2316238" cy="169100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303507"/>
            <a:ext cx="1828444" cy="155413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8640" y="1279791"/>
            <a:ext cx="11063884" cy="51202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A717F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6A717F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75519" y="12"/>
            <a:ext cx="2316238" cy="169100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5303507"/>
            <a:ext cx="1828444" cy="15541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3335" y="444144"/>
            <a:ext cx="1028954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91919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6241" y="1323021"/>
            <a:ext cx="11329035" cy="4114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826976" y="6506347"/>
            <a:ext cx="204470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6A717F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-355" y="-355"/>
            <a:ext cx="6217920" cy="6858000"/>
          </a:xfrm>
          <a:custGeom>
            <a:avLst/>
            <a:gdLst/>
            <a:ahLst/>
            <a:cxnLst/>
            <a:rect l="l" t="t" r="r" b="b"/>
            <a:pathLst>
              <a:path w="6217920" h="6858000">
                <a:moveTo>
                  <a:pt x="6217551" y="0"/>
                </a:moveTo>
                <a:lnTo>
                  <a:pt x="0" y="0"/>
                </a:lnTo>
                <a:lnTo>
                  <a:pt x="0" y="6857631"/>
                </a:lnTo>
                <a:lnTo>
                  <a:pt x="3108960" y="6857631"/>
                </a:lnTo>
                <a:lnTo>
                  <a:pt x="6217551" y="6857631"/>
                </a:lnTo>
                <a:lnTo>
                  <a:pt x="6217551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584" y="1449984"/>
            <a:ext cx="5054600" cy="29527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719455">
              <a:lnSpc>
                <a:spcPct val="100000"/>
              </a:lnSpc>
              <a:spcBef>
                <a:spcPts val="100"/>
              </a:spcBef>
            </a:pPr>
            <a:r>
              <a:rPr dirty="0" sz="3200" spc="180">
                <a:solidFill>
                  <a:srgbClr val="FFFFFF"/>
                </a:solidFill>
              </a:rPr>
              <a:t>CONFIDENCE-</a:t>
            </a:r>
            <a:r>
              <a:rPr dirty="0" sz="3200" spc="190">
                <a:solidFill>
                  <a:srgbClr val="FFFFFF"/>
                </a:solidFill>
              </a:rPr>
              <a:t>AWARE </a:t>
            </a:r>
            <a:r>
              <a:rPr dirty="0" sz="3200" spc="170">
                <a:solidFill>
                  <a:srgbClr val="FFFFFF"/>
                </a:solidFill>
              </a:rPr>
              <a:t>ADAPTIVE</a:t>
            </a:r>
            <a:endParaRPr sz="3200"/>
          </a:p>
          <a:p>
            <a:pPr marL="12700" marR="5080">
              <a:lnSpc>
                <a:spcPct val="100000"/>
              </a:lnSpc>
            </a:pPr>
            <a:r>
              <a:rPr dirty="0" sz="3200" spc="160">
                <a:solidFill>
                  <a:srgbClr val="FFFFFF"/>
                </a:solidFill>
              </a:rPr>
              <a:t>RETRIEVAL-</a:t>
            </a:r>
            <a:r>
              <a:rPr dirty="0" sz="3200" spc="190">
                <a:solidFill>
                  <a:srgbClr val="FFFFFF"/>
                </a:solidFill>
              </a:rPr>
              <a:t>AUGMENTED </a:t>
            </a:r>
            <a:r>
              <a:rPr dirty="0" sz="3200" spc="180">
                <a:solidFill>
                  <a:srgbClr val="FFFFFF"/>
                </a:solidFill>
              </a:rPr>
              <a:t>GENERATION</a:t>
            </a:r>
            <a:r>
              <a:rPr dirty="0" sz="3200" spc="-55">
                <a:solidFill>
                  <a:srgbClr val="FFFFFF"/>
                </a:solidFill>
              </a:rPr>
              <a:t> </a:t>
            </a:r>
            <a:r>
              <a:rPr dirty="0" sz="3200" spc="195">
                <a:solidFill>
                  <a:srgbClr val="FFFFFF"/>
                </a:solidFill>
              </a:rPr>
              <a:t>USING </a:t>
            </a:r>
            <a:r>
              <a:rPr dirty="0" sz="3200" spc="275">
                <a:solidFill>
                  <a:srgbClr val="FFFFFF"/>
                </a:solidFill>
              </a:rPr>
              <a:t>SMALL</a:t>
            </a:r>
            <a:r>
              <a:rPr dirty="0" sz="3200" spc="-130">
                <a:solidFill>
                  <a:srgbClr val="FFFFFF"/>
                </a:solidFill>
              </a:rPr>
              <a:t> </a:t>
            </a:r>
            <a:r>
              <a:rPr dirty="0" sz="3200" spc="235">
                <a:solidFill>
                  <a:srgbClr val="FFFFFF"/>
                </a:solidFill>
              </a:rPr>
              <a:t>LANGUAGE </a:t>
            </a:r>
            <a:r>
              <a:rPr dirty="0" sz="3200" spc="265">
                <a:solidFill>
                  <a:srgbClr val="FFFFFF"/>
                </a:solidFill>
              </a:rPr>
              <a:t>MODELS</a:t>
            </a:r>
            <a:endParaRPr sz="3200"/>
          </a:p>
        </p:txBody>
      </p:sp>
      <p:sp>
        <p:nvSpPr>
          <p:cNvPr id="4" name="object 4" descr=""/>
          <p:cNvSpPr txBox="1"/>
          <p:nvPr/>
        </p:nvSpPr>
        <p:spPr>
          <a:xfrm>
            <a:off x="625576" y="5320703"/>
            <a:ext cx="23583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2315" algn="l"/>
                <a:tab pos="1449705" algn="l"/>
              </a:tabLst>
            </a:pPr>
            <a:r>
              <a:rPr dirty="0" sz="1400" b="1">
                <a:solidFill>
                  <a:srgbClr val="5DE9D3"/>
                </a:solidFill>
                <a:latin typeface="Trebuchet MS"/>
                <a:cs typeface="Trebuchet MS"/>
              </a:rPr>
              <a:t>F</a:t>
            </a:r>
            <a:r>
              <a:rPr dirty="0" sz="1400" spc="195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400" spc="95" b="1">
                <a:solidFill>
                  <a:srgbClr val="5DE9D3"/>
                </a:solidFill>
                <a:latin typeface="Trebuchet MS"/>
                <a:cs typeface="Trebuchet MS"/>
              </a:rPr>
              <a:t>O</a:t>
            </a:r>
            <a:r>
              <a:rPr dirty="0" sz="1400" spc="200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400" spc="90" b="1">
                <a:solidFill>
                  <a:srgbClr val="5DE9D3"/>
                </a:solidFill>
                <a:latin typeface="Trebuchet MS"/>
                <a:cs typeface="Trebuchet MS"/>
              </a:rPr>
              <a:t>R</a:t>
            </a:r>
            <a:r>
              <a:rPr dirty="0" sz="1400" b="1">
                <a:solidFill>
                  <a:srgbClr val="5DE9D3"/>
                </a:solidFill>
                <a:latin typeface="Trebuchet MS"/>
                <a:cs typeface="Trebuchet MS"/>
              </a:rPr>
              <a:t>	</a:t>
            </a:r>
            <a:r>
              <a:rPr dirty="0" sz="1400" spc="65" b="1">
                <a:solidFill>
                  <a:srgbClr val="5DE9D3"/>
                </a:solidFill>
                <a:latin typeface="Trebuchet MS"/>
                <a:cs typeface="Trebuchet MS"/>
              </a:rPr>
              <a:t>N</a:t>
            </a:r>
            <a:r>
              <a:rPr dirty="0" sz="1400" spc="175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400" spc="75" b="1">
                <a:solidFill>
                  <a:srgbClr val="5DE9D3"/>
                </a:solidFill>
                <a:latin typeface="Trebuchet MS"/>
                <a:cs typeface="Trebuchet MS"/>
              </a:rPr>
              <a:t>L</a:t>
            </a:r>
            <a:r>
              <a:rPr dirty="0" sz="1400" spc="185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400" spc="55" b="1">
                <a:solidFill>
                  <a:srgbClr val="5DE9D3"/>
                </a:solidFill>
                <a:latin typeface="Trebuchet MS"/>
                <a:cs typeface="Trebuchet MS"/>
              </a:rPr>
              <a:t>P</a:t>
            </a:r>
            <a:r>
              <a:rPr dirty="0" sz="1400" b="1">
                <a:solidFill>
                  <a:srgbClr val="5DE9D3"/>
                </a:solidFill>
                <a:latin typeface="Trebuchet MS"/>
                <a:cs typeface="Trebuchet MS"/>
              </a:rPr>
              <a:t>	T</a:t>
            </a:r>
            <a:r>
              <a:rPr dirty="0" sz="1400" spc="70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400" spc="114" b="1">
                <a:solidFill>
                  <a:srgbClr val="5DE9D3"/>
                </a:solidFill>
                <a:latin typeface="Trebuchet MS"/>
                <a:cs typeface="Trebuchet MS"/>
              </a:rPr>
              <a:t>A</a:t>
            </a:r>
            <a:r>
              <a:rPr dirty="0" sz="1400" spc="185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400" spc="220" b="1">
                <a:solidFill>
                  <a:srgbClr val="5DE9D3"/>
                </a:solidFill>
                <a:latin typeface="Trebuchet MS"/>
                <a:cs typeface="Trebuchet MS"/>
              </a:rPr>
              <a:t>S</a:t>
            </a:r>
            <a:r>
              <a:rPr dirty="0" sz="1400" spc="175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400" spc="145" b="1">
                <a:solidFill>
                  <a:srgbClr val="5DE9D3"/>
                </a:solidFill>
                <a:latin typeface="Trebuchet MS"/>
                <a:cs typeface="Trebuchet MS"/>
              </a:rPr>
              <a:t>K</a:t>
            </a:r>
            <a:r>
              <a:rPr dirty="0" sz="1400" spc="170" b="1">
                <a:solidFill>
                  <a:srgbClr val="5DE9D3"/>
                </a:solidFill>
                <a:latin typeface="Trebuchet MS"/>
                <a:cs typeface="Trebuchet MS"/>
              </a:rPr>
              <a:t> 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12"/>
            <a:ext cx="3108960" cy="6858000"/>
            <a:chOff x="0" y="12"/>
            <a:chExt cx="3108960" cy="68580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"/>
              <a:ext cx="2559964" cy="210238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937747"/>
              <a:ext cx="3108604" cy="1919897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6843496" y="1439388"/>
            <a:ext cx="2290445" cy="75247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300" i="1">
                <a:solidFill>
                  <a:srgbClr val="6A717F"/>
                </a:solidFill>
                <a:latin typeface="Arial"/>
                <a:cs typeface="Arial"/>
              </a:rPr>
              <a:t>Under</a:t>
            </a:r>
            <a:r>
              <a:rPr dirty="0" sz="1300" spc="-55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6A717F"/>
                </a:solidFill>
                <a:latin typeface="Arial"/>
                <a:cs typeface="Arial"/>
              </a:rPr>
              <a:t>the</a:t>
            </a:r>
            <a:r>
              <a:rPr dirty="0" sz="1300" spc="-55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6A717F"/>
                </a:solidFill>
                <a:latin typeface="Arial"/>
                <a:cs typeface="Arial"/>
              </a:rPr>
              <a:t>Guidance</a:t>
            </a:r>
            <a:r>
              <a:rPr dirty="0" sz="1300" spc="-55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300" spc="-35" i="1">
                <a:solidFill>
                  <a:srgbClr val="6A717F"/>
                </a:solidFill>
                <a:latin typeface="Arial"/>
                <a:cs typeface="Arial"/>
              </a:rPr>
              <a:t>of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2200" spc="-85" b="1">
                <a:solidFill>
                  <a:srgbClr val="191919"/>
                </a:solidFill>
                <a:latin typeface="Trebuchet MS"/>
                <a:cs typeface="Trebuchet MS"/>
              </a:rPr>
              <a:t>Dr.</a:t>
            </a:r>
            <a:r>
              <a:rPr dirty="0" sz="2200" spc="-1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2200" b="1">
                <a:solidFill>
                  <a:srgbClr val="191919"/>
                </a:solidFill>
                <a:latin typeface="Trebuchet MS"/>
                <a:cs typeface="Trebuchet MS"/>
              </a:rPr>
              <a:t>Apoorvi</a:t>
            </a:r>
            <a:r>
              <a:rPr dirty="0" sz="2200" spc="9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2200" spc="114" b="1">
                <a:solidFill>
                  <a:srgbClr val="191919"/>
                </a:solidFill>
                <a:latin typeface="Trebuchet MS"/>
                <a:cs typeface="Trebuchet MS"/>
              </a:rPr>
              <a:t>Sood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6766559" y="2423160"/>
            <a:ext cx="4114800" cy="635"/>
          </a:xfrm>
          <a:custGeom>
            <a:avLst/>
            <a:gdLst/>
            <a:ahLst/>
            <a:cxnLst/>
            <a:rect l="l" t="t" r="r" b="b"/>
            <a:pathLst>
              <a:path w="4114800" h="635">
                <a:moveTo>
                  <a:pt x="0" y="0"/>
                </a:moveTo>
                <a:lnTo>
                  <a:pt x="4114800" y="355"/>
                </a:lnTo>
              </a:path>
            </a:pathLst>
          </a:custGeom>
          <a:ln w="25559">
            <a:solidFill>
              <a:srgbClr val="0C93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843496" y="2775140"/>
            <a:ext cx="1496060" cy="1579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25" b="1">
                <a:solidFill>
                  <a:srgbClr val="191919"/>
                </a:solidFill>
                <a:latin typeface="Trebuchet MS"/>
                <a:cs typeface="Trebuchet MS"/>
              </a:rPr>
              <a:t>HARSH</a:t>
            </a:r>
            <a:r>
              <a:rPr dirty="0" sz="1500" spc="-4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500" spc="105" b="1">
                <a:solidFill>
                  <a:srgbClr val="191919"/>
                </a:solidFill>
                <a:latin typeface="Trebuchet MS"/>
                <a:cs typeface="Trebuchet MS"/>
              </a:rPr>
              <a:t>DUBEY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500" spc="-10">
                <a:solidFill>
                  <a:srgbClr val="6A717F"/>
                </a:solidFill>
                <a:latin typeface="Microsoft Sans Serif"/>
                <a:cs typeface="Microsoft Sans Serif"/>
              </a:rPr>
              <a:t>2022UIT3012</a:t>
            </a:r>
            <a:endParaRPr sz="1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500" spc="114" b="1">
                <a:solidFill>
                  <a:srgbClr val="191919"/>
                </a:solidFill>
                <a:latin typeface="Trebuchet MS"/>
                <a:cs typeface="Trebuchet MS"/>
              </a:rPr>
              <a:t>PRISHA</a:t>
            </a:r>
            <a:r>
              <a:rPr dirty="0" sz="1500" spc="-10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500" spc="80" b="1">
                <a:solidFill>
                  <a:srgbClr val="191919"/>
                </a:solidFill>
                <a:latin typeface="Trebuchet MS"/>
                <a:cs typeface="Trebuchet MS"/>
              </a:rPr>
              <a:t>MALIK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500" spc="-10">
                <a:solidFill>
                  <a:srgbClr val="6A717F"/>
                </a:solidFill>
                <a:latin typeface="Microsoft Sans Serif"/>
                <a:cs typeface="Microsoft Sans Serif"/>
              </a:rPr>
              <a:t>2022UIT3030</a:t>
            </a:r>
            <a:endParaRPr sz="1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500" spc="85" b="1">
                <a:solidFill>
                  <a:srgbClr val="191919"/>
                </a:solidFill>
                <a:latin typeface="Trebuchet MS"/>
                <a:cs typeface="Trebuchet MS"/>
              </a:rPr>
              <a:t>HARSHIT</a:t>
            </a:r>
            <a:r>
              <a:rPr dirty="0" sz="1500" spc="-1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500" spc="125" b="1">
                <a:solidFill>
                  <a:srgbClr val="191919"/>
                </a:solidFill>
                <a:latin typeface="Trebuchet MS"/>
                <a:cs typeface="Trebuchet MS"/>
              </a:rPr>
              <a:t>GARG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500" spc="-10">
                <a:solidFill>
                  <a:srgbClr val="6A717F"/>
                </a:solidFill>
                <a:latin typeface="Microsoft Sans Serif"/>
                <a:cs typeface="Microsoft Sans Serif"/>
              </a:rPr>
              <a:t>2022UIT3038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843496" y="6189751"/>
            <a:ext cx="24009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solidFill>
                  <a:srgbClr val="6A717F"/>
                </a:solidFill>
                <a:latin typeface="Arial"/>
                <a:cs typeface="Arial"/>
              </a:rPr>
              <a:t>Department</a:t>
            </a:r>
            <a:r>
              <a:rPr dirty="0" sz="1100" spc="-3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6A717F"/>
                </a:solidFill>
                <a:latin typeface="Arial"/>
                <a:cs typeface="Arial"/>
              </a:rPr>
              <a:t>of</a:t>
            </a:r>
            <a:r>
              <a:rPr dirty="0" sz="1100" spc="-3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6A717F"/>
                </a:solidFill>
                <a:latin typeface="Arial"/>
                <a:cs typeface="Arial"/>
              </a:rPr>
              <a:t>Information</a:t>
            </a:r>
            <a:r>
              <a:rPr dirty="0" sz="1100" spc="-25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6A717F"/>
                </a:solidFill>
                <a:latin typeface="Arial"/>
                <a:cs typeface="Arial"/>
              </a:rPr>
              <a:t>Technology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296035" y="6189751"/>
            <a:ext cx="8921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7160" indent="-124460">
              <a:lnSpc>
                <a:spcPct val="100000"/>
              </a:lnSpc>
              <a:spcBef>
                <a:spcPts val="100"/>
              </a:spcBef>
              <a:buChar char="•"/>
              <a:tabLst>
                <a:tab pos="137160" algn="l"/>
              </a:tabLst>
            </a:pPr>
            <a:r>
              <a:rPr dirty="0" sz="1100" i="1">
                <a:solidFill>
                  <a:srgbClr val="6A717F"/>
                </a:solidFill>
                <a:latin typeface="Arial"/>
                <a:cs typeface="Arial"/>
              </a:rPr>
              <a:t>NSUT</a:t>
            </a:r>
            <a:r>
              <a:rPr dirty="0" sz="1100" spc="-4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6A717F"/>
                </a:solidFill>
                <a:latin typeface="Arial"/>
                <a:cs typeface="Arial"/>
              </a:rPr>
              <a:t>Delhi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97280" y="5074920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79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79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79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715385">
              <a:lnSpc>
                <a:spcPct val="100000"/>
              </a:lnSpc>
              <a:spcBef>
                <a:spcPts val="100"/>
              </a:spcBef>
            </a:pPr>
            <a:r>
              <a:rPr dirty="0" spc="565"/>
              <a:t>CONTENTS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1097280" y="1554480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80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80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79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205534" y="1655889"/>
            <a:ext cx="194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rebuchet MS"/>
                <a:cs typeface="Trebuchet MS"/>
              </a:rPr>
              <a:t>01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678584" y="1625663"/>
            <a:ext cx="8470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91919"/>
                </a:solidFill>
                <a:latin typeface="Trebuchet MS"/>
                <a:cs typeface="Trebuchet MS"/>
              </a:rPr>
              <a:t>Abstract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097280" y="2057400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80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79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79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205534" y="2158809"/>
            <a:ext cx="194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78584" y="2128583"/>
            <a:ext cx="12065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91919"/>
                </a:solidFill>
                <a:latin typeface="Trebuchet MS"/>
                <a:cs typeface="Trebuchet MS"/>
              </a:rPr>
              <a:t>Introduction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097280" y="2560320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80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79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79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205534" y="2661729"/>
            <a:ext cx="194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678584" y="2631503"/>
            <a:ext cx="10375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91919"/>
                </a:solidFill>
                <a:latin typeface="Trebuchet MS"/>
                <a:cs typeface="Trebuchet MS"/>
              </a:rPr>
              <a:t>Motivation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097280" y="3063239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79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80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79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205534" y="3164649"/>
            <a:ext cx="194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rebuchet MS"/>
                <a:cs typeface="Trebuchet MS"/>
              </a:rPr>
              <a:t>04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678584" y="3134423"/>
            <a:ext cx="169163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" b="1">
                <a:solidFill>
                  <a:srgbClr val="191919"/>
                </a:solidFill>
                <a:latin typeface="Trebuchet MS"/>
                <a:cs typeface="Trebuchet MS"/>
              </a:rPr>
              <a:t>Literature</a:t>
            </a:r>
            <a:r>
              <a:rPr dirty="0" sz="1600" spc="-65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191919"/>
                </a:solidFill>
                <a:latin typeface="Trebuchet MS"/>
                <a:cs typeface="Trebuchet MS"/>
              </a:rPr>
              <a:t>Survey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1097280" y="3566159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79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79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79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205534" y="3667569"/>
            <a:ext cx="194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rebuchet MS"/>
                <a:cs typeface="Trebuchet MS"/>
              </a:rPr>
              <a:t>05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678584" y="3637343"/>
            <a:ext cx="186943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91919"/>
                </a:solidFill>
                <a:latin typeface="Trebuchet MS"/>
                <a:cs typeface="Trebuchet MS"/>
              </a:rPr>
              <a:t>Problem</a:t>
            </a:r>
            <a:r>
              <a:rPr dirty="0" sz="1600" spc="6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191919"/>
                </a:solidFill>
                <a:latin typeface="Trebuchet MS"/>
                <a:cs typeface="Trebuchet MS"/>
              </a:rPr>
              <a:t>Statement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1097280" y="4069079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79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80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79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205534" y="4170489"/>
            <a:ext cx="194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rebuchet MS"/>
                <a:cs typeface="Trebuchet MS"/>
              </a:rPr>
              <a:t>06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678584" y="4140263"/>
            <a:ext cx="10496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91919"/>
                </a:solidFill>
                <a:latin typeface="Trebuchet MS"/>
                <a:cs typeface="Trebuchet MS"/>
              </a:rPr>
              <a:t>Objectives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1097280" y="4572000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79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80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79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1205534" y="4673409"/>
            <a:ext cx="194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rebuchet MS"/>
                <a:cs typeface="Trebuchet MS"/>
              </a:rPr>
              <a:t>07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678584" y="4643183"/>
            <a:ext cx="12852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91919"/>
                </a:solidFill>
                <a:latin typeface="Trebuchet MS"/>
                <a:cs typeface="Trebuchet MS"/>
              </a:rPr>
              <a:t>Methodology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205534" y="5176329"/>
            <a:ext cx="194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rebuchet MS"/>
                <a:cs typeface="Trebuchet MS"/>
              </a:rPr>
              <a:t>08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678584" y="5146103"/>
            <a:ext cx="22955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60" b="1">
                <a:solidFill>
                  <a:srgbClr val="191919"/>
                </a:solidFill>
                <a:latin typeface="Trebuchet MS"/>
                <a:cs typeface="Trebuchet MS"/>
              </a:rPr>
              <a:t>Phase</a:t>
            </a:r>
            <a:r>
              <a:rPr dirty="0" sz="1600" spc="-3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600" spc="-35" b="1">
                <a:solidFill>
                  <a:srgbClr val="191919"/>
                </a:solidFill>
                <a:latin typeface="Trebuchet MS"/>
                <a:cs typeface="Trebuchet MS"/>
              </a:rPr>
              <a:t>1:</a:t>
            </a:r>
            <a:r>
              <a:rPr dirty="0" sz="1600" spc="-15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191919"/>
                </a:solidFill>
                <a:latin typeface="Trebuchet MS"/>
                <a:cs typeface="Trebuchet MS"/>
              </a:rPr>
              <a:t>Wiser</a:t>
            </a:r>
            <a:r>
              <a:rPr dirty="0" sz="1600" spc="-3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191919"/>
                </a:solidFill>
                <a:latin typeface="Trebuchet MS"/>
                <a:cs typeface="Trebuchet MS"/>
              </a:rPr>
              <a:t>Pipeline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6400800" y="1554480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79" h="411480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80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79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6509054" y="1655889"/>
            <a:ext cx="194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rebuchet MS"/>
                <a:cs typeface="Trebuchet MS"/>
              </a:rPr>
              <a:t>09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982104" y="1625663"/>
            <a:ext cx="25222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60" b="1">
                <a:solidFill>
                  <a:srgbClr val="191919"/>
                </a:solidFill>
                <a:latin typeface="Trebuchet MS"/>
                <a:cs typeface="Trebuchet MS"/>
              </a:rPr>
              <a:t>Phase</a:t>
            </a:r>
            <a:r>
              <a:rPr dirty="0" sz="1600" spc="-6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600" spc="-35" b="1">
                <a:solidFill>
                  <a:srgbClr val="191919"/>
                </a:solidFill>
                <a:latin typeface="Trebuchet MS"/>
                <a:cs typeface="Trebuchet MS"/>
              </a:rPr>
              <a:t>2:</a:t>
            </a:r>
            <a:r>
              <a:rPr dirty="0" sz="1600" spc="-45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600" spc="150" b="1">
                <a:solidFill>
                  <a:srgbClr val="191919"/>
                </a:solidFill>
                <a:latin typeface="Trebuchet MS"/>
                <a:cs typeface="Trebuchet MS"/>
              </a:rPr>
              <a:t>RAG</a:t>
            </a:r>
            <a:r>
              <a:rPr dirty="0" sz="1600" spc="-6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191919"/>
                </a:solidFill>
                <a:latin typeface="Trebuchet MS"/>
                <a:cs typeface="Trebuchet MS"/>
              </a:rPr>
              <a:t>Benchmark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6400800" y="2057400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79" h="411480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79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79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6509054" y="2158809"/>
            <a:ext cx="194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rebuchet MS"/>
                <a:cs typeface="Trebuchet MS"/>
              </a:rPr>
              <a:t>10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6982104" y="2128583"/>
            <a:ext cx="27743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60" b="1">
                <a:solidFill>
                  <a:srgbClr val="191919"/>
                </a:solidFill>
                <a:latin typeface="Trebuchet MS"/>
                <a:cs typeface="Trebuchet MS"/>
              </a:rPr>
              <a:t>Phase</a:t>
            </a:r>
            <a:r>
              <a:rPr dirty="0" sz="1600" spc="-25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600" spc="-60" b="1">
                <a:solidFill>
                  <a:srgbClr val="191919"/>
                </a:solidFill>
                <a:latin typeface="Trebuchet MS"/>
                <a:cs typeface="Trebuchet MS"/>
              </a:rPr>
              <a:t>3:</a:t>
            </a:r>
            <a:r>
              <a:rPr dirty="0" sz="1600" spc="-75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191919"/>
                </a:solidFill>
                <a:latin typeface="Trebuchet MS"/>
                <a:cs typeface="Trebuchet MS"/>
              </a:rPr>
              <a:t>Adaptive-</a:t>
            </a:r>
            <a:r>
              <a:rPr dirty="0" sz="1600" spc="95" b="1">
                <a:solidFill>
                  <a:srgbClr val="191919"/>
                </a:solidFill>
                <a:latin typeface="Trebuchet MS"/>
                <a:cs typeface="Trebuchet MS"/>
              </a:rPr>
              <a:t>SLM-</a:t>
            </a:r>
            <a:r>
              <a:rPr dirty="0" sz="1600" spc="125" b="1">
                <a:solidFill>
                  <a:srgbClr val="191919"/>
                </a:solidFill>
                <a:latin typeface="Trebuchet MS"/>
                <a:cs typeface="Trebuchet MS"/>
              </a:rPr>
              <a:t>RAG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6400800" y="2560320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79" h="411480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79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79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6513385" y="2661729"/>
            <a:ext cx="1854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5" b="1">
                <a:solidFill>
                  <a:srgbClr val="FFFFFF"/>
                </a:solidFill>
                <a:latin typeface="Trebuchet MS"/>
                <a:cs typeface="Trebuchet MS"/>
              </a:rPr>
              <a:t>11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982104" y="2631503"/>
            <a:ext cx="15214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91919"/>
                </a:solidFill>
                <a:latin typeface="Trebuchet MS"/>
                <a:cs typeface="Trebuchet MS"/>
              </a:rPr>
              <a:t>Implementation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6400800" y="3063239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79" h="411479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80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79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6509054" y="3164649"/>
            <a:ext cx="194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rebuchet MS"/>
                <a:cs typeface="Trebuchet MS"/>
              </a:rPr>
              <a:t>12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6982104" y="3134423"/>
            <a:ext cx="7562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40" b="1">
                <a:solidFill>
                  <a:srgbClr val="191919"/>
                </a:solidFill>
                <a:latin typeface="Trebuchet MS"/>
                <a:cs typeface="Trebuchet MS"/>
              </a:rPr>
              <a:t>Results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6400800" y="3566159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79" h="411479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79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79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6509054" y="3667569"/>
            <a:ext cx="194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rebuchet MS"/>
                <a:cs typeface="Trebuchet MS"/>
              </a:rPr>
              <a:t>13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6982104" y="3637343"/>
            <a:ext cx="11055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65" b="1">
                <a:solidFill>
                  <a:srgbClr val="191919"/>
                </a:solidFill>
                <a:latin typeface="Trebuchet MS"/>
                <a:cs typeface="Trebuchet MS"/>
              </a:rPr>
              <a:t>Discussion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6400800" y="4069079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79" h="411479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80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79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6509054" y="4170489"/>
            <a:ext cx="194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rebuchet MS"/>
                <a:cs typeface="Trebuchet MS"/>
              </a:rPr>
              <a:t>14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6982104" y="4140263"/>
            <a:ext cx="11271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40" b="1">
                <a:solidFill>
                  <a:srgbClr val="191919"/>
                </a:solidFill>
                <a:latin typeface="Trebuchet MS"/>
                <a:cs typeface="Trebuchet MS"/>
              </a:rPr>
              <a:t>Conclusion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6400800" y="4572000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79" h="411479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80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79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6509054" y="4673409"/>
            <a:ext cx="194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rebuchet MS"/>
                <a:cs typeface="Trebuchet MS"/>
              </a:rPr>
              <a:t>15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6982104" y="4643183"/>
            <a:ext cx="12134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191919"/>
                </a:solidFill>
                <a:latin typeface="Trebuchet MS"/>
                <a:cs typeface="Trebuchet MS"/>
              </a:rPr>
              <a:t>Future</a:t>
            </a:r>
            <a:r>
              <a:rPr dirty="0" sz="1600" spc="-85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600" spc="-20" b="1">
                <a:solidFill>
                  <a:srgbClr val="191919"/>
                </a:solidFill>
                <a:latin typeface="Trebuchet MS"/>
                <a:cs typeface="Trebuchet MS"/>
              </a:rPr>
              <a:t>Work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8" name="object 48" descr=""/>
          <p:cNvSpPr/>
          <p:nvPr/>
        </p:nvSpPr>
        <p:spPr>
          <a:xfrm>
            <a:off x="6400800" y="5074920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79" h="411479">
                <a:moveTo>
                  <a:pt x="205917" y="0"/>
                </a:moveTo>
                <a:lnTo>
                  <a:pt x="152547" y="6929"/>
                </a:lnTo>
                <a:lnTo>
                  <a:pt x="102958" y="27355"/>
                </a:lnTo>
                <a:lnTo>
                  <a:pt x="60345" y="59988"/>
                </a:lnTo>
                <a:lnTo>
                  <a:pt x="27724" y="102603"/>
                </a:lnTo>
                <a:lnTo>
                  <a:pt x="6975" y="152325"/>
                </a:lnTo>
                <a:lnTo>
                  <a:pt x="0" y="205562"/>
                </a:lnTo>
                <a:lnTo>
                  <a:pt x="1749" y="232429"/>
                </a:lnTo>
                <a:lnTo>
                  <a:pt x="15644" y="284282"/>
                </a:lnTo>
                <a:lnTo>
                  <a:pt x="42667" y="330958"/>
                </a:lnTo>
                <a:lnTo>
                  <a:pt x="80521" y="368812"/>
                </a:lnTo>
                <a:lnTo>
                  <a:pt x="127145" y="395685"/>
                </a:lnTo>
                <a:lnTo>
                  <a:pt x="178895" y="409680"/>
                </a:lnTo>
                <a:lnTo>
                  <a:pt x="205917" y="411479"/>
                </a:lnTo>
                <a:lnTo>
                  <a:pt x="232734" y="409680"/>
                </a:lnTo>
                <a:lnTo>
                  <a:pt x="284340" y="395685"/>
                </a:lnTo>
                <a:lnTo>
                  <a:pt x="330958" y="368812"/>
                </a:lnTo>
                <a:lnTo>
                  <a:pt x="368812" y="330958"/>
                </a:lnTo>
                <a:lnTo>
                  <a:pt x="395835" y="284282"/>
                </a:lnTo>
                <a:lnTo>
                  <a:pt x="409730" y="232429"/>
                </a:lnTo>
                <a:lnTo>
                  <a:pt x="411479" y="205562"/>
                </a:lnTo>
                <a:lnTo>
                  <a:pt x="409730" y="178689"/>
                </a:lnTo>
                <a:lnTo>
                  <a:pt x="395835" y="126839"/>
                </a:lnTo>
                <a:lnTo>
                  <a:pt x="368812" y="80165"/>
                </a:lnTo>
                <a:lnTo>
                  <a:pt x="330958" y="42306"/>
                </a:lnTo>
                <a:lnTo>
                  <a:pt x="284340" y="15489"/>
                </a:lnTo>
                <a:lnTo>
                  <a:pt x="232734" y="1743"/>
                </a:lnTo>
                <a:lnTo>
                  <a:pt x="205917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 txBox="1"/>
          <p:nvPr/>
        </p:nvSpPr>
        <p:spPr>
          <a:xfrm>
            <a:off x="6509054" y="5176329"/>
            <a:ext cx="194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FFFFFF"/>
                </a:solidFill>
                <a:latin typeface="Trebuchet MS"/>
                <a:cs typeface="Trebuchet MS"/>
              </a:rPr>
              <a:t>16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1" name="object 5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1</a:t>
            </a:r>
          </a:p>
        </p:txBody>
      </p:sp>
      <p:sp>
        <p:nvSpPr>
          <p:cNvPr id="50" name="object 50" descr=""/>
          <p:cNvSpPr txBox="1"/>
          <p:nvPr/>
        </p:nvSpPr>
        <p:spPr>
          <a:xfrm>
            <a:off x="6982104" y="5146103"/>
            <a:ext cx="11176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91919"/>
                </a:solidFill>
                <a:latin typeface="Trebuchet MS"/>
                <a:cs typeface="Trebuchet MS"/>
              </a:rPr>
              <a:t>References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1164" y="5440324"/>
            <a:ext cx="10698480" cy="914400"/>
          </a:xfrm>
          <a:custGeom>
            <a:avLst/>
            <a:gdLst/>
            <a:ahLst/>
            <a:cxnLst/>
            <a:rect l="l" t="t" r="r" b="b"/>
            <a:pathLst>
              <a:path w="10698480" h="914400">
                <a:moveTo>
                  <a:pt x="10698111" y="0"/>
                </a:moveTo>
                <a:lnTo>
                  <a:pt x="0" y="0"/>
                </a:lnTo>
                <a:lnTo>
                  <a:pt x="0" y="914031"/>
                </a:lnTo>
                <a:lnTo>
                  <a:pt x="5349240" y="914031"/>
                </a:lnTo>
                <a:lnTo>
                  <a:pt x="10698111" y="914031"/>
                </a:lnTo>
                <a:lnTo>
                  <a:pt x="10698111" y="0"/>
                </a:lnTo>
                <a:close/>
              </a:path>
            </a:pathLst>
          </a:custGeom>
          <a:solidFill>
            <a:srgbClr val="F2F3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716654">
              <a:lnSpc>
                <a:spcPct val="100000"/>
              </a:lnSpc>
              <a:spcBef>
                <a:spcPts val="100"/>
              </a:spcBef>
            </a:pPr>
            <a:r>
              <a:rPr dirty="0" spc="630"/>
              <a:t>ABSTRACT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08456" y="1357820"/>
            <a:ext cx="1020699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RAG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improves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factual grounding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of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language models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by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pulling</a:t>
            </a:r>
            <a:r>
              <a:rPr dirty="0" sz="14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in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external knowledge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at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inference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time.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But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standard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pipeline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feeds</a:t>
            </a:r>
            <a:r>
              <a:rPr dirty="0" sz="14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every</a:t>
            </a:r>
            <a:r>
              <a:rPr dirty="0" sz="1400" spc="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retrieved</a:t>
            </a:r>
            <a:r>
              <a:rPr dirty="0" sz="1400" spc="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document</a:t>
            </a:r>
            <a:r>
              <a:rPr dirty="0" sz="14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to</a:t>
            </a:r>
            <a:r>
              <a:rPr dirty="0" sz="1400" spc="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the generator</a:t>
            </a:r>
            <a:r>
              <a:rPr dirty="0" sz="14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regardless</a:t>
            </a:r>
            <a:r>
              <a:rPr dirty="0" sz="14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of</a:t>
            </a:r>
            <a:r>
              <a:rPr dirty="0" sz="14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relevance </a:t>
            </a:r>
            <a:r>
              <a:rPr dirty="0" sz="1400" spc="565">
                <a:solidFill>
                  <a:srgbClr val="333333"/>
                </a:solidFill>
                <a:latin typeface="Microsoft Sans Serif"/>
                <a:cs typeface="Microsoft Sans Serif"/>
              </a:rPr>
              <a:t>—</a:t>
            </a:r>
            <a:r>
              <a:rPr dirty="0" sz="1400" spc="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adding noise</a:t>
            </a:r>
            <a:r>
              <a:rPr dirty="0" sz="1400" spc="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that</a:t>
            </a:r>
            <a:r>
              <a:rPr dirty="0" sz="14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pushes</a:t>
            </a:r>
            <a:r>
              <a:rPr dirty="0" sz="1400" spc="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up</a:t>
            </a:r>
            <a:r>
              <a:rPr dirty="0" sz="1400" spc="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hallucination.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31519" y="2468524"/>
            <a:ext cx="3520440" cy="2743200"/>
          </a:xfrm>
          <a:custGeom>
            <a:avLst/>
            <a:gdLst/>
            <a:ahLst/>
            <a:cxnLst/>
            <a:rect l="l" t="t" r="r" b="b"/>
            <a:pathLst>
              <a:path w="3520440" h="2743200">
                <a:moveTo>
                  <a:pt x="3520084" y="0"/>
                </a:moveTo>
                <a:lnTo>
                  <a:pt x="0" y="0"/>
                </a:lnTo>
                <a:lnTo>
                  <a:pt x="0" y="2742831"/>
                </a:lnTo>
                <a:lnTo>
                  <a:pt x="1760042" y="2742831"/>
                </a:lnTo>
                <a:lnTo>
                  <a:pt x="3520084" y="2742831"/>
                </a:lnTo>
                <a:lnTo>
                  <a:pt x="3520084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47064" y="2646260"/>
            <a:ext cx="92836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6930" algn="l"/>
              </a:tabLst>
            </a:pPr>
            <a:r>
              <a:rPr dirty="0" sz="1100" spc="75" b="1">
                <a:solidFill>
                  <a:srgbClr val="5DE9D3"/>
                </a:solidFill>
                <a:latin typeface="Trebuchet MS"/>
                <a:cs typeface="Trebuchet MS"/>
              </a:rPr>
              <a:t>P</a:t>
            </a:r>
            <a:r>
              <a:rPr dirty="0" sz="1100" spc="70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100" b="1">
                <a:solidFill>
                  <a:srgbClr val="5DE9D3"/>
                </a:solidFill>
                <a:latin typeface="Trebuchet MS"/>
                <a:cs typeface="Trebuchet MS"/>
              </a:rPr>
              <a:t>H</a:t>
            </a:r>
            <a:r>
              <a:rPr dirty="0" sz="1100" spc="75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100" spc="90" b="1">
                <a:solidFill>
                  <a:srgbClr val="5DE9D3"/>
                </a:solidFill>
                <a:latin typeface="Trebuchet MS"/>
                <a:cs typeface="Trebuchet MS"/>
              </a:rPr>
              <a:t>A</a:t>
            </a:r>
            <a:r>
              <a:rPr dirty="0" sz="1100" spc="85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100" spc="165" b="1">
                <a:solidFill>
                  <a:srgbClr val="5DE9D3"/>
                </a:solidFill>
                <a:latin typeface="Trebuchet MS"/>
                <a:cs typeface="Trebuchet MS"/>
              </a:rPr>
              <a:t>S</a:t>
            </a:r>
            <a:r>
              <a:rPr dirty="0" sz="1100" spc="80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100" spc="55" b="1">
                <a:solidFill>
                  <a:srgbClr val="5DE9D3"/>
                </a:solidFill>
                <a:latin typeface="Trebuchet MS"/>
                <a:cs typeface="Trebuchet MS"/>
              </a:rPr>
              <a:t>E</a:t>
            </a:r>
            <a:r>
              <a:rPr dirty="0" sz="1100" b="1">
                <a:solidFill>
                  <a:srgbClr val="5DE9D3"/>
                </a:solidFill>
                <a:latin typeface="Trebuchet MS"/>
                <a:cs typeface="Trebuchet MS"/>
              </a:rPr>
              <a:t>	</a:t>
            </a:r>
            <a:r>
              <a:rPr dirty="0" sz="1100" spc="-50" b="1">
                <a:solidFill>
                  <a:srgbClr val="5DE9D3"/>
                </a:solidFill>
                <a:latin typeface="Trebuchet MS"/>
                <a:cs typeface="Trebuchet MS"/>
              </a:rPr>
              <a:t>1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47064" y="2951187"/>
            <a:ext cx="2870835" cy="1221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Wiser</a:t>
            </a:r>
            <a:r>
              <a:rPr dirty="0" sz="1900" spc="10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Trebuchet MS"/>
                <a:cs typeface="Trebuchet MS"/>
              </a:rPr>
              <a:t>Pipeline</a:t>
            </a:r>
            <a:endParaRPr sz="1900">
              <a:latin typeface="Trebuchet MS"/>
              <a:cs typeface="Trebuchet MS"/>
            </a:endParaRPr>
          </a:p>
          <a:p>
            <a:pPr marL="102235" marR="5080">
              <a:lnSpc>
                <a:spcPct val="100000"/>
              </a:lnSpc>
              <a:spcBef>
                <a:spcPts val="1370"/>
              </a:spcBef>
            </a:pPr>
            <a:r>
              <a:rPr dirty="0" sz="1200" spc="-10">
                <a:solidFill>
                  <a:srgbClr val="E4E6EA"/>
                </a:solidFill>
                <a:latin typeface="Microsoft Sans Serif"/>
                <a:cs typeface="Microsoft Sans Serif"/>
              </a:rPr>
              <a:t>Multilingual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news</a:t>
            </a:r>
            <a:r>
              <a:rPr dirty="0" sz="1200" spc="-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ingestion</a:t>
            </a:r>
            <a:r>
              <a:rPr dirty="0" sz="1200" spc="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+</a:t>
            </a:r>
            <a:r>
              <a:rPr dirty="0" sz="1200" spc="-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5">
                <a:solidFill>
                  <a:srgbClr val="E4E6EA"/>
                </a:solidFill>
                <a:latin typeface="Microsoft Sans Serif"/>
                <a:cs typeface="Microsoft Sans Serif"/>
              </a:rPr>
              <a:t>NLP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enrichment</a:t>
            </a:r>
            <a:r>
              <a:rPr dirty="0" sz="1200" spc="-2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across</a:t>
            </a:r>
            <a:r>
              <a:rPr dirty="0" sz="1200" spc="-2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25,000+</a:t>
            </a:r>
            <a:r>
              <a:rPr dirty="0" sz="1200" spc="-2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RSS</a:t>
            </a:r>
            <a:r>
              <a:rPr dirty="0" sz="1200" spc="-2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E4E6EA"/>
                </a:solidFill>
                <a:latin typeface="Microsoft Sans Serif"/>
                <a:cs typeface="Microsoft Sans Serif"/>
              </a:rPr>
              <a:t>feeds.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Sentiment,</a:t>
            </a:r>
            <a:r>
              <a:rPr dirty="0" sz="1200" spc="-2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NER,</a:t>
            </a:r>
            <a:r>
              <a:rPr dirty="0" sz="1200" spc="-1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E4E6EA"/>
                </a:solidFill>
                <a:latin typeface="Microsoft Sans Serif"/>
                <a:cs typeface="Microsoft Sans Serif"/>
              </a:rPr>
              <a:t>zero-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shot</a:t>
            </a:r>
            <a:r>
              <a:rPr dirty="0" sz="1200" spc="-1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E4E6EA"/>
                </a:solidFill>
                <a:latin typeface="Microsoft Sans Serif"/>
                <a:cs typeface="Microsoft Sans Serif"/>
              </a:rPr>
              <a:t>classification,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story</a:t>
            </a:r>
            <a:r>
              <a:rPr dirty="0" sz="1200" spc="-3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E4E6EA"/>
                </a:solidFill>
                <a:latin typeface="Microsoft Sans Serif"/>
                <a:cs typeface="Microsoft Sans Serif"/>
              </a:rPr>
              <a:t>clustering.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4434840" y="2468524"/>
            <a:ext cx="3520440" cy="2743200"/>
          </a:xfrm>
          <a:custGeom>
            <a:avLst/>
            <a:gdLst/>
            <a:ahLst/>
            <a:cxnLst/>
            <a:rect l="l" t="t" r="r" b="b"/>
            <a:pathLst>
              <a:path w="3520440" h="2743200">
                <a:moveTo>
                  <a:pt x="3520084" y="0"/>
                </a:moveTo>
                <a:lnTo>
                  <a:pt x="0" y="0"/>
                </a:lnTo>
                <a:lnTo>
                  <a:pt x="0" y="2742831"/>
                </a:lnTo>
                <a:lnTo>
                  <a:pt x="1760042" y="2742831"/>
                </a:lnTo>
                <a:lnTo>
                  <a:pt x="3520084" y="2742831"/>
                </a:lnTo>
                <a:lnTo>
                  <a:pt x="3520084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650384" y="2646260"/>
            <a:ext cx="92836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6930" algn="l"/>
              </a:tabLst>
            </a:pPr>
            <a:r>
              <a:rPr dirty="0" sz="1100" spc="75" b="1">
                <a:solidFill>
                  <a:srgbClr val="5DE9D3"/>
                </a:solidFill>
                <a:latin typeface="Trebuchet MS"/>
                <a:cs typeface="Trebuchet MS"/>
              </a:rPr>
              <a:t>P</a:t>
            </a:r>
            <a:r>
              <a:rPr dirty="0" sz="1100" spc="70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100" b="1">
                <a:solidFill>
                  <a:srgbClr val="5DE9D3"/>
                </a:solidFill>
                <a:latin typeface="Trebuchet MS"/>
                <a:cs typeface="Trebuchet MS"/>
              </a:rPr>
              <a:t>H</a:t>
            </a:r>
            <a:r>
              <a:rPr dirty="0" sz="1100" spc="75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100" spc="90" b="1">
                <a:solidFill>
                  <a:srgbClr val="5DE9D3"/>
                </a:solidFill>
                <a:latin typeface="Trebuchet MS"/>
                <a:cs typeface="Trebuchet MS"/>
              </a:rPr>
              <a:t>A</a:t>
            </a:r>
            <a:r>
              <a:rPr dirty="0" sz="1100" spc="85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100" spc="165" b="1">
                <a:solidFill>
                  <a:srgbClr val="5DE9D3"/>
                </a:solidFill>
                <a:latin typeface="Trebuchet MS"/>
                <a:cs typeface="Trebuchet MS"/>
              </a:rPr>
              <a:t>S</a:t>
            </a:r>
            <a:r>
              <a:rPr dirty="0" sz="1100" spc="80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100" spc="55" b="1">
                <a:solidFill>
                  <a:srgbClr val="5DE9D3"/>
                </a:solidFill>
                <a:latin typeface="Trebuchet MS"/>
                <a:cs typeface="Trebuchet MS"/>
              </a:rPr>
              <a:t>E</a:t>
            </a:r>
            <a:r>
              <a:rPr dirty="0" sz="1100" b="1">
                <a:solidFill>
                  <a:srgbClr val="5DE9D3"/>
                </a:solidFill>
                <a:latin typeface="Trebuchet MS"/>
                <a:cs typeface="Trebuchet MS"/>
              </a:rPr>
              <a:t>	</a:t>
            </a:r>
            <a:r>
              <a:rPr dirty="0" sz="1100" spc="-50" b="1">
                <a:solidFill>
                  <a:srgbClr val="5DE9D3"/>
                </a:solidFill>
                <a:latin typeface="Trebuchet MS"/>
                <a:cs typeface="Trebuchet MS"/>
              </a:rPr>
              <a:t>2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50384" y="2951187"/>
            <a:ext cx="3006725" cy="1221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180" b="1">
                <a:solidFill>
                  <a:srgbClr val="FFFFFF"/>
                </a:solidFill>
                <a:latin typeface="Trebuchet MS"/>
                <a:cs typeface="Trebuchet MS"/>
              </a:rPr>
              <a:t>RAG</a:t>
            </a:r>
            <a:r>
              <a:rPr dirty="0" sz="1900" spc="-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Trebuchet MS"/>
                <a:cs typeface="Trebuchet MS"/>
              </a:rPr>
              <a:t>Benchmark</a:t>
            </a:r>
            <a:endParaRPr sz="1900">
              <a:latin typeface="Trebuchet MS"/>
              <a:cs typeface="Trebuchet MS"/>
            </a:endParaRPr>
          </a:p>
          <a:p>
            <a:pPr marL="102235" marR="5080">
              <a:lnSpc>
                <a:spcPct val="100000"/>
              </a:lnSpc>
              <a:spcBef>
                <a:spcPts val="1370"/>
              </a:spcBef>
            </a:pP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Four</a:t>
            </a:r>
            <a:r>
              <a:rPr dirty="0" sz="1200" spc="-2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RAG</a:t>
            </a:r>
            <a:r>
              <a:rPr dirty="0" sz="1200" spc="-2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variants</a:t>
            </a:r>
            <a:r>
              <a:rPr dirty="0" sz="1200" spc="-2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compared</a:t>
            </a:r>
            <a:r>
              <a:rPr dirty="0" sz="1200" spc="-1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across</a:t>
            </a:r>
            <a:r>
              <a:rPr dirty="0" sz="1200" spc="-2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5">
                <a:solidFill>
                  <a:srgbClr val="E4E6EA"/>
                </a:solidFill>
                <a:latin typeface="Microsoft Sans Serif"/>
                <a:cs typeface="Microsoft Sans Serif"/>
              </a:rPr>
              <a:t>QA,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sentiment, and</a:t>
            </a:r>
            <a:r>
              <a:rPr dirty="0" sz="1200" spc="-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E4E6EA"/>
                </a:solidFill>
                <a:latin typeface="Microsoft Sans Serif"/>
                <a:cs typeface="Microsoft Sans Serif"/>
              </a:rPr>
              <a:t>summarisation.</a:t>
            </a:r>
            <a:r>
              <a:rPr dirty="0" sz="1200" spc="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E4E6EA"/>
                </a:solidFill>
                <a:latin typeface="Microsoft Sans Serif"/>
                <a:cs typeface="Microsoft Sans Serif"/>
              </a:rPr>
              <a:t>Rule-</a:t>
            </a:r>
            <a:r>
              <a:rPr dirty="0" sz="1200" spc="-20">
                <a:solidFill>
                  <a:srgbClr val="E4E6EA"/>
                </a:solidFill>
                <a:latin typeface="Microsoft Sans Serif"/>
                <a:cs typeface="Microsoft Sans Serif"/>
              </a:rPr>
              <a:t>based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adaptive</a:t>
            </a:r>
            <a:r>
              <a:rPr dirty="0" sz="1200" spc="-1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RAG</a:t>
            </a:r>
            <a:r>
              <a:rPr dirty="0" sz="1200" spc="-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breaks</a:t>
            </a:r>
            <a:r>
              <a:rPr dirty="0" sz="1200" spc="-1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down on</a:t>
            </a:r>
            <a:r>
              <a:rPr dirty="0" sz="1200" spc="-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0">
                <a:solidFill>
                  <a:srgbClr val="E4E6EA"/>
                </a:solidFill>
                <a:latin typeface="Microsoft Sans Serif"/>
                <a:cs typeface="Microsoft Sans Serif"/>
              </a:rPr>
              <a:t>fixed </a:t>
            </a:r>
            <a:r>
              <a:rPr dirty="0" sz="1200" spc="-10">
                <a:solidFill>
                  <a:srgbClr val="E4E6EA"/>
                </a:solidFill>
                <a:latin typeface="Microsoft Sans Serif"/>
                <a:cs typeface="Microsoft Sans Serif"/>
              </a:rPr>
              <a:t>weights.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8138159" y="2468524"/>
            <a:ext cx="3520440" cy="2743200"/>
          </a:xfrm>
          <a:custGeom>
            <a:avLst/>
            <a:gdLst/>
            <a:ahLst/>
            <a:cxnLst/>
            <a:rect l="l" t="t" r="r" b="b"/>
            <a:pathLst>
              <a:path w="3520440" h="2743200">
                <a:moveTo>
                  <a:pt x="3520084" y="0"/>
                </a:moveTo>
                <a:lnTo>
                  <a:pt x="0" y="0"/>
                </a:lnTo>
                <a:lnTo>
                  <a:pt x="0" y="2742831"/>
                </a:lnTo>
                <a:lnTo>
                  <a:pt x="1760042" y="2742831"/>
                </a:lnTo>
                <a:lnTo>
                  <a:pt x="3520084" y="2742831"/>
                </a:lnTo>
                <a:lnTo>
                  <a:pt x="3520084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8353704" y="2646260"/>
            <a:ext cx="92836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6930" algn="l"/>
              </a:tabLst>
            </a:pPr>
            <a:r>
              <a:rPr dirty="0" sz="1100" spc="75" b="1">
                <a:solidFill>
                  <a:srgbClr val="5DE9D3"/>
                </a:solidFill>
                <a:latin typeface="Trebuchet MS"/>
                <a:cs typeface="Trebuchet MS"/>
              </a:rPr>
              <a:t>P</a:t>
            </a:r>
            <a:r>
              <a:rPr dirty="0" sz="1100" spc="70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100" b="1">
                <a:solidFill>
                  <a:srgbClr val="5DE9D3"/>
                </a:solidFill>
                <a:latin typeface="Trebuchet MS"/>
                <a:cs typeface="Trebuchet MS"/>
              </a:rPr>
              <a:t>H</a:t>
            </a:r>
            <a:r>
              <a:rPr dirty="0" sz="1100" spc="75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100" spc="90" b="1">
                <a:solidFill>
                  <a:srgbClr val="5DE9D3"/>
                </a:solidFill>
                <a:latin typeface="Trebuchet MS"/>
                <a:cs typeface="Trebuchet MS"/>
              </a:rPr>
              <a:t>A</a:t>
            </a:r>
            <a:r>
              <a:rPr dirty="0" sz="1100" spc="85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100" spc="165" b="1">
                <a:solidFill>
                  <a:srgbClr val="5DE9D3"/>
                </a:solidFill>
                <a:latin typeface="Trebuchet MS"/>
                <a:cs typeface="Trebuchet MS"/>
              </a:rPr>
              <a:t>S</a:t>
            </a:r>
            <a:r>
              <a:rPr dirty="0" sz="1100" spc="80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100" spc="55" b="1">
                <a:solidFill>
                  <a:srgbClr val="5DE9D3"/>
                </a:solidFill>
                <a:latin typeface="Trebuchet MS"/>
                <a:cs typeface="Trebuchet MS"/>
              </a:rPr>
              <a:t>E</a:t>
            </a:r>
            <a:r>
              <a:rPr dirty="0" sz="1100" b="1">
                <a:solidFill>
                  <a:srgbClr val="5DE9D3"/>
                </a:solidFill>
                <a:latin typeface="Trebuchet MS"/>
                <a:cs typeface="Trebuchet MS"/>
              </a:rPr>
              <a:t>	</a:t>
            </a:r>
            <a:r>
              <a:rPr dirty="0" sz="1100" spc="-50" b="1">
                <a:solidFill>
                  <a:srgbClr val="5DE9D3"/>
                </a:solidFill>
                <a:latin typeface="Trebuchet MS"/>
                <a:cs typeface="Trebuchet MS"/>
              </a:rPr>
              <a:t>3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2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8353704" y="2951187"/>
            <a:ext cx="3115945" cy="1221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Adaptive-</a:t>
            </a:r>
            <a:r>
              <a:rPr dirty="0" sz="1900" spc="135" b="1">
                <a:solidFill>
                  <a:srgbClr val="FFFFFF"/>
                </a:solidFill>
                <a:latin typeface="Trebuchet MS"/>
                <a:cs typeface="Trebuchet MS"/>
              </a:rPr>
              <a:t>SLM-</a:t>
            </a:r>
            <a:r>
              <a:rPr dirty="0" sz="1900" spc="120" b="1">
                <a:solidFill>
                  <a:srgbClr val="FFFFFF"/>
                </a:solidFill>
                <a:latin typeface="Trebuchet MS"/>
                <a:cs typeface="Trebuchet MS"/>
              </a:rPr>
              <a:t>RAG</a:t>
            </a:r>
            <a:endParaRPr sz="1900">
              <a:latin typeface="Trebuchet MS"/>
              <a:cs typeface="Trebuchet MS"/>
            </a:endParaRPr>
          </a:p>
          <a:p>
            <a:pPr marL="102235" marR="5080">
              <a:lnSpc>
                <a:spcPct val="100000"/>
              </a:lnSpc>
              <a:spcBef>
                <a:spcPts val="1370"/>
              </a:spcBef>
            </a:pPr>
            <a:r>
              <a:rPr dirty="0" sz="1200" spc="-10">
                <a:solidFill>
                  <a:srgbClr val="E4E6EA"/>
                </a:solidFill>
                <a:latin typeface="Microsoft Sans Serif"/>
                <a:cs typeface="Microsoft Sans Serif"/>
              </a:rPr>
              <a:t>Sentence-Transformer</a:t>
            </a:r>
            <a:r>
              <a:rPr dirty="0" sz="1200" spc="1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+</a:t>
            </a:r>
            <a:r>
              <a:rPr dirty="0" sz="1200" spc="1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E4E6EA"/>
                </a:solidFill>
                <a:latin typeface="Microsoft Sans Serif"/>
                <a:cs typeface="Microsoft Sans Serif"/>
              </a:rPr>
              <a:t>2-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layer</a:t>
            </a:r>
            <a:r>
              <a:rPr dirty="0" sz="1200" spc="1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5">
                <a:solidFill>
                  <a:srgbClr val="E4E6EA"/>
                </a:solidFill>
                <a:latin typeface="Microsoft Sans Serif"/>
                <a:cs typeface="Microsoft Sans Serif"/>
              </a:rPr>
              <a:t>MLP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1200" spc="-3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predictor</a:t>
            </a:r>
            <a:r>
              <a:rPr dirty="0" sz="1200" spc="-2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trained</a:t>
            </a:r>
            <a:r>
              <a:rPr dirty="0" sz="1200" spc="-2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on</a:t>
            </a:r>
            <a:r>
              <a:rPr dirty="0" sz="1200" spc="-2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1,350</a:t>
            </a:r>
            <a:r>
              <a:rPr dirty="0" sz="1200" spc="-2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E4E6EA"/>
                </a:solidFill>
                <a:latin typeface="Microsoft Sans Serif"/>
                <a:cs typeface="Microsoft Sans Serif"/>
              </a:rPr>
              <a:t>triples.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Replaces</a:t>
            </a:r>
            <a:r>
              <a:rPr dirty="0" sz="1200" spc="-1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E4E6EA"/>
                </a:solidFill>
                <a:latin typeface="Microsoft Sans Serif"/>
                <a:cs typeface="Microsoft Sans Serif"/>
              </a:rPr>
              <a:t>hand-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tuned</a:t>
            </a:r>
            <a:r>
              <a:rPr dirty="0" sz="1200" spc="-2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weights</a:t>
            </a:r>
            <a:r>
              <a:rPr dirty="0" sz="1200" spc="-1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E4E6EA"/>
                </a:solidFill>
                <a:latin typeface="Microsoft Sans Serif"/>
                <a:cs typeface="Microsoft Sans Serif"/>
              </a:rPr>
              <a:t>with</a:t>
            </a:r>
            <a:r>
              <a:rPr dirty="0" sz="1200" spc="-1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E4E6EA"/>
                </a:solidFill>
                <a:latin typeface="Microsoft Sans Serif"/>
                <a:cs typeface="Microsoft Sans Serif"/>
              </a:rPr>
              <a:t>learned scoring.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31164" y="5440324"/>
            <a:ext cx="10698480" cy="914400"/>
          </a:xfrm>
          <a:prstGeom prst="rect">
            <a:avLst/>
          </a:prstGeom>
          <a:ln w="25559">
            <a:solidFill>
              <a:srgbClr val="0C9387"/>
            </a:solidFill>
          </a:ln>
        </p:spPr>
        <p:txBody>
          <a:bodyPr wrap="square" lIns="0" tIns="685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endParaRPr sz="1300">
              <a:latin typeface="Times New Roman"/>
              <a:cs typeface="Times New Roman"/>
            </a:endParaRPr>
          </a:p>
          <a:p>
            <a:pPr marL="272415" marR="516255">
              <a:lnSpc>
                <a:spcPct val="100000"/>
              </a:lnSpc>
              <a:spcBef>
                <a:spcPts val="5"/>
              </a:spcBef>
              <a:tabLst>
                <a:tab pos="1414780" algn="l"/>
              </a:tabLst>
            </a:pPr>
            <a:r>
              <a:rPr dirty="0" sz="1300" spc="135" b="1">
                <a:solidFill>
                  <a:srgbClr val="0C9387"/>
                </a:solidFill>
                <a:latin typeface="Trebuchet MS"/>
                <a:cs typeface="Trebuchet MS"/>
              </a:rPr>
              <a:t>R</a:t>
            </a:r>
            <a:r>
              <a:rPr dirty="0" sz="1300" spc="-10" b="1">
                <a:solidFill>
                  <a:srgbClr val="0C9387"/>
                </a:solidFill>
                <a:latin typeface="Trebuchet MS"/>
                <a:cs typeface="Trebuchet MS"/>
              </a:rPr>
              <a:t> </a:t>
            </a:r>
            <a:r>
              <a:rPr dirty="0" sz="1300" spc="125" b="1">
                <a:solidFill>
                  <a:srgbClr val="0C9387"/>
                </a:solidFill>
                <a:latin typeface="Trebuchet MS"/>
                <a:cs typeface="Trebuchet MS"/>
              </a:rPr>
              <a:t>E</a:t>
            </a:r>
            <a:r>
              <a:rPr dirty="0" sz="1300" spc="15" b="1">
                <a:solidFill>
                  <a:srgbClr val="0C9387"/>
                </a:solidFill>
                <a:latin typeface="Trebuchet MS"/>
                <a:cs typeface="Trebuchet MS"/>
              </a:rPr>
              <a:t> </a:t>
            </a:r>
            <a:r>
              <a:rPr dirty="0" sz="1300" spc="195" b="1">
                <a:solidFill>
                  <a:srgbClr val="0C9387"/>
                </a:solidFill>
                <a:latin typeface="Trebuchet MS"/>
                <a:cs typeface="Trebuchet MS"/>
              </a:rPr>
              <a:t>S</a:t>
            </a:r>
            <a:r>
              <a:rPr dirty="0" sz="1300" spc="10" b="1">
                <a:solidFill>
                  <a:srgbClr val="0C9387"/>
                </a:solidFill>
                <a:latin typeface="Trebuchet MS"/>
                <a:cs typeface="Trebuchet MS"/>
              </a:rPr>
              <a:t> </a:t>
            </a:r>
            <a:r>
              <a:rPr dirty="0" sz="1300" spc="60" b="1">
                <a:solidFill>
                  <a:srgbClr val="0C9387"/>
                </a:solidFill>
                <a:latin typeface="Trebuchet MS"/>
                <a:cs typeface="Trebuchet MS"/>
              </a:rPr>
              <a:t>U</a:t>
            </a:r>
            <a:r>
              <a:rPr dirty="0" sz="1300" b="1">
                <a:solidFill>
                  <a:srgbClr val="0C9387"/>
                </a:solidFill>
                <a:latin typeface="Trebuchet MS"/>
                <a:cs typeface="Trebuchet MS"/>
              </a:rPr>
              <a:t> </a:t>
            </a:r>
            <a:r>
              <a:rPr dirty="0" sz="1300" spc="75" b="1">
                <a:solidFill>
                  <a:srgbClr val="0C9387"/>
                </a:solidFill>
                <a:latin typeface="Trebuchet MS"/>
                <a:cs typeface="Trebuchet MS"/>
              </a:rPr>
              <a:t>L</a:t>
            </a:r>
            <a:r>
              <a:rPr dirty="0" sz="1300" spc="-90" b="1">
                <a:solidFill>
                  <a:srgbClr val="0C9387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0C9387"/>
                </a:solidFill>
                <a:latin typeface="Trebuchet MS"/>
                <a:cs typeface="Trebuchet MS"/>
              </a:rPr>
              <a:t>T</a:t>
            </a:r>
            <a:r>
              <a:rPr dirty="0" sz="1300" b="1">
                <a:solidFill>
                  <a:srgbClr val="0C9387"/>
                </a:solidFill>
                <a:latin typeface="Trebuchet MS"/>
                <a:cs typeface="Trebuchet MS"/>
              </a:rPr>
              <a:t>	</a:t>
            </a:r>
            <a:r>
              <a:rPr dirty="0" sz="1300" spc="-20">
                <a:solidFill>
                  <a:srgbClr val="191919"/>
                </a:solidFill>
                <a:latin typeface="Microsoft Sans Serif"/>
                <a:cs typeface="Microsoft Sans Serif"/>
              </a:rPr>
              <a:t>Adaptive-SLM-</a:t>
            </a:r>
            <a:r>
              <a:rPr dirty="0" sz="1300">
                <a:solidFill>
                  <a:srgbClr val="191919"/>
                </a:solidFill>
                <a:latin typeface="Microsoft Sans Serif"/>
                <a:cs typeface="Microsoft Sans Serif"/>
              </a:rPr>
              <a:t>RAG</a:t>
            </a:r>
            <a:r>
              <a:rPr dirty="0" sz="1300" spc="1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191919"/>
                </a:solidFill>
                <a:latin typeface="Microsoft Sans Serif"/>
                <a:cs typeface="Microsoft Sans Serif"/>
              </a:rPr>
              <a:t>reaches</a:t>
            </a:r>
            <a:r>
              <a:rPr dirty="0" sz="1300" spc="2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191919"/>
                </a:solidFill>
                <a:latin typeface="Microsoft Sans Serif"/>
                <a:cs typeface="Microsoft Sans Serif"/>
              </a:rPr>
              <a:t>0%</a:t>
            </a:r>
            <a:r>
              <a:rPr dirty="0" sz="1300" spc="1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191919"/>
                </a:solidFill>
                <a:latin typeface="Microsoft Sans Serif"/>
                <a:cs typeface="Microsoft Sans Serif"/>
              </a:rPr>
              <a:t>hallucination</a:t>
            </a:r>
            <a:r>
              <a:rPr dirty="0" sz="1300" spc="2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191919"/>
                </a:solidFill>
                <a:latin typeface="Microsoft Sans Serif"/>
                <a:cs typeface="Microsoft Sans Serif"/>
              </a:rPr>
              <a:t>on</a:t>
            </a:r>
            <a:r>
              <a:rPr dirty="0" sz="1300" spc="1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191919"/>
                </a:solidFill>
                <a:latin typeface="Microsoft Sans Serif"/>
                <a:cs typeface="Microsoft Sans Serif"/>
              </a:rPr>
              <a:t>QA</a:t>
            </a:r>
            <a:r>
              <a:rPr dirty="0" sz="1300" spc="-6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191919"/>
                </a:solidFill>
                <a:latin typeface="Microsoft Sans Serif"/>
                <a:cs typeface="Microsoft Sans Serif"/>
              </a:rPr>
              <a:t>vs</a:t>
            </a:r>
            <a:r>
              <a:rPr dirty="0" sz="1300" spc="2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191919"/>
                </a:solidFill>
                <a:latin typeface="Microsoft Sans Serif"/>
                <a:cs typeface="Microsoft Sans Serif"/>
              </a:rPr>
              <a:t>10%</a:t>
            </a:r>
            <a:r>
              <a:rPr dirty="0" sz="1300" spc="1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191919"/>
                </a:solidFill>
                <a:latin typeface="Microsoft Sans Serif"/>
                <a:cs typeface="Microsoft Sans Serif"/>
              </a:rPr>
              <a:t>for</a:t>
            </a:r>
            <a:r>
              <a:rPr dirty="0" sz="1300" spc="1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191919"/>
                </a:solidFill>
                <a:latin typeface="Microsoft Sans Serif"/>
                <a:cs typeface="Microsoft Sans Serif"/>
              </a:rPr>
              <a:t>Standard-</a:t>
            </a:r>
            <a:r>
              <a:rPr dirty="0" sz="1300">
                <a:solidFill>
                  <a:srgbClr val="191919"/>
                </a:solidFill>
                <a:latin typeface="Microsoft Sans Serif"/>
                <a:cs typeface="Microsoft Sans Serif"/>
              </a:rPr>
              <a:t>RAG,</a:t>
            </a:r>
            <a:r>
              <a:rPr dirty="0" sz="1300" spc="2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191919"/>
                </a:solidFill>
                <a:latin typeface="Microsoft Sans Serif"/>
                <a:cs typeface="Microsoft Sans Serif"/>
              </a:rPr>
              <a:t>running</a:t>
            </a:r>
            <a:r>
              <a:rPr dirty="0" sz="1300" spc="1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191919"/>
                </a:solidFill>
                <a:latin typeface="Microsoft Sans Serif"/>
                <a:cs typeface="Microsoft Sans Serif"/>
              </a:rPr>
              <a:t>1.6–2.2×</a:t>
            </a:r>
            <a:r>
              <a:rPr dirty="0" sz="1300" spc="2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191919"/>
                </a:solidFill>
                <a:latin typeface="Microsoft Sans Serif"/>
                <a:cs typeface="Microsoft Sans Serif"/>
              </a:rPr>
              <a:t>faster</a:t>
            </a:r>
            <a:r>
              <a:rPr dirty="0" sz="1300" spc="2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191919"/>
                </a:solidFill>
                <a:latin typeface="Microsoft Sans Serif"/>
                <a:cs typeface="Microsoft Sans Serif"/>
              </a:rPr>
              <a:t>than</a:t>
            </a:r>
            <a:r>
              <a:rPr dirty="0" sz="1300" spc="2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191919"/>
                </a:solidFill>
                <a:latin typeface="Microsoft Sans Serif"/>
                <a:cs typeface="Microsoft Sans Serif"/>
              </a:rPr>
              <a:t>rule-</a:t>
            </a:r>
            <a:r>
              <a:rPr dirty="0" sz="1300" spc="-10">
                <a:solidFill>
                  <a:srgbClr val="191919"/>
                </a:solidFill>
                <a:latin typeface="Microsoft Sans Serif"/>
                <a:cs typeface="Microsoft Sans Serif"/>
              </a:rPr>
              <a:t>based </a:t>
            </a:r>
            <a:r>
              <a:rPr dirty="0" sz="1300" spc="-20">
                <a:solidFill>
                  <a:srgbClr val="191919"/>
                </a:solidFill>
                <a:latin typeface="Microsoft Sans Serif"/>
                <a:cs typeface="Microsoft Sans Serif"/>
              </a:rPr>
              <a:t>Adaptive-RAG.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19755">
              <a:lnSpc>
                <a:spcPct val="100000"/>
              </a:lnSpc>
              <a:spcBef>
                <a:spcPts val="100"/>
              </a:spcBef>
            </a:pPr>
            <a:r>
              <a:rPr dirty="0" spc="520"/>
              <a:t>INTRODUCTION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3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8456" y="1370063"/>
            <a:ext cx="977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51534" y="1403540"/>
            <a:ext cx="10131425" cy="3467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44145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Large</a:t>
            </a:r>
            <a:r>
              <a:rPr dirty="0" sz="16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and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Small</a:t>
            </a:r>
            <a:r>
              <a:rPr dirty="0" sz="16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Language</a:t>
            </a:r>
            <a:r>
              <a:rPr dirty="0" sz="16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Models</a:t>
            </a:r>
            <a:r>
              <a:rPr dirty="0" sz="16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have</a:t>
            </a:r>
            <a:r>
              <a:rPr dirty="0" sz="16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reshaped</a:t>
            </a:r>
            <a:r>
              <a:rPr dirty="0" sz="16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NLP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655">
                <a:solidFill>
                  <a:srgbClr val="333333"/>
                </a:solidFill>
                <a:latin typeface="Microsoft Sans Serif"/>
                <a:cs typeface="Microsoft Sans Serif"/>
              </a:rPr>
              <a:t>—</a:t>
            </a:r>
            <a:r>
              <a:rPr dirty="0" sz="16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strong</a:t>
            </a:r>
            <a:r>
              <a:rPr dirty="0" sz="16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on</a:t>
            </a:r>
            <a:r>
              <a:rPr dirty="0" sz="16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QA,</a:t>
            </a:r>
            <a:r>
              <a:rPr dirty="0" sz="16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summarisation,</a:t>
            </a:r>
            <a:r>
              <a:rPr dirty="0" sz="16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and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 classification,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25">
                <a:solidFill>
                  <a:srgbClr val="333333"/>
                </a:solidFill>
                <a:latin typeface="Microsoft Sans Serif"/>
                <a:cs typeface="Microsoft Sans Serif"/>
              </a:rPr>
              <a:t>but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bounded</a:t>
            </a:r>
            <a:r>
              <a:rPr dirty="0" sz="16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by</a:t>
            </a:r>
            <a:r>
              <a:rPr dirty="0" sz="16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20">
                <a:solidFill>
                  <a:srgbClr val="333333"/>
                </a:solidFill>
                <a:latin typeface="Microsoft Sans Serif"/>
                <a:cs typeface="Microsoft Sans Serif"/>
              </a:rPr>
              <a:t>training-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data cutoff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and prone</a:t>
            </a:r>
            <a:r>
              <a:rPr dirty="0" sz="16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to</a:t>
            </a:r>
            <a:r>
              <a:rPr dirty="0" sz="16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hallucination.</a:t>
            </a:r>
            <a:endParaRPr sz="1600">
              <a:latin typeface="Microsoft Sans Serif"/>
              <a:cs typeface="Microsoft Sans Serif"/>
            </a:endParaRPr>
          </a:p>
          <a:p>
            <a:pPr marL="12700" marR="175895">
              <a:lnSpc>
                <a:spcPct val="100000"/>
              </a:lnSpc>
              <a:spcBef>
                <a:spcPts val="1200"/>
              </a:spcBef>
            </a:pPr>
            <a:r>
              <a:rPr dirty="0" sz="1600" spc="-20">
                <a:solidFill>
                  <a:srgbClr val="333333"/>
                </a:solidFill>
                <a:latin typeface="Microsoft Sans Serif"/>
                <a:cs typeface="Microsoft Sans Serif"/>
              </a:rPr>
              <a:t>Retrieval-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Augmented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Generation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(RAG)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pairs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language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model</a:t>
            </a:r>
            <a:r>
              <a:rPr dirty="0" sz="16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with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external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knowledge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retrieval,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conditioning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generation</a:t>
            </a:r>
            <a:r>
              <a:rPr dirty="0" sz="16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on</a:t>
            </a:r>
            <a:r>
              <a:rPr dirty="0" sz="16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retrieved</a:t>
            </a:r>
            <a:r>
              <a:rPr dirty="0" sz="16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documents.</a:t>
            </a:r>
            <a:endParaRPr sz="1600">
              <a:latin typeface="Microsoft Sans Serif"/>
              <a:cs typeface="Microsoft Sans Serif"/>
            </a:endParaRPr>
          </a:p>
          <a:p>
            <a:pPr marL="12700" marR="64135">
              <a:lnSpc>
                <a:spcPct val="100000"/>
              </a:lnSpc>
              <a:spcBef>
                <a:spcPts val="1195"/>
              </a:spcBef>
            </a:pP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Standard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RAG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retrieves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top-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k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documents</a:t>
            </a:r>
            <a:r>
              <a:rPr dirty="0" sz="16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by</a:t>
            </a:r>
            <a:r>
              <a:rPr dirty="0" sz="16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similarity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and</a:t>
            </a:r>
            <a:r>
              <a:rPr dirty="0" sz="16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feeds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all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of</a:t>
            </a:r>
            <a:r>
              <a:rPr dirty="0" sz="16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them</a:t>
            </a:r>
            <a:r>
              <a:rPr dirty="0" sz="16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in</a:t>
            </a:r>
            <a:r>
              <a:rPr dirty="0" sz="16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655">
                <a:solidFill>
                  <a:srgbClr val="333333"/>
                </a:solidFill>
                <a:latin typeface="Microsoft Sans Serif"/>
                <a:cs typeface="Microsoft Sans Serif"/>
              </a:rPr>
              <a:t>—</a:t>
            </a:r>
            <a:r>
              <a:rPr dirty="0" sz="16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without</a:t>
            </a:r>
            <a:r>
              <a:rPr dirty="0" sz="16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checking</a:t>
            </a:r>
            <a:r>
              <a:rPr dirty="0" sz="16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whether</a:t>
            </a:r>
            <a:r>
              <a:rPr dirty="0" sz="16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20">
                <a:solidFill>
                  <a:srgbClr val="333333"/>
                </a:solidFill>
                <a:latin typeface="Microsoft Sans Serif"/>
                <a:cs typeface="Microsoft Sans Serif"/>
              </a:rPr>
              <a:t>each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is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actually</a:t>
            </a:r>
            <a:r>
              <a:rPr dirty="0" sz="16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relevant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to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query.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Indiscriminate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context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hurts</a:t>
            </a:r>
            <a:r>
              <a:rPr dirty="0" sz="16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generator:</a:t>
            </a:r>
            <a:r>
              <a:rPr dirty="0" sz="16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irrelevant</a:t>
            </a:r>
            <a:r>
              <a:rPr dirty="0" sz="16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documents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introduce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noise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and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inflate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hallucination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rates.</a:t>
            </a:r>
            <a:endParaRPr sz="1600">
              <a:latin typeface="Microsoft Sans Serif"/>
              <a:cs typeface="Microsoft Sans Serif"/>
            </a:endParaRPr>
          </a:p>
          <a:p>
            <a:pPr marL="12700" marR="616585">
              <a:lnSpc>
                <a:spcPct val="100000"/>
              </a:lnSpc>
              <a:spcBef>
                <a:spcPts val="1195"/>
              </a:spcBef>
            </a:pP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Indian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multilingual</a:t>
            </a:r>
            <a:r>
              <a:rPr dirty="0" sz="16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content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makes</a:t>
            </a:r>
            <a:r>
              <a:rPr dirty="0" sz="16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this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worse: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English-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only</a:t>
            </a:r>
            <a:r>
              <a:rPr dirty="0" sz="16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enrichment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tools</a:t>
            </a:r>
            <a:r>
              <a:rPr dirty="0" sz="16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fail</a:t>
            </a:r>
            <a:r>
              <a:rPr dirty="0" sz="16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on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60">
                <a:solidFill>
                  <a:srgbClr val="333333"/>
                </a:solidFill>
                <a:latin typeface="Microsoft Sans Serif"/>
                <a:cs typeface="Microsoft Sans Serif"/>
              </a:rPr>
              <a:t>40–50%</a:t>
            </a:r>
            <a:r>
              <a:rPr dirty="0" sz="16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of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Hindi,</a:t>
            </a:r>
            <a:r>
              <a:rPr dirty="0" sz="1600" spc="-6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Tamil, </a:t>
            </a:r>
            <a:r>
              <a:rPr dirty="0" sz="1600" spc="-25">
                <a:solidFill>
                  <a:srgbClr val="333333"/>
                </a:solidFill>
                <a:latin typeface="Microsoft Sans Serif"/>
                <a:cs typeface="Microsoft Sans Serif"/>
              </a:rPr>
              <a:t>Telugu,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and</a:t>
            </a:r>
            <a:r>
              <a:rPr dirty="0" sz="16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Bengali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articles.</a:t>
            </a:r>
            <a:endParaRPr sz="16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Three-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phase</a:t>
            </a:r>
            <a:r>
              <a:rPr dirty="0" sz="16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contribution:</a:t>
            </a:r>
            <a:r>
              <a:rPr dirty="0" sz="16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real-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world</a:t>
            </a:r>
            <a:r>
              <a:rPr dirty="0" sz="16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multilingual</a:t>
            </a:r>
            <a:r>
              <a:rPr dirty="0" sz="16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ingestion</a:t>
            </a:r>
            <a:r>
              <a:rPr dirty="0" sz="16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→</a:t>
            </a:r>
            <a:r>
              <a:rPr dirty="0" sz="16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systematic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RAG</a:t>
            </a:r>
            <a:r>
              <a:rPr dirty="0" sz="16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benchmark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→</a:t>
            </a:r>
            <a:r>
              <a:rPr dirty="0" sz="16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learned</a:t>
            </a:r>
            <a:r>
              <a:rPr dirty="0" sz="16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confidence- </a:t>
            </a:r>
            <a:r>
              <a:rPr dirty="0" sz="1600">
                <a:solidFill>
                  <a:srgbClr val="333333"/>
                </a:solidFill>
                <a:latin typeface="Microsoft Sans Serif"/>
                <a:cs typeface="Microsoft Sans Serif"/>
              </a:rPr>
              <a:t>aware</a:t>
            </a:r>
            <a:r>
              <a:rPr dirty="0" sz="16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333333"/>
                </a:solidFill>
                <a:latin typeface="Microsoft Sans Serif"/>
                <a:cs typeface="Microsoft Sans Serif"/>
              </a:rPr>
              <a:t>filtering.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08456" y="2009787"/>
            <a:ext cx="977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08456" y="2649499"/>
            <a:ext cx="977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08456" y="3289223"/>
            <a:ext cx="977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08456" y="3685222"/>
            <a:ext cx="977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08456" y="4324946"/>
            <a:ext cx="977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4023004"/>
            <a:ext cx="6080760" cy="2834640"/>
            <a:chOff x="0" y="4023004"/>
            <a:chExt cx="6080760" cy="28346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303507"/>
              <a:ext cx="1828444" cy="1554137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731519" y="4023004"/>
              <a:ext cx="5349240" cy="2377440"/>
            </a:xfrm>
            <a:custGeom>
              <a:avLst/>
              <a:gdLst/>
              <a:ahLst/>
              <a:cxnLst/>
              <a:rect l="l" t="t" r="r" b="b"/>
              <a:pathLst>
                <a:path w="5349240" h="2377440">
                  <a:moveTo>
                    <a:pt x="5348884" y="0"/>
                  </a:moveTo>
                  <a:lnTo>
                    <a:pt x="0" y="0"/>
                  </a:lnTo>
                  <a:lnTo>
                    <a:pt x="0" y="2377071"/>
                  </a:lnTo>
                  <a:lnTo>
                    <a:pt x="2674442" y="2377071"/>
                  </a:lnTo>
                  <a:lnTo>
                    <a:pt x="5348884" y="2377071"/>
                  </a:lnTo>
                  <a:lnTo>
                    <a:pt x="5348884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21710">
              <a:lnSpc>
                <a:spcPct val="100000"/>
              </a:lnSpc>
              <a:spcBef>
                <a:spcPts val="100"/>
              </a:spcBef>
            </a:pPr>
            <a:r>
              <a:rPr dirty="0" spc="430"/>
              <a:t>MOTIVATION</a:t>
            </a:r>
          </a:p>
        </p:txBody>
      </p:sp>
      <p:sp>
        <p:nvSpPr>
          <p:cNvPr id="6" name="object 6" descr=""/>
          <p:cNvSpPr/>
          <p:nvPr/>
        </p:nvSpPr>
        <p:spPr>
          <a:xfrm>
            <a:off x="731519" y="1416964"/>
            <a:ext cx="5349240" cy="2377440"/>
          </a:xfrm>
          <a:custGeom>
            <a:avLst/>
            <a:gdLst/>
            <a:ahLst/>
            <a:cxnLst/>
            <a:rect l="l" t="t" r="r" b="b"/>
            <a:pathLst>
              <a:path w="5349240" h="2377440">
                <a:moveTo>
                  <a:pt x="5348884" y="0"/>
                </a:moveTo>
                <a:lnTo>
                  <a:pt x="0" y="0"/>
                </a:lnTo>
                <a:lnTo>
                  <a:pt x="0" y="2377071"/>
                </a:lnTo>
                <a:lnTo>
                  <a:pt x="2674442" y="2377071"/>
                </a:lnTo>
                <a:lnTo>
                  <a:pt x="5348884" y="2377071"/>
                </a:lnTo>
                <a:lnTo>
                  <a:pt x="5348884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992784" y="1678584"/>
            <a:ext cx="14973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14" b="1">
                <a:solidFill>
                  <a:srgbClr val="FFFFFF"/>
                </a:solidFill>
                <a:latin typeface="Trebuchet MS"/>
                <a:cs typeface="Trebuchet MS"/>
              </a:rPr>
              <a:t>1.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45" b="1">
                <a:solidFill>
                  <a:srgbClr val="FFFFFF"/>
                </a:solidFill>
                <a:latin typeface="Trebuchet MS"/>
                <a:cs typeface="Trebuchet MS"/>
              </a:rPr>
              <a:t>Challenges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82776" y="2077036"/>
            <a:ext cx="84455" cy="84963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300" spc="-50">
                <a:solidFill>
                  <a:srgbClr val="E4E6EA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300" spc="-50">
                <a:solidFill>
                  <a:srgbClr val="E4E6EA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300" spc="-50">
                <a:solidFill>
                  <a:srgbClr val="E4E6EA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425854" y="2104392"/>
            <a:ext cx="2698115" cy="849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600"/>
              </a:lnSpc>
              <a:spcBef>
                <a:spcPts val="100"/>
              </a:spcBef>
            </a:pP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Hallucinations</a:t>
            </a:r>
            <a:r>
              <a:rPr dirty="0" sz="1300" spc="-1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in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 language models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SLMs</a:t>
            </a:r>
            <a:r>
              <a:rPr dirty="0" sz="1300" spc="-1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overwhelmed</a:t>
            </a:r>
            <a:r>
              <a:rPr dirty="0" sz="1300" spc="-1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by</a:t>
            </a:r>
            <a:r>
              <a:rPr dirty="0" sz="1300" spc="-1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noisy</a:t>
            </a:r>
            <a:r>
              <a:rPr dirty="0" sz="1300" spc="-1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context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Limited</a:t>
            </a:r>
            <a:r>
              <a:rPr dirty="0" sz="1300" spc="-4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parametric</a:t>
            </a:r>
            <a:r>
              <a:rPr dirty="0" sz="1300" spc="-4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memory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6263640" y="1416964"/>
            <a:ext cx="5349240" cy="2377440"/>
          </a:xfrm>
          <a:custGeom>
            <a:avLst/>
            <a:gdLst/>
            <a:ahLst/>
            <a:cxnLst/>
            <a:rect l="l" t="t" r="r" b="b"/>
            <a:pathLst>
              <a:path w="5349240" h="2377440">
                <a:moveTo>
                  <a:pt x="5348884" y="0"/>
                </a:moveTo>
                <a:lnTo>
                  <a:pt x="0" y="0"/>
                </a:lnTo>
                <a:lnTo>
                  <a:pt x="0" y="2377071"/>
                </a:lnTo>
                <a:lnTo>
                  <a:pt x="2674442" y="2377071"/>
                </a:lnTo>
                <a:lnTo>
                  <a:pt x="5348884" y="2377071"/>
                </a:lnTo>
                <a:lnTo>
                  <a:pt x="5348884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614896" y="2077036"/>
            <a:ext cx="84455" cy="84963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300" spc="-50">
                <a:solidFill>
                  <a:srgbClr val="E4E6EA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300" spc="-50">
                <a:solidFill>
                  <a:srgbClr val="E4E6EA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300" spc="-50">
                <a:solidFill>
                  <a:srgbClr val="E4E6EA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524904" y="1678584"/>
            <a:ext cx="3160395" cy="1275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14" b="1">
                <a:solidFill>
                  <a:srgbClr val="FFFFFF"/>
                </a:solidFill>
                <a:latin typeface="Trebuchet MS"/>
                <a:cs typeface="Trebuchet MS"/>
              </a:rPr>
              <a:t>2.</a:t>
            </a:r>
            <a:r>
              <a:rPr dirty="0" sz="1800" spc="-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14" b="1">
                <a:solidFill>
                  <a:srgbClr val="FFFFFF"/>
                </a:solidFill>
                <a:latin typeface="Trebuchet MS"/>
                <a:cs typeface="Trebuchet MS"/>
              </a:rPr>
              <a:t>Gaps</a:t>
            </a:r>
            <a:r>
              <a:rPr dirty="0" sz="1800" spc="-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1800" spc="-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45" b="1">
                <a:solidFill>
                  <a:srgbClr val="FFFFFF"/>
                </a:solidFill>
                <a:latin typeface="Trebuchet MS"/>
                <a:cs typeface="Trebuchet MS"/>
              </a:rPr>
              <a:t>Existing</a:t>
            </a:r>
            <a:r>
              <a:rPr dirty="0" sz="1800" spc="-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50" b="1">
                <a:solidFill>
                  <a:srgbClr val="FFFFFF"/>
                </a:solidFill>
                <a:latin typeface="Trebuchet MS"/>
                <a:cs typeface="Trebuchet MS"/>
              </a:rPr>
              <a:t>RAG</a:t>
            </a:r>
            <a:endParaRPr sz="1800">
              <a:latin typeface="Trebuchet MS"/>
              <a:cs typeface="Trebuchet MS"/>
            </a:endParaRPr>
          </a:p>
          <a:p>
            <a:pPr marL="445134">
              <a:lnSpc>
                <a:spcPct val="100000"/>
              </a:lnSpc>
              <a:spcBef>
                <a:spcPts val="1795"/>
              </a:spcBef>
            </a:pPr>
            <a:r>
              <a:rPr dirty="0" sz="1300" spc="-20">
                <a:solidFill>
                  <a:srgbClr val="E4E6EA"/>
                </a:solidFill>
                <a:latin typeface="Microsoft Sans Serif"/>
                <a:cs typeface="Microsoft Sans Serif"/>
              </a:rPr>
              <a:t>Similarity-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based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retrieval</a:t>
            </a:r>
            <a:r>
              <a:rPr dirty="0" sz="1300" spc="-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E4E6EA"/>
                </a:solidFill>
                <a:latin typeface="Microsoft Sans Serif"/>
                <a:cs typeface="Microsoft Sans Serif"/>
              </a:rPr>
              <a:t>only</a:t>
            </a:r>
            <a:endParaRPr sz="1300">
              <a:latin typeface="Microsoft Sans Serif"/>
              <a:cs typeface="Microsoft Sans Serif"/>
            </a:endParaRPr>
          </a:p>
          <a:p>
            <a:pPr marL="445134" marR="5080">
              <a:lnSpc>
                <a:spcPct val="138600"/>
              </a:lnSpc>
            </a:pP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No</a:t>
            </a:r>
            <a:r>
              <a:rPr dirty="0" sz="1300" spc="2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E4E6EA"/>
                </a:solidFill>
                <a:latin typeface="Microsoft Sans Serif"/>
                <a:cs typeface="Microsoft Sans Serif"/>
              </a:rPr>
              <a:t>inference-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time</a:t>
            </a:r>
            <a:r>
              <a:rPr dirty="0" sz="1300" spc="1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reliability</a:t>
            </a:r>
            <a:r>
              <a:rPr dirty="0" sz="1300" spc="1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E4E6EA"/>
                </a:solidFill>
                <a:latin typeface="Microsoft Sans Serif"/>
                <a:cs typeface="Microsoft Sans Serif"/>
              </a:rPr>
              <a:t>check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Redundant</a:t>
            </a:r>
            <a:r>
              <a:rPr dirty="0" sz="1300" spc="-4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and</a:t>
            </a:r>
            <a:r>
              <a:rPr dirty="0" sz="1300" spc="-3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irrelevant</a:t>
            </a:r>
            <a:r>
              <a:rPr dirty="0" sz="1300" spc="-3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documents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92784" y="4284624"/>
            <a:ext cx="30206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14" b="1">
                <a:solidFill>
                  <a:srgbClr val="FFFFFF"/>
                </a:solidFill>
                <a:latin typeface="Trebuchet MS"/>
                <a:cs typeface="Trebuchet MS"/>
              </a:rPr>
              <a:t>3.</a:t>
            </a:r>
            <a:r>
              <a:rPr dirty="0" sz="1800" spc="-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 b="1">
                <a:solidFill>
                  <a:srgbClr val="FFFFFF"/>
                </a:solidFill>
                <a:latin typeface="Trebuchet MS"/>
                <a:cs typeface="Trebuchet MS"/>
              </a:rPr>
              <a:t>Proposed</a:t>
            </a:r>
            <a:r>
              <a:rPr dirty="0" sz="1800" spc="-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Enhancements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82776" y="4683076"/>
            <a:ext cx="84455" cy="84963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300" spc="-50">
                <a:solidFill>
                  <a:srgbClr val="E4E6EA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300" spc="-50">
                <a:solidFill>
                  <a:srgbClr val="E4E6EA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300" spc="-50">
                <a:solidFill>
                  <a:srgbClr val="E4E6EA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425854" y="4710432"/>
            <a:ext cx="3084830" cy="84963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Learned</a:t>
            </a:r>
            <a:r>
              <a:rPr dirty="0" sz="1300" spc="-8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1300" spc="-7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scoring</a:t>
            </a:r>
            <a:endParaRPr sz="1300">
              <a:latin typeface="Microsoft Sans Serif"/>
              <a:cs typeface="Microsoft Sans Serif"/>
            </a:endParaRPr>
          </a:p>
          <a:p>
            <a:pPr marL="12700" marR="5080">
              <a:lnSpc>
                <a:spcPct val="138600"/>
              </a:lnSpc>
            </a:pP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Document-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level</a:t>
            </a:r>
            <a:r>
              <a:rPr dirty="0" sz="1300" spc="-4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filtering</a:t>
            </a:r>
            <a:r>
              <a:rPr dirty="0" sz="1300" spc="-4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before</a:t>
            </a:r>
            <a:r>
              <a:rPr dirty="0" sz="1300" spc="-4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generation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Single</a:t>
            </a:r>
            <a:r>
              <a:rPr dirty="0" sz="1300" spc="-5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task-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agnostic</a:t>
            </a:r>
            <a:r>
              <a:rPr dirty="0" sz="1300" spc="-5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predictor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6263640" y="4023004"/>
            <a:ext cx="5349240" cy="2377440"/>
          </a:xfrm>
          <a:custGeom>
            <a:avLst/>
            <a:gdLst/>
            <a:ahLst/>
            <a:cxnLst/>
            <a:rect l="l" t="t" r="r" b="b"/>
            <a:pathLst>
              <a:path w="5349240" h="2377440">
                <a:moveTo>
                  <a:pt x="5348884" y="0"/>
                </a:moveTo>
                <a:lnTo>
                  <a:pt x="0" y="0"/>
                </a:lnTo>
                <a:lnTo>
                  <a:pt x="0" y="2377071"/>
                </a:lnTo>
                <a:lnTo>
                  <a:pt x="2674442" y="2377071"/>
                </a:lnTo>
                <a:lnTo>
                  <a:pt x="5348884" y="2377071"/>
                </a:lnTo>
                <a:lnTo>
                  <a:pt x="5348884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6524904" y="4284624"/>
            <a:ext cx="13957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14" b="1">
                <a:solidFill>
                  <a:srgbClr val="FFFFFF"/>
                </a:solidFill>
                <a:latin typeface="Trebuchet MS"/>
                <a:cs typeface="Trebuchet MS"/>
              </a:rPr>
              <a:t>4.</a:t>
            </a:r>
            <a:r>
              <a:rPr dirty="0" sz="1800" spc="-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40" b="1">
                <a:solidFill>
                  <a:srgbClr val="FFFFFF"/>
                </a:solidFill>
                <a:latin typeface="Trebuchet MS"/>
                <a:cs typeface="Trebuchet MS"/>
              </a:rPr>
              <a:t>Outcomes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4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6614896" y="4683076"/>
            <a:ext cx="84455" cy="84963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300" spc="-50">
                <a:solidFill>
                  <a:srgbClr val="E4E6EA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300" spc="-50">
                <a:solidFill>
                  <a:srgbClr val="E4E6EA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300" spc="-50">
                <a:solidFill>
                  <a:srgbClr val="E4E6EA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957974" y="4710432"/>
            <a:ext cx="2635250" cy="84963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Higher</a:t>
            </a:r>
            <a:r>
              <a:rPr dirty="0" sz="1300" spc="-6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factual</a:t>
            </a:r>
            <a:r>
              <a:rPr dirty="0" sz="1300" spc="-6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accuracy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Reduced</a:t>
            </a:r>
            <a:r>
              <a:rPr dirty="0" sz="1300" spc="-2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hallucinations</a:t>
            </a:r>
            <a:r>
              <a:rPr dirty="0" sz="1300" spc="-2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(0%</a:t>
            </a:r>
            <a:r>
              <a:rPr dirty="0" sz="1300" spc="-3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on</a:t>
            </a:r>
            <a:r>
              <a:rPr dirty="0" sz="1300" spc="-2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5">
                <a:solidFill>
                  <a:srgbClr val="E4E6EA"/>
                </a:solidFill>
                <a:latin typeface="Microsoft Sans Serif"/>
                <a:cs typeface="Microsoft Sans Serif"/>
              </a:rPr>
              <a:t>QA)</a:t>
            </a:r>
            <a:endParaRPr sz="1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1.6–2.2×</a:t>
            </a:r>
            <a:r>
              <a:rPr dirty="0" sz="1300" spc="8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faster</a:t>
            </a:r>
            <a:r>
              <a:rPr dirty="0" sz="1300" spc="8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than</a:t>
            </a:r>
            <a:r>
              <a:rPr dirty="0" sz="1300" spc="8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E4E6EA"/>
                </a:solidFill>
                <a:latin typeface="Microsoft Sans Serif"/>
                <a:cs typeface="Microsoft Sans Serif"/>
              </a:rPr>
              <a:t>rule-based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5541" y="444144"/>
            <a:ext cx="56889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1554" algn="l"/>
              </a:tabLst>
            </a:pPr>
            <a:r>
              <a:rPr dirty="0" spc="525"/>
              <a:t>LITERATURE</a:t>
            </a:r>
            <a:r>
              <a:rPr dirty="0"/>
              <a:t>	</a:t>
            </a:r>
            <a:r>
              <a:rPr dirty="0" spc="600"/>
              <a:t>SURVEY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5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54341" y="1323021"/>
          <a:ext cx="11329035" cy="4114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1639"/>
                <a:gridCol w="2560319"/>
                <a:gridCol w="2331720"/>
                <a:gridCol w="2331720"/>
                <a:gridCol w="2331720"/>
              </a:tblGrid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Paper </a:t>
                      </a:r>
                      <a:r>
                        <a:rPr dirty="0" sz="1200" spc="-13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dirty="0" sz="1200" spc="-3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Approach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365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Methodology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365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Key</a:t>
                      </a:r>
                      <a:r>
                        <a:rPr dirty="0" sz="1200" spc="9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Contribution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365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Limitation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365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Relevance</a:t>
                      </a:r>
                      <a:r>
                        <a:rPr dirty="0" sz="1200" spc="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1200" spc="1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Our</a:t>
                      </a:r>
                      <a:r>
                        <a:rPr dirty="0" sz="1200" spc="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Work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365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91440" marR="363855">
                        <a:lnSpc>
                          <a:spcPts val="1220"/>
                        </a:lnSpc>
                        <a:spcBef>
                          <a:spcPts val="380"/>
                        </a:spcBef>
                      </a:pPr>
                      <a:r>
                        <a:rPr dirty="0" sz="110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Standard</a:t>
                      </a:r>
                      <a:r>
                        <a:rPr dirty="0" sz="1100" spc="13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8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RAG </a:t>
                      </a:r>
                      <a:r>
                        <a:rPr dirty="0" sz="110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(Lewis</a:t>
                      </a:r>
                      <a:r>
                        <a:rPr dirty="0" sz="1100" spc="-5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5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et</a:t>
                      </a:r>
                      <a:r>
                        <a:rPr dirty="0" sz="1100" spc="5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55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al.,</a:t>
                      </a:r>
                      <a:r>
                        <a:rPr dirty="0" sz="1100" spc="5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4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2020)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48260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73355">
                        <a:lnSpc>
                          <a:spcPts val="1220"/>
                        </a:lnSpc>
                        <a:spcBef>
                          <a:spcPts val="380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Retrieves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top-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k</a:t>
                      </a:r>
                      <a:r>
                        <a:rPr dirty="0" sz="1100" spc="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documents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via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BM25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dense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embeddings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appends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them</a:t>
                      </a:r>
                      <a:r>
                        <a:rPr dirty="0" sz="1100" spc="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dirty="0" sz="1100" spc="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dirty="0" sz="1100" spc="-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prompt.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260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654050">
                        <a:lnSpc>
                          <a:spcPts val="1220"/>
                        </a:lnSpc>
                        <a:spcBef>
                          <a:spcPts val="380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Showed</a:t>
                      </a:r>
                      <a:r>
                        <a:rPr dirty="0" sz="1100" spc="-3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retrieval</a:t>
                      </a:r>
                      <a:r>
                        <a:rPr dirty="0" sz="1100" spc="-3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can</a:t>
                      </a:r>
                      <a:r>
                        <a:rPr dirty="0" sz="1100" spc="-3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be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combined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with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seq2seq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generation</a:t>
                      </a:r>
                      <a:r>
                        <a:rPr dirty="0" sz="1100" spc="-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end-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to-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end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for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knowledge</a:t>
                      </a:r>
                      <a:r>
                        <a:rPr dirty="0" sz="1100" spc="-6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tasks.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260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71450">
                        <a:lnSpc>
                          <a:spcPts val="1220"/>
                        </a:lnSpc>
                        <a:spcBef>
                          <a:spcPts val="380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Treats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every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retrieved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document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as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equally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relevant;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inference-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time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filtering.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260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64160">
                        <a:lnSpc>
                          <a:spcPts val="1220"/>
                        </a:lnSpc>
                        <a:spcBef>
                          <a:spcPts val="380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Baseline</a:t>
                      </a:r>
                      <a:r>
                        <a:rPr dirty="0" sz="1100" spc="-3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against</a:t>
                      </a:r>
                      <a:r>
                        <a:rPr dirty="0" sz="1100" spc="-4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which</a:t>
                      </a:r>
                      <a:r>
                        <a:rPr dirty="0" sz="1100" spc="-3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we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benchmark all three</a:t>
                      </a:r>
                      <a:r>
                        <a:rPr dirty="0" sz="1100" spc="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of our</a:t>
                      </a:r>
                      <a:r>
                        <a:rPr dirty="0" sz="1100" spc="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RAG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variants.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260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91440">
                        <a:lnSpc>
                          <a:spcPts val="1270"/>
                        </a:lnSpc>
                        <a:spcBef>
                          <a:spcPts val="254"/>
                        </a:spcBef>
                      </a:pPr>
                      <a:r>
                        <a:rPr dirty="0" sz="1100" spc="6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DPR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  <a:p>
                      <a:pPr marL="91440" marR="458470">
                        <a:lnSpc>
                          <a:spcPts val="1220"/>
                        </a:lnSpc>
                        <a:spcBef>
                          <a:spcPts val="75"/>
                        </a:spcBef>
                      </a:pPr>
                      <a:r>
                        <a:rPr dirty="0" sz="110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(Karpukhin</a:t>
                      </a:r>
                      <a:r>
                        <a:rPr dirty="0" sz="1100" spc="2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55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et</a:t>
                      </a:r>
                      <a:r>
                        <a:rPr dirty="0" sz="1100" spc="2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45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al., </a:t>
                      </a:r>
                      <a:r>
                        <a:rPr dirty="0" sz="1100" spc="-1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2020)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32384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5250">
                        <a:lnSpc>
                          <a:spcPts val="1220"/>
                        </a:lnSpc>
                        <a:spcBef>
                          <a:spcPts val="375"/>
                        </a:spcBef>
                      </a:pP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Dual-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encoder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dense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passage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retrieval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trained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on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QA</a:t>
                      </a:r>
                      <a:r>
                        <a:rPr dirty="0" sz="1100" spc="-5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pairs.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76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57175">
                        <a:lnSpc>
                          <a:spcPts val="1220"/>
                        </a:lnSpc>
                        <a:spcBef>
                          <a:spcPts val="375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Dense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embeddings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beat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sparse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BM25 on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open-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domain</a:t>
                      </a:r>
                      <a:r>
                        <a:rPr dirty="0" sz="1100" spc="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QA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retrieval.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76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32715">
                        <a:lnSpc>
                          <a:spcPts val="1220"/>
                        </a:lnSpc>
                        <a:spcBef>
                          <a:spcPts val="375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Requires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task-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specific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training;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no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relevance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scoring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at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inference time.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76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65125">
                        <a:lnSpc>
                          <a:spcPts val="1220"/>
                        </a:lnSpc>
                        <a:spcBef>
                          <a:spcPts val="375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Provides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dense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encoder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paradigm</a:t>
                      </a:r>
                      <a:r>
                        <a:rPr dirty="0" sz="1100" spc="-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our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predictor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reuses (MiniLM).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76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marL="91440">
                        <a:lnSpc>
                          <a:spcPts val="1270"/>
                        </a:lnSpc>
                        <a:spcBef>
                          <a:spcPts val="254"/>
                        </a:spcBef>
                      </a:pPr>
                      <a:r>
                        <a:rPr dirty="0" sz="110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Self-</a:t>
                      </a:r>
                      <a:r>
                        <a:rPr dirty="0" sz="1100" spc="8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RAG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  <a:p>
                      <a:pPr marL="91440">
                        <a:lnSpc>
                          <a:spcPts val="1270"/>
                        </a:lnSpc>
                      </a:pPr>
                      <a:r>
                        <a:rPr dirty="0" sz="110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(Asai</a:t>
                      </a:r>
                      <a:r>
                        <a:rPr dirty="0" sz="1100" spc="3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55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et</a:t>
                      </a:r>
                      <a:r>
                        <a:rPr dirty="0" sz="1100" spc="35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5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al.,</a:t>
                      </a:r>
                      <a:r>
                        <a:rPr dirty="0" sz="1100" spc="35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2023)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32384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1440" marR="93980">
                        <a:lnSpc>
                          <a:spcPts val="1220"/>
                        </a:lnSpc>
                        <a:spcBef>
                          <a:spcPts val="380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Trains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LM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emit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reflection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tokens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that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decide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when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retrieve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when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to trust</a:t>
                      </a:r>
                      <a:r>
                        <a:rPr dirty="0" sz="1100" spc="-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output.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260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194945">
                        <a:lnSpc>
                          <a:spcPts val="1220"/>
                        </a:lnSpc>
                        <a:spcBef>
                          <a:spcPts val="380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Introduced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learned</a:t>
                      </a:r>
                      <a:r>
                        <a:rPr dirty="0" sz="1100" spc="-3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self-reflection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over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retrieval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decisions.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260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19405">
                        <a:lnSpc>
                          <a:spcPts val="1220"/>
                        </a:lnSpc>
                        <a:spcBef>
                          <a:spcPts val="380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Heavy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training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cost;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tied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5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a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specific</a:t>
                      </a:r>
                      <a:r>
                        <a:rPr dirty="0" sz="1100" spc="-3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large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generator</a:t>
                      </a:r>
                      <a:r>
                        <a:rPr dirty="0" sz="1100" spc="-3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model.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260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32080">
                        <a:lnSpc>
                          <a:spcPts val="1220"/>
                        </a:lnSpc>
                        <a:spcBef>
                          <a:spcPts val="380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Motivates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our</a:t>
                      </a:r>
                      <a:r>
                        <a:rPr dirty="0" sz="1100" spc="-3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cheaper,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generator-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agnostic</a:t>
                      </a:r>
                      <a:r>
                        <a:rPr dirty="0" sz="1100" spc="-3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confidence</a:t>
                      </a:r>
                      <a:r>
                        <a:rPr dirty="0" sz="1100" spc="-4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head.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260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91440" marR="807720">
                        <a:lnSpc>
                          <a:spcPts val="1220"/>
                        </a:lnSpc>
                        <a:spcBef>
                          <a:spcPts val="375"/>
                        </a:spcBef>
                      </a:pPr>
                      <a:r>
                        <a:rPr dirty="0" sz="110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Astute</a:t>
                      </a:r>
                      <a:r>
                        <a:rPr dirty="0" sz="1100" spc="3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75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RAG </a:t>
                      </a:r>
                      <a:r>
                        <a:rPr dirty="0" sz="1100" spc="-1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(2025)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476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52729">
                        <a:lnSpc>
                          <a:spcPts val="1220"/>
                        </a:lnSpc>
                        <a:spcBef>
                          <a:spcPts val="375"/>
                        </a:spcBef>
                      </a:pP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Prompt-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based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iterative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resolution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of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conflicts</a:t>
                      </a:r>
                      <a:r>
                        <a:rPr dirty="0" sz="1100" spc="-3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between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parametric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and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retrieved</a:t>
                      </a:r>
                      <a:r>
                        <a:rPr dirty="0" sz="1100" spc="-3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knowledge.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76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521334">
                        <a:lnSpc>
                          <a:spcPts val="1220"/>
                        </a:lnSpc>
                        <a:spcBef>
                          <a:spcPts val="375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Highlights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that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retrieved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knowledge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can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be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wrong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or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conflicting.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76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3980">
                        <a:lnSpc>
                          <a:spcPts val="1220"/>
                        </a:lnSpc>
                        <a:spcBef>
                          <a:spcPts val="375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Large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models,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high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inference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cost,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explicit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numeric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confidence.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76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40335">
                        <a:lnSpc>
                          <a:spcPts val="1220"/>
                        </a:lnSpc>
                        <a:spcBef>
                          <a:spcPts val="375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Motivates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explicit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numeric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scoring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retrieval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reliability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at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inference.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76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5733" y="444144"/>
            <a:ext cx="78867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1554" algn="l"/>
                <a:tab pos="5895340" algn="l"/>
              </a:tabLst>
            </a:pPr>
            <a:r>
              <a:rPr dirty="0" spc="525"/>
              <a:t>LITERATURE</a:t>
            </a:r>
            <a:r>
              <a:rPr dirty="0"/>
              <a:t>	</a:t>
            </a:r>
            <a:r>
              <a:rPr dirty="0" spc="600"/>
              <a:t>SURVEY</a:t>
            </a:r>
            <a:r>
              <a:rPr dirty="0"/>
              <a:t>	</a:t>
            </a:r>
            <a:r>
              <a:rPr dirty="0" spc="-140"/>
              <a:t>(</a:t>
            </a:r>
            <a:r>
              <a:rPr dirty="0" spc="-680"/>
              <a:t> </a:t>
            </a:r>
            <a:r>
              <a:rPr dirty="0" spc="540"/>
              <a:t>CON</a:t>
            </a:r>
            <a:r>
              <a:rPr dirty="0" spc="-690"/>
              <a:t> </a:t>
            </a:r>
            <a:r>
              <a:rPr dirty="0" spc="-185"/>
              <a:t>T.</a:t>
            </a:r>
            <a:r>
              <a:rPr dirty="0" spc="-675"/>
              <a:t> </a:t>
            </a:r>
            <a:r>
              <a:rPr dirty="0" spc="-50"/>
              <a:t>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6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54341" y="1323021"/>
          <a:ext cx="11329035" cy="4114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1639"/>
                <a:gridCol w="2560319"/>
                <a:gridCol w="2331720"/>
                <a:gridCol w="2331720"/>
                <a:gridCol w="2331720"/>
              </a:tblGrid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Paper </a:t>
                      </a:r>
                      <a:r>
                        <a:rPr dirty="0" sz="1200" spc="-13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dirty="0" sz="1200" spc="-3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Approach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365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Methodology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365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Key</a:t>
                      </a:r>
                      <a:r>
                        <a:rPr dirty="0" sz="1200" spc="9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Contribution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365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Limitation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365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Relevance</a:t>
                      </a:r>
                      <a:r>
                        <a:rPr dirty="0" sz="1200" spc="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dirty="0" sz="1200" spc="1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Our</a:t>
                      </a:r>
                      <a:r>
                        <a:rPr dirty="0" sz="1200" spc="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Work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1365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91440" marR="939800">
                        <a:lnSpc>
                          <a:spcPts val="1220"/>
                        </a:lnSpc>
                        <a:spcBef>
                          <a:spcPts val="380"/>
                        </a:spcBef>
                      </a:pPr>
                      <a:r>
                        <a:rPr dirty="0" sz="1100" spc="7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RoseRAG </a:t>
                      </a:r>
                      <a:r>
                        <a:rPr dirty="0" sz="1100" spc="-1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(2025)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48260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22250">
                        <a:lnSpc>
                          <a:spcPts val="1220"/>
                        </a:lnSpc>
                        <a:spcBef>
                          <a:spcPts val="380"/>
                        </a:spcBef>
                      </a:pP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Training-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time</a:t>
                      </a:r>
                      <a:r>
                        <a:rPr dirty="0" sz="1100" spc="5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margin-aware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preference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optimisation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for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retrieval-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augmented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SLMs.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260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337820">
                        <a:lnSpc>
                          <a:spcPts val="1220"/>
                        </a:lnSpc>
                        <a:spcBef>
                          <a:spcPts val="380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Retrieval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noise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has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sharper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effect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on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small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models than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on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large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ones.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260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1440" marR="537210">
                        <a:lnSpc>
                          <a:spcPts val="1220"/>
                        </a:lnSpc>
                        <a:spcBef>
                          <a:spcPts val="380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Needs</a:t>
                      </a:r>
                      <a:r>
                        <a:rPr dirty="0" sz="1100" spc="-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fine-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tuning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high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compute;</a:t>
                      </a:r>
                      <a:r>
                        <a:rPr dirty="0" sz="1100" spc="3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dirty="0" sz="1100" spc="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inference-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time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explainability.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260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560705">
                        <a:lnSpc>
                          <a:spcPts val="1220"/>
                        </a:lnSpc>
                        <a:spcBef>
                          <a:spcPts val="380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Encourages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lightweight inference-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time</a:t>
                      </a:r>
                      <a:r>
                        <a:rPr dirty="0" sz="1100" spc="7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robustness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mechanism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(our</a:t>
                      </a:r>
                      <a:r>
                        <a:rPr dirty="0" sz="1100" spc="-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predictor).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260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91440">
                        <a:lnSpc>
                          <a:spcPts val="1270"/>
                        </a:lnSpc>
                        <a:spcBef>
                          <a:spcPts val="254"/>
                        </a:spcBef>
                      </a:pPr>
                      <a:r>
                        <a:rPr dirty="0" sz="1100" spc="-25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FiD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  <a:p>
                      <a:pPr marL="91440" marR="448945">
                        <a:lnSpc>
                          <a:spcPts val="1220"/>
                        </a:lnSpc>
                        <a:spcBef>
                          <a:spcPts val="75"/>
                        </a:spcBef>
                      </a:pPr>
                      <a:r>
                        <a:rPr dirty="0" sz="110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(Izacard</a:t>
                      </a:r>
                      <a:r>
                        <a:rPr dirty="0" sz="1100" spc="-25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&amp;</a:t>
                      </a:r>
                      <a:r>
                        <a:rPr dirty="0" sz="1100" spc="-25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Grave, 2021)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32384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33985">
                        <a:lnSpc>
                          <a:spcPts val="1220"/>
                        </a:lnSpc>
                        <a:spcBef>
                          <a:spcPts val="375"/>
                        </a:spcBef>
                      </a:pP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Fusion-in-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Decoder: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encode</a:t>
                      </a:r>
                      <a:r>
                        <a:rPr dirty="0" sz="1100" spc="-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passages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separately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fuse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only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at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decode time.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76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356870">
                        <a:lnSpc>
                          <a:spcPts val="1220"/>
                        </a:lnSpc>
                        <a:spcBef>
                          <a:spcPts val="375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Scales</a:t>
                      </a:r>
                      <a:r>
                        <a:rPr dirty="0" sz="1100" spc="4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retrieval-augmented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generation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dirty="0" sz="1100" spc="-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many</a:t>
                      </a:r>
                      <a:r>
                        <a:rPr dirty="0" sz="1100" spc="-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passages.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76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57810">
                        <a:lnSpc>
                          <a:spcPts val="1220"/>
                        </a:lnSpc>
                        <a:spcBef>
                          <a:spcPts val="375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Computation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grows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linearly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with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retrieved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passages;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filtering.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76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19710">
                        <a:lnSpc>
                          <a:spcPts val="1220"/>
                        </a:lnSpc>
                        <a:spcBef>
                          <a:spcPts val="375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Reinforces</a:t>
                      </a:r>
                      <a:r>
                        <a:rPr dirty="0" sz="1100" spc="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that</a:t>
                      </a:r>
                      <a:r>
                        <a:rPr dirty="0" sz="1100" spc="-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pre-decode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filtering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dirty="0" sz="1100" spc="-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documents</a:t>
                      </a:r>
                      <a:r>
                        <a:rPr dirty="0" sz="1100" spc="-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is</a:t>
                      </a:r>
                      <a:r>
                        <a:rPr dirty="0" sz="1100" spc="-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dirty="0" sz="1100" spc="-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right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intervention</a:t>
                      </a:r>
                      <a:r>
                        <a:rPr dirty="0" sz="1100" spc="-5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point.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76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marL="91440" marR="481330">
                        <a:lnSpc>
                          <a:spcPts val="1220"/>
                        </a:lnSpc>
                        <a:spcBef>
                          <a:spcPts val="380"/>
                        </a:spcBef>
                      </a:pPr>
                      <a:r>
                        <a:rPr dirty="0" sz="1100" spc="10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RAG</a:t>
                      </a:r>
                      <a:r>
                        <a:rPr dirty="0" sz="1100" spc="-1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Survey</a:t>
                      </a:r>
                      <a:r>
                        <a:rPr dirty="0" sz="1100" spc="50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(Gao</a:t>
                      </a:r>
                      <a:r>
                        <a:rPr dirty="0" sz="1100" spc="2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55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et</a:t>
                      </a:r>
                      <a:r>
                        <a:rPr dirty="0" sz="1100" spc="2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55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al.,</a:t>
                      </a:r>
                      <a:r>
                        <a:rPr dirty="0" sz="1100" spc="2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4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2023)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48260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13360">
                        <a:lnSpc>
                          <a:spcPts val="1220"/>
                        </a:lnSpc>
                        <a:spcBef>
                          <a:spcPts val="380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Comprehensive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survey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RAG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architectures,</a:t>
                      </a:r>
                      <a:r>
                        <a:rPr dirty="0" sz="1100" spc="-3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training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schemes,</a:t>
                      </a:r>
                      <a:r>
                        <a:rPr dirty="0" sz="1100" spc="-3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and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evaluation.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260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273685">
                        <a:lnSpc>
                          <a:spcPts val="1220"/>
                        </a:lnSpc>
                        <a:spcBef>
                          <a:spcPts val="380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Maps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design</a:t>
                      </a:r>
                      <a:r>
                        <a:rPr dirty="0" sz="1100" spc="-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space: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pre-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retrieval,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retrieval,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post-retrieval steps.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260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40335">
                        <a:lnSpc>
                          <a:spcPts val="1220"/>
                        </a:lnSpc>
                        <a:spcBef>
                          <a:spcPts val="380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Identifies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44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—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but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does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not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solve </a:t>
                      </a:r>
                      <a:r>
                        <a:rPr dirty="0" sz="1100" spc="39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—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dirty="0" sz="1100" spc="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noisy-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context</a:t>
                      </a:r>
                      <a:r>
                        <a:rPr dirty="0" sz="1100" spc="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problem.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260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86690">
                        <a:lnSpc>
                          <a:spcPts val="1220"/>
                        </a:lnSpc>
                        <a:spcBef>
                          <a:spcPts val="380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Our</a:t>
                      </a:r>
                      <a:r>
                        <a:rPr dirty="0" sz="1100" spc="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work</a:t>
                      </a:r>
                      <a:r>
                        <a:rPr dirty="0" sz="1100" spc="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sits</a:t>
                      </a:r>
                      <a:r>
                        <a:rPr dirty="0" sz="1100" spc="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dirty="0" sz="1100" spc="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the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post-retrieval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phase</a:t>
                      </a:r>
                      <a:r>
                        <a:rPr dirty="0" sz="1100" spc="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as</a:t>
                      </a:r>
                      <a:r>
                        <a:rPr dirty="0" sz="1100" spc="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dirty="0" sz="1100" spc="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confidence-based filter.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8260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91440" marR="287020">
                        <a:lnSpc>
                          <a:spcPts val="1220"/>
                        </a:lnSpc>
                        <a:spcBef>
                          <a:spcPts val="375"/>
                        </a:spcBef>
                      </a:pPr>
                      <a:r>
                        <a:rPr dirty="0" sz="110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Multilingual</a:t>
                      </a:r>
                      <a:r>
                        <a:rPr dirty="0" sz="1100" spc="5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9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NER</a:t>
                      </a:r>
                      <a:r>
                        <a:rPr dirty="0" sz="1100" spc="1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5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&amp; </a:t>
                      </a:r>
                      <a:r>
                        <a:rPr dirty="0" sz="1100" spc="-1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Sentiment </a:t>
                      </a:r>
                      <a:r>
                        <a:rPr dirty="0" sz="110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(IndicBERT,</a:t>
                      </a:r>
                      <a:r>
                        <a:rPr dirty="0" sz="1100" spc="30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XLM-</a:t>
                      </a:r>
                      <a:r>
                        <a:rPr dirty="0" sz="1100" spc="-25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R)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476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51460">
                        <a:lnSpc>
                          <a:spcPts val="1220"/>
                        </a:lnSpc>
                        <a:spcBef>
                          <a:spcPts val="375"/>
                        </a:spcBef>
                      </a:pP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Pre-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trained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encoders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covering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Indic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languages</a:t>
                      </a:r>
                      <a:r>
                        <a:rPr dirty="0" sz="1100" spc="-3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with</a:t>
                      </a:r>
                      <a:r>
                        <a:rPr dirty="0" sz="1100" spc="-3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downstream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sentiment</a:t>
                      </a:r>
                      <a:r>
                        <a:rPr dirty="0" sz="1100" spc="-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dirty="0" sz="1100" spc="-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NER</a:t>
                      </a:r>
                      <a:r>
                        <a:rPr dirty="0" sz="1100" spc="-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heads.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76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26695">
                        <a:lnSpc>
                          <a:spcPts val="1220"/>
                        </a:lnSpc>
                        <a:spcBef>
                          <a:spcPts val="375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Enable</a:t>
                      </a:r>
                      <a:r>
                        <a:rPr dirty="0" sz="1100" spc="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language-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aware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enrichment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Indian</a:t>
                      </a:r>
                      <a:r>
                        <a:rPr dirty="0" sz="1100" spc="-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multilingual content.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76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05459">
                        <a:lnSpc>
                          <a:spcPts val="1220"/>
                        </a:lnSpc>
                        <a:spcBef>
                          <a:spcPts val="375"/>
                        </a:spcBef>
                      </a:pP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Single-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task</a:t>
                      </a:r>
                      <a:r>
                        <a:rPr dirty="0" sz="1100" spc="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models;</a:t>
                      </a:r>
                      <a:r>
                        <a:rPr dirty="0" sz="1100" spc="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need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orchestration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for</a:t>
                      </a:r>
                      <a:r>
                        <a:rPr dirty="0" sz="1100" spc="-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end-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to-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end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ingestion.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76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60020">
                        <a:lnSpc>
                          <a:spcPts val="1220"/>
                        </a:lnSpc>
                        <a:spcBef>
                          <a:spcPts val="375"/>
                        </a:spcBef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Backbone</a:t>
                      </a:r>
                      <a:r>
                        <a:rPr dirty="0" sz="1100" spc="-1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for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the Wiser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pipeline's multilingual</a:t>
                      </a:r>
                      <a:r>
                        <a:rPr dirty="0" sz="1100" spc="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enrichment</a:t>
                      </a:r>
                      <a:r>
                        <a:rPr dirty="0" sz="1100" spc="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stage.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762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303507"/>
            <a:ext cx="1828444" cy="15541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6222" y="444144"/>
            <a:ext cx="59670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27020" algn="l"/>
              </a:tabLst>
            </a:pPr>
            <a:r>
              <a:rPr dirty="0" spc="640"/>
              <a:t>PROBLEM</a:t>
            </a:r>
            <a:r>
              <a:rPr dirty="0"/>
              <a:t>	</a:t>
            </a:r>
            <a:r>
              <a:rPr dirty="0" spc="500"/>
              <a:t>STATEMENT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08456" y="1555826"/>
            <a:ext cx="933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51534" y="1586420"/>
            <a:ext cx="537019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Standard</a:t>
            </a:r>
            <a:r>
              <a:rPr dirty="0" sz="15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RAG</a:t>
            </a:r>
            <a:r>
              <a:rPr dirty="0" sz="15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ranks</a:t>
            </a:r>
            <a:r>
              <a:rPr dirty="0" sz="15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documents</a:t>
            </a:r>
            <a:r>
              <a:rPr dirty="0" sz="15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only</a:t>
            </a:r>
            <a:r>
              <a:rPr dirty="0" sz="15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by</a:t>
            </a:r>
            <a:r>
              <a:rPr dirty="0" sz="15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retrieval</a:t>
            </a:r>
            <a:r>
              <a:rPr dirty="0" sz="15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333333"/>
                </a:solidFill>
                <a:latin typeface="Microsoft Sans Serif"/>
                <a:cs typeface="Microsoft Sans Serif"/>
              </a:rPr>
              <a:t>similarity,</a:t>
            </a:r>
            <a:r>
              <a:rPr dirty="0" sz="15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333333"/>
                </a:solidFill>
                <a:latin typeface="Microsoft Sans Serif"/>
                <a:cs typeface="Microsoft Sans Serif"/>
              </a:rPr>
              <a:t>with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no</a:t>
            </a:r>
            <a:r>
              <a:rPr dirty="0" sz="15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signal</a:t>
            </a:r>
            <a:r>
              <a:rPr dirty="0" sz="15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of</a:t>
            </a:r>
            <a:r>
              <a:rPr dirty="0" sz="15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usefulness</a:t>
            </a:r>
            <a:r>
              <a:rPr dirty="0" sz="15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or</a:t>
            </a:r>
            <a:r>
              <a:rPr dirty="0" sz="15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333333"/>
                </a:solidFill>
                <a:latin typeface="Microsoft Sans Serif"/>
                <a:cs typeface="Microsoft Sans Serif"/>
              </a:rPr>
              <a:t>trust.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08456" y="2190864"/>
            <a:ext cx="933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51534" y="2221458"/>
            <a:ext cx="534289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Retrieved</a:t>
            </a:r>
            <a:r>
              <a:rPr dirty="0" sz="15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context</a:t>
            </a:r>
            <a:r>
              <a:rPr dirty="0" sz="15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is</a:t>
            </a:r>
            <a:r>
              <a:rPr dirty="0" sz="15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noisy</a:t>
            </a:r>
            <a:r>
              <a:rPr dirty="0" sz="15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and</a:t>
            </a:r>
            <a:r>
              <a:rPr dirty="0" sz="15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redundant;</a:t>
            </a:r>
            <a:r>
              <a:rPr dirty="0" sz="15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irrelevant</a:t>
            </a:r>
            <a:r>
              <a:rPr dirty="0" sz="15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333333"/>
                </a:solidFill>
                <a:latin typeface="Microsoft Sans Serif"/>
                <a:cs typeface="Microsoft Sans Serif"/>
              </a:rPr>
              <a:t>documents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drag</a:t>
            </a:r>
            <a:r>
              <a:rPr dirty="0" sz="1500" spc="-5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down</a:t>
            </a:r>
            <a:r>
              <a:rPr dirty="0" sz="1500" spc="-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generation</a:t>
            </a:r>
            <a:r>
              <a:rPr dirty="0" sz="1500" spc="-5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333333"/>
                </a:solidFill>
                <a:latin typeface="Microsoft Sans Serif"/>
                <a:cs typeface="Microsoft Sans Serif"/>
              </a:rPr>
              <a:t>quality.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08456" y="2825902"/>
            <a:ext cx="933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51534" y="2856509"/>
            <a:ext cx="55016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Existing</a:t>
            </a:r>
            <a:r>
              <a:rPr dirty="0" sz="15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adaptive</a:t>
            </a:r>
            <a:r>
              <a:rPr dirty="0" sz="15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RAG</a:t>
            </a:r>
            <a:r>
              <a:rPr dirty="0" sz="15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methods</a:t>
            </a:r>
            <a:r>
              <a:rPr dirty="0" sz="15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rely</a:t>
            </a:r>
            <a:r>
              <a:rPr dirty="0" sz="15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on</a:t>
            </a:r>
            <a:r>
              <a:rPr dirty="0" sz="1500" spc="-20">
                <a:solidFill>
                  <a:srgbClr val="333333"/>
                </a:solidFill>
                <a:latin typeface="Microsoft Sans Serif"/>
                <a:cs typeface="Microsoft Sans Serif"/>
              </a:rPr>
              <a:t> hand-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tuned,</a:t>
            </a:r>
            <a:r>
              <a:rPr dirty="0" sz="15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333333"/>
                </a:solidFill>
                <a:latin typeface="Microsoft Sans Serif"/>
                <a:cs typeface="Microsoft Sans Serif"/>
              </a:rPr>
              <a:t>task-specific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15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weights</a:t>
            </a:r>
            <a:r>
              <a:rPr dirty="0" sz="15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that</a:t>
            </a:r>
            <a:r>
              <a:rPr dirty="0" sz="15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do</a:t>
            </a:r>
            <a:r>
              <a:rPr dirty="0" sz="15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not</a:t>
            </a:r>
            <a:r>
              <a:rPr dirty="0" sz="15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333333"/>
                </a:solidFill>
                <a:latin typeface="Microsoft Sans Serif"/>
                <a:cs typeface="Microsoft Sans Serif"/>
              </a:rPr>
              <a:t>generalise.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08456" y="3460940"/>
            <a:ext cx="933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51534" y="3491547"/>
            <a:ext cx="52476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Small</a:t>
            </a:r>
            <a:r>
              <a:rPr dirty="0" sz="15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Language</a:t>
            </a:r>
            <a:r>
              <a:rPr dirty="0" sz="15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Models</a:t>
            </a:r>
            <a:r>
              <a:rPr dirty="0" sz="15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lack</a:t>
            </a:r>
            <a:r>
              <a:rPr dirty="0" sz="15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dirty="0" sz="15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capacity</a:t>
            </a:r>
            <a:r>
              <a:rPr dirty="0" sz="15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to</a:t>
            </a:r>
            <a:r>
              <a:rPr dirty="0" sz="15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filter</a:t>
            </a:r>
            <a:r>
              <a:rPr dirty="0" sz="15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poor</a:t>
            </a:r>
            <a:r>
              <a:rPr dirty="0" sz="15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333333"/>
                </a:solidFill>
                <a:latin typeface="Microsoft Sans Serif"/>
                <a:cs typeface="Microsoft Sans Serif"/>
              </a:rPr>
              <a:t>context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themselves</a:t>
            </a:r>
            <a:r>
              <a:rPr dirty="0" sz="15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620">
                <a:solidFill>
                  <a:srgbClr val="333333"/>
                </a:solidFill>
                <a:latin typeface="Microsoft Sans Serif"/>
                <a:cs typeface="Microsoft Sans Serif"/>
              </a:rPr>
              <a:t>—</a:t>
            </a:r>
            <a:r>
              <a:rPr dirty="0" sz="15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they</a:t>
            </a:r>
            <a:r>
              <a:rPr dirty="0" sz="15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need</a:t>
            </a:r>
            <a:r>
              <a:rPr dirty="0" sz="15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333333"/>
                </a:solidFill>
                <a:latin typeface="Microsoft Sans Serif"/>
                <a:cs typeface="Microsoft Sans Serif"/>
              </a:rPr>
              <a:t>help</a:t>
            </a:r>
            <a:r>
              <a:rPr dirty="0" sz="15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333333"/>
                </a:solidFill>
                <a:latin typeface="Microsoft Sans Serif"/>
                <a:cs typeface="Microsoft Sans Serif"/>
              </a:rPr>
              <a:t>upstream.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7131964" y="1554124"/>
            <a:ext cx="4480560" cy="4572000"/>
          </a:xfrm>
          <a:custGeom>
            <a:avLst/>
            <a:gdLst/>
            <a:ahLst/>
            <a:cxnLst/>
            <a:rect l="l" t="t" r="r" b="b"/>
            <a:pathLst>
              <a:path w="4480559" h="4572000">
                <a:moveTo>
                  <a:pt x="4480191" y="0"/>
                </a:moveTo>
                <a:lnTo>
                  <a:pt x="0" y="0"/>
                </a:lnTo>
                <a:lnTo>
                  <a:pt x="0" y="4571631"/>
                </a:lnTo>
                <a:lnTo>
                  <a:pt x="2240279" y="4571631"/>
                </a:lnTo>
                <a:lnTo>
                  <a:pt x="4480191" y="4571631"/>
                </a:lnTo>
                <a:lnTo>
                  <a:pt x="4480191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7302144" y="1861451"/>
            <a:ext cx="6927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25" b="1">
                <a:solidFill>
                  <a:srgbClr val="5DE9D3"/>
                </a:solidFill>
                <a:latin typeface="Trebuchet MS"/>
                <a:cs typeface="Trebuchet MS"/>
              </a:rPr>
              <a:t>G</a:t>
            </a:r>
            <a:r>
              <a:rPr dirty="0" sz="1200" spc="225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200" spc="75" b="1">
                <a:solidFill>
                  <a:srgbClr val="5DE9D3"/>
                </a:solidFill>
                <a:latin typeface="Trebuchet MS"/>
                <a:cs typeface="Trebuchet MS"/>
              </a:rPr>
              <a:t>O</a:t>
            </a:r>
            <a:r>
              <a:rPr dirty="0" sz="1200" spc="240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200" spc="95" b="1">
                <a:solidFill>
                  <a:srgbClr val="5DE9D3"/>
                </a:solidFill>
                <a:latin typeface="Trebuchet MS"/>
                <a:cs typeface="Trebuchet MS"/>
              </a:rPr>
              <a:t>A</a:t>
            </a:r>
            <a:r>
              <a:rPr dirty="0" sz="1200" spc="229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200" spc="15" b="1">
                <a:solidFill>
                  <a:srgbClr val="5DE9D3"/>
                </a:solidFill>
                <a:latin typeface="Trebuchet MS"/>
                <a:cs typeface="Trebuchet MS"/>
              </a:rPr>
              <a:t>L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7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7392136" y="2272220"/>
            <a:ext cx="3793490" cy="2051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900" spc="85" b="1">
                <a:solidFill>
                  <a:srgbClr val="FFFFFF"/>
                </a:solidFill>
                <a:latin typeface="Trebuchet MS"/>
                <a:cs typeface="Trebuchet MS"/>
              </a:rPr>
              <a:t>Design</a:t>
            </a:r>
            <a:r>
              <a:rPr dirty="0" sz="1900" spc="-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900" spc="-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confidence-aware</a:t>
            </a:r>
            <a:r>
              <a:rPr dirty="0" sz="1900" spc="-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155" b="1">
                <a:solidFill>
                  <a:srgbClr val="FFFFFF"/>
                </a:solidFill>
                <a:latin typeface="Trebuchet MS"/>
                <a:cs typeface="Trebuchet MS"/>
              </a:rPr>
              <a:t>RAG </a:t>
            </a:r>
            <a:r>
              <a:rPr dirty="0" sz="1900" spc="-10" b="1">
                <a:solidFill>
                  <a:srgbClr val="FFFFFF"/>
                </a:solidFill>
                <a:latin typeface="Trebuchet MS"/>
                <a:cs typeface="Trebuchet MS"/>
              </a:rPr>
              <a:t>framework</a:t>
            </a:r>
            <a:r>
              <a:rPr dirty="0" sz="1900" spc="-1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35" b="1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dirty="0" sz="1900" spc="-10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20" b="1">
                <a:solidFill>
                  <a:srgbClr val="FFFFFF"/>
                </a:solidFill>
                <a:latin typeface="Trebuchet MS"/>
                <a:cs typeface="Trebuchet MS"/>
              </a:rPr>
              <a:t>filters</a:t>
            </a:r>
            <a:r>
              <a:rPr dirty="0" sz="1900" spc="-1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Trebuchet MS"/>
                <a:cs typeface="Trebuchet MS"/>
              </a:rPr>
              <a:t>retrieved </a:t>
            </a: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documents</a:t>
            </a:r>
            <a:r>
              <a:rPr dirty="0" sz="1900" spc="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at</a:t>
            </a:r>
            <a:r>
              <a:rPr dirty="0" sz="1900" spc="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20" b="1">
                <a:solidFill>
                  <a:srgbClr val="FFFFFF"/>
                </a:solidFill>
                <a:latin typeface="Trebuchet MS"/>
                <a:cs typeface="Trebuchet MS"/>
              </a:rPr>
              <a:t>inference</a:t>
            </a:r>
            <a:r>
              <a:rPr dirty="0" sz="1900" spc="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20" b="1">
                <a:solidFill>
                  <a:srgbClr val="FFFFFF"/>
                </a:solidFill>
                <a:latin typeface="Trebuchet MS"/>
                <a:cs typeface="Trebuchet MS"/>
              </a:rPr>
              <a:t>time </a:t>
            </a:r>
            <a:r>
              <a:rPr dirty="0" sz="1900" spc="85" b="1">
                <a:solidFill>
                  <a:srgbClr val="FFFFFF"/>
                </a:solidFill>
                <a:latin typeface="Trebuchet MS"/>
                <a:cs typeface="Trebuchet MS"/>
              </a:rPr>
              <a:t>using</a:t>
            </a:r>
            <a:r>
              <a:rPr dirty="0" sz="1900" spc="-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900" spc="-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30" b="1">
                <a:solidFill>
                  <a:srgbClr val="FFFFFF"/>
                </a:solidFill>
                <a:latin typeface="Trebuchet MS"/>
                <a:cs typeface="Trebuchet MS"/>
              </a:rPr>
              <a:t>learned,</a:t>
            </a:r>
            <a:r>
              <a:rPr dirty="0" sz="1900" spc="-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task-</a:t>
            </a:r>
            <a:r>
              <a:rPr dirty="0" sz="1900" spc="50" b="1">
                <a:solidFill>
                  <a:srgbClr val="FFFFFF"/>
                </a:solidFill>
                <a:latin typeface="Trebuchet MS"/>
                <a:cs typeface="Trebuchet MS"/>
              </a:rPr>
              <a:t>agnostic </a:t>
            </a: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relevance</a:t>
            </a:r>
            <a:r>
              <a:rPr dirty="0" sz="19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Trebuchet MS"/>
                <a:cs typeface="Trebuchet MS"/>
              </a:rPr>
              <a:t>predictor</a:t>
            </a:r>
            <a:r>
              <a:rPr dirty="0" sz="19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490" b="1">
                <a:solidFill>
                  <a:srgbClr val="FFFFFF"/>
                </a:solidFill>
                <a:latin typeface="Trebuchet MS"/>
                <a:cs typeface="Trebuchet MS"/>
              </a:rPr>
              <a:t>—</a:t>
            </a:r>
            <a:r>
              <a:rPr dirty="0" sz="19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Trebuchet MS"/>
                <a:cs typeface="Trebuchet MS"/>
              </a:rPr>
              <a:t>improving </a:t>
            </a: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factual</a:t>
            </a:r>
            <a:r>
              <a:rPr dirty="0" sz="1900" spc="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accuracy</a:t>
            </a:r>
            <a:r>
              <a:rPr dirty="0" sz="1900" spc="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20" b="1">
                <a:solidFill>
                  <a:srgbClr val="FFFFFF"/>
                </a:solidFill>
                <a:latin typeface="Trebuchet MS"/>
                <a:cs typeface="Trebuchet MS"/>
              </a:rPr>
              <a:t>without</a:t>
            </a:r>
            <a:r>
              <a:rPr dirty="0" sz="19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55" b="1">
                <a:solidFill>
                  <a:srgbClr val="FFFFFF"/>
                </a:solidFill>
                <a:latin typeface="Trebuchet MS"/>
                <a:cs typeface="Trebuchet MS"/>
              </a:rPr>
              <a:t>slowing </a:t>
            </a:r>
            <a:r>
              <a:rPr dirty="0" sz="1900" spc="-25" b="1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900" spc="-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60" b="1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r>
              <a:rPr dirty="0" sz="1900" spc="-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20" b="1">
                <a:solidFill>
                  <a:srgbClr val="FFFFFF"/>
                </a:solidFill>
                <a:latin typeface="Trebuchet MS"/>
                <a:cs typeface="Trebuchet MS"/>
              </a:rPr>
              <a:t>down.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392136" y="4591636"/>
            <a:ext cx="84455" cy="84963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300" spc="-50">
                <a:solidFill>
                  <a:srgbClr val="E4E6EA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300" spc="-50">
                <a:solidFill>
                  <a:srgbClr val="E4E6EA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300" spc="-50">
                <a:solidFill>
                  <a:srgbClr val="E4E6EA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735214" y="4618992"/>
            <a:ext cx="1864995" cy="849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600"/>
              </a:lnSpc>
              <a:spcBef>
                <a:spcPts val="100"/>
              </a:spcBef>
            </a:pP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Learned,</a:t>
            </a:r>
            <a:r>
              <a:rPr dirty="0" sz="1300" spc="-3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not</a:t>
            </a:r>
            <a:r>
              <a:rPr dirty="0" sz="1300" spc="-2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E4E6EA"/>
                </a:solidFill>
                <a:latin typeface="Microsoft Sans Serif"/>
                <a:cs typeface="Microsoft Sans Serif"/>
              </a:rPr>
              <a:t>hand-tuned Inference-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time</a:t>
            </a:r>
            <a:r>
              <a:rPr dirty="0" sz="1300" spc="7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filtering Generalises</a:t>
            </a:r>
            <a:r>
              <a:rPr dirty="0" sz="1300" spc="-2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across</a:t>
            </a:r>
            <a:r>
              <a:rPr dirty="0" sz="1300" spc="-2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tasks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1164" y="5303164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79">
                <a:moveTo>
                  <a:pt x="320040" y="0"/>
                </a:moveTo>
                <a:lnTo>
                  <a:pt x="278201" y="2744"/>
                </a:lnTo>
                <a:lnTo>
                  <a:pt x="237239" y="10888"/>
                </a:lnTo>
                <a:lnTo>
                  <a:pt x="197624" y="24297"/>
                </a:lnTo>
                <a:lnTo>
                  <a:pt x="159829" y="42837"/>
                </a:lnTo>
                <a:lnTo>
                  <a:pt x="124999" y="66136"/>
                </a:lnTo>
                <a:lnTo>
                  <a:pt x="93641" y="93687"/>
                </a:lnTo>
                <a:lnTo>
                  <a:pt x="66130" y="125154"/>
                </a:lnTo>
                <a:lnTo>
                  <a:pt x="42837" y="160197"/>
                </a:lnTo>
                <a:lnTo>
                  <a:pt x="24297" y="197780"/>
                </a:lnTo>
                <a:lnTo>
                  <a:pt x="10888" y="237285"/>
                </a:lnTo>
                <a:lnTo>
                  <a:pt x="2744" y="278207"/>
                </a:lnTo>
                <a:lnTo>
                  <a:pt x="0" y="320040"/>
                </a:lnTo>
                <a:lnTo>
                  <a:pt x="2744" y="361878"/>
                </a:lnTo>
                <a:lnTo>
                  <a:pt x="10888" y="402839"/>
                </a:lnTo>
                <a:lnTo>
                  <a:pt x="24297" y="442449"/>
                </a:lnTo>
                <a:lnTo>
                  <a:pt x="42837" y="480237"/>
                </a:lnTo>
                <a:lnTo>
                  <a:pt x="66136" y="515073"/>
                </a:lnTo>
                <a:lnTo>
                  <a:pt x="93687" y="546430"/>
                </a:lnTo>
                <a:lnTo>
                  <a:pt x="125154" y="573938"/>
                </a:lnTo>
                <a:lnTo>
                  <a:pt x="160197" y="597230"/>
                </a:lnTo>
                <a:lnTo>
                  <a:pt x="197780" y="615771"/>
                </a:lnTo>
                <a:lnTo>
                  <a:pt x="237285" y="629184"/>
                </a:lnTo>
                <a:lnTo>
                  <a:pt x="278207" y="637333"/>
                </a:lnTo>
                <a:lnTo>
                  <a:pt x="320040" y="640079"/>
                </a:lnTo>
                <a:lnTo>
                  <a:pt x="361878" y="637333"/>
                </a:lnTo>
                <a:lnTo>
                  <a:pt x="402839" y="629184"/>
                </a:lnTo>
                <a:lnTo>
                  <a:pt x="442449" y="615771"/>
                </a:lnTo>
                <a:lnTo>
                  <a:pt x="480237" y="597230"/>
                </a:lnTo>
                <a:lnTo>
                  <a:pt x="515073" y="573938"/>
                </a:lnTo>
                <a:lnTo>
                  <a:pt x="546430" y="546430"/>
                </a:lnTo>
                <a:lnTo>
                  <a:pt x="573938" y="515073"/>
                </a:lnTo>
                <a:lnTo>
                  <a:pt x="597230" y="480237"/>
                </a:lnTo>
                <a:lnTo>
                  <a:pt x="615771" y="442449"/>
                </a:lnTo>
                <a:lnTo>
                  <a:pt x="629184" y="402839"/>
                </a:lnTo>
                <a:lnTo>
                  <a:pt x="637333" y="361878"/>
                </a:lnTo>
                <a:lnTo>
                  <a:pt x="640079" y="320040"/>
                </a:lnTo>
                <a:lnTo>
                  <a:pt x="637333" y="278207"/>
                </a:lnTo>
                <a:lnTo>
                  <a:pt x="629184" y="237285"/>
                </a:lnTo>
                <a:lnTo>
                  <a:pt x="615771" y="197780"/>
                </a:lnTo>
                <a:lnTo>
                  <a:pt x="597230" y="160197"/>
                </a:lnTo>
                <a:lnTo>
                  <a:pt x="573933" y="125154"/>
                </a:lnTo>
                <a:lnTo>
                  <a:pt x="546384" y="93687"/>
                </a:lnTo>
                <a:lnTo>
                  <a:pt x="514918" y="66136"/>
                </a:lnTo>
                <a:lnTo>
                  <a:pt x="479869" y="42837"/>
                </a:lnTo>
                <a:lnTo>
                  <a:pt x="442294" y="24297"/>
                </a:lnTo>
                <a:lnTo>
                  <a:pt x="402793" y="10888"/>
                </a:lnTo>
                <a:lnTo>
                  <a:pt x="361872" y="2744"/>
                </a:lnTo>
                <a:lnTo>
                  <a:pt x="320040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474720">
              <a:lnSpc>
                <a:spcPct val="100000"/>
              </a:lnSpc>
              <a:spcBef>
                <a:spcPts val="100"/>
              </a:spcBef>
            </a:pPr>
            <a:r>
              <a:rPr dirty="0" spc="595"/>
              <a:t>OBJECTIVES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731164" y="1416964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320040" y="0"/>
                </a:moveTo>
                <a:lnTo>
                  <a:pt x="278201" y="2744"/>
                </a:lnTo>
                <a:lnTo>
                  <a:pt x="237239" y="10888"/>
                </a:lnTo>
                <a:lnTo>
                  <a:pt x="197624" y="24297"/>
                </a:lnTo>
                <a:lnTo>
                  <a:pt x="159829" y="42837"/>
                </a:lnTo>
                <a:lnTo>
                  <a:pt x="124999" y="66136"/>
                </a:lnTo>
                <a:lnTo>
                  <a:pt x="93641" y="93687"/>
                </a:lnTo>
                <a:lnTo>
                  <a:pt x="66130" y="125154"/>
                </a:lnTo>
                <a:lnTo>
                  <a:pt x="42837" y="160197"/>
                </a:lnTo>
                <a:lnTo>
                  <a:pt x="24297" y="197780"/>
                </a:lnTo>
                <a:lnTo>
                  <a:pt x="10888" y="237285"/>
                </a:lnTo>
                <a:lnTo>
                  <a:pt x="2744" y="278207"/>
                </a:lnTo>
                <a:lnTo>
                  <a:pt x="0" y="320039"/>
                </a:lnTo>
                <a:lnTo>
                  <a:pt x="2744" y="361878"/>
                </a:lnTo>
                <a:lnTo>
                  <a:pt x="10888" y="402839"/>
                </a:lnTo>
                <a:lnTo>
                  <a:pt x="24297" y="442449"/>
                </a:lnTo>
                <a:lnTo>
                  <a:pt x="42837" y="480237"/>
                </a:lnTo>
                <a:lnTo>
                  <a:pt x="66136" y="515073"/>
                </a:lnTo>
                <a:lnTo>
                  <a:pt x="93687" y="546430"/>
                </a:lnTo>
                <a:lnTo>
                  <a:pt x="125154" y="573938"/>
                </a:lnTo>
                <a:lnTo>
                  <a:pt x="160197" y="597230"/>
                </a:lnTo>
                <a:lnTo>
                  <a:pt x="197780" y="615771"/>
                </a:lnTo>
                <a:lnTo>
                  <a:pt x="237285" y="629184"/>
                </a:lnTo>
                <a:lnTo>
                  <a:pt x="278207" y="637333"/>
                </a:lnTo>
                <a:lnTo>
                  <a:pt x="320040" y="640079"/>
                </a:lnTo>
                <a:lnTo>
                  <a:pt x="361878" y="637333"/>
                </a:lnTo>
                <a:lnTo>
                  <a:pt x="402839" y="629184"/>
                </a:lnTo>
                <a:lnTo>
                  <a:pt x="442449" y="615771"/>
                </a:lnTo>
                <a:lnTo>
                  <a:pt x="480237" y="597230"/>
                </a:lnTo>
                <a:lnTo>
                  <a:pt x="515073" y="573938"/>
                </a:lnTo>
                <a:lnTo>
                  <a:pt x="546430" y="546430"/>
                </a:lnTo>
                <a:lnTo>
                  <a:pt x="573938" y="515073"/>
                </a:lnTo>
                <a:lnTo>
                  <a:pt x="597230" y="480237"/>
                </a:lnTo>
                <a:lnTo>
                  <a:pt x="615771" y="442449"/>
                </a:lnTo>
                <a:lnTo>
                  <a:pt x="629184" y="402839"/>
                </a:lnTo>
                <a:lnTo>
                  <a:pt x="637333" y="361878"/>
                </a:lnTo>
                <a:lnTo>
                  <a:pt x="640079" y="320039"/>
                </a:lnTo>
                <a:lnTo>
                  <a:pt x="637333" y="278207"/>
                </a:lnTo>
                <a:lnTo>
                  <a:pt x="629184" y="237285"/>
                </a:lnTo>
                <a:lnTo>
                  <a:pt x="615771" y="197780"/>
                </a:lnTo>
                <a:lnTo>
                  <a:pt x="597230" y="160197"/>
                </a:lnTo>
                <a:lnTo>
                  <a:pt x="573933" y="125154"/>
                </a:lnTo>
                <a:lnTo>
                  <a:pt x="546384" y="93687"/>
                </a:lnTo>
                <a:lnTo>
                  <a:pt x="514918" y="66136"/>
                </a:lnTo>
                <a:lnTo>
                  <a:pt x="479869" y="42837"/>
                </a:lnTo>
                <a:lnTo>
                  <a:pt x="442294" y="24297"/>
                </a:lnTo>
                <a:lnTo>
                  <a:pt x="402793" y="10888"/>
                </a:lnTo>
                <a:lnTo>
                  <a:pt x="361872" y="2744"/>
                </a:lnTo>
                <a:lnTo>
                  <a:pt x="320040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61097" y="1556537"/>
            <a:ext cx="1809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541424" y="1609826"/>
            <a:ext cx="64217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Design</a:t>
            </a:r>
            <a:r>
              <a:rPr dirty="0" sz="1500" spc="-4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a</a:t>
            </a:r>
            <a:r>
              <a:rPr dirty="0" sz="1500" spc="-3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191919"/>
                </a:solidFill>
                <a:latin typeface="Microsoft Sans Serif"/>
                <a:cs typeface="Microsoft Sans Serif"/>
              </a:rPr>
              <a:t>confidence-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aware</a:t>
            </a:r>
            <a:r>
              <a:rPr dirty="0" sz="1500" spc="-4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RAG</a:t>
            </a:r>
            <a:r>
              <a:rPr dirty="0" sz="1500" spc="-3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framework</a:t>
            </a:r>
            <a:r>
              <a:rPr dirty="0" sz="1500" spc="-3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with</a:t>
            </a:r>
            <a:r>
              <a:rPr dirty="0" sz="1500" spc="-3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learned</a:t>
            </a:r>
            <a:r>
              <a:rPr dirty="0" sz="1500" spc="-3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document</a:t>
            </a:r>
            <a:r>
              <a:rPr dirty="0" sz="1500" spc="-4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191919"/>
                </a:solidFill>
                <a:latin typeface="Microsoft Sans Serif"/>
                <a:cs typeface="Microsoft Sans Serif"/>
              </a:rPr>
              <a:t>filtering.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31164" y="2194204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320040" y="0"/>
                </a:moveTo>
                <a:lnTo>
                  <a:pt x="278201" y="2744"/>
                </a:lnTo>
                <a:lnTo>
                  <a:pt x="237239" y="10888"/>
                </a:lnTo>
                <a:lnTo>
                  <a:pt x="197624" y="24297"/>
                </a:lnTo>
                <a:lnTo>
                  <a:pt x="159829" y="42837"/>
                </a:lnTo>
                <a:lnTo>
                  <a:pt x="124999" y="66136"/>
                </a:lnTo>
                <a:lnTo>
                  <a:pt x="93641" y="93687"/>
                </a:lnTo>
                <a:lnTo>
                  <a:pt x="66130" y="125154"/>
                </a:lnTo>
                <a:lnTo>
                  <a:pt x="42837" y="160197"/>
                </a:lnTo>
                <a:lnTo>
                  <a:pt x="24297" y="197780"/>
                </a:lnTo>
                <a:lnTo>
                  <a:pt x="10888" y="237285"/>
                </a:lnTo>
                <a:lnTo>
                  <a:pt x="2744" y="278207"/>
                </a:lnTo>
                <a:lnTo>
                  <a:pt x="0" y="320039"/>
                </a:lnTo>
                <a:lnTo>
                  <a:pt x="2744" y="361878"/>
                </a:lnTo>
                <a:lnTo>
                  <a:pt x="10888" y="402839"/>
                </a:lnTo>
                <a:lnTo>
                  <a:pt x="24297" y="442449"/>
                </a:lnTo>
                <a:lnTo>
                  <a:pt x="42837" y="480237"/>
                </a:lnTo>
                <a:lnTo>
                  <a:pt x="66136" y="515073"/>
                </a:lnTo>
                <a:lnTo>
                  <a:pt x="93687" y="546430"/>
                </a:lnTo>
                <a:lnTo>
                  <a:pt x="125154" y="573938"/>
                </a:lnTo>
                <a:lnTo>
                  <a:pt x="160197" y="597230"/>
                </a:lnTo>
                <a:lnTo>
                  <a:pt x="197780" y="615771"/>
                </a:lnTo>
                <a:lnTo>
                  <a:pt x="237285" y="629184"/>
                </a:lnTo>
                <a:lnTo>
                  <a:pt x="278207" y="637333"/>
                </a:lnTo>
                <a:lnTo>
                  <a:pt x="320040" y="640080"/>
                </a:lnTo>
                <a:lnTo>
                  <a:pt x="361878" y="637333"/>
                </a:lnTo>
                <a:lnTo>
                  <a:pt x="402839" y="629184"/>
                </a:lnTo>
                <a:lnTo>
                  <a:pt x="442449" y="615771"/>
                </a:lnTo>
                <a:lnTo>
                  <a:pt x="480237" y="597230"/>
                </a:lnTo>
                <a:lnTo>
                  <a:pt x="515073" y="573938"/>
                </a:lnTo>
                <a:lnTo>
                  <a:pt x="546430" y="546430"/>
                </a:lnTo>
                <a:lnTo>
                  <a:pt x="573938" y="515073"/>
                </a:lnTo>
                <a:lnTo>
                  <a:pt x="597230" y="480237"/>
                </a:lnTo>
                <a:lnTo>
                  <a:pt x="615771" y="442449"/>
                </a:lnTo>
                <a:lnTo>
                  <a:pt x="629184" y="402839"/>
                </a:lnTo>
                <a:lnTo>
                  <a:pt x="637333" y="361878"/>
                </a:lnTo>
                <a:lnTo>
                  <a:pt x="640079" y="320039"/>
                </a:lnTo>
                <a:lnTo>
                  <a:pt x="637333" y="278207"/>
                </a:lnTo>
                <a:lnTo>
                  <a:pt x="629184" y="237285"/>
                </a:lnTo>
                <a:lnTo>
                  <a:pt x="615771" y="197780"/>
                </a:lnTo>
                <a:lnTo>
                  <a:pt x="597230" y="160197"/>
                </a:lnTo>
                <a:lnTo>
                  <a:pt x="573933" y="125154"/>
                </a:lnTo>
                <a:lnTo>
                  <a:pt x="546384" y="93687"/>
                </a:lnTo>
                <a:lnTo>
                  <a:pt x="514918" y="66136"/>
                </a:lnTo>
                <a:lnTo>
                  <a:pt x="479869" y="42837"/>
                </a:lnTo>
                <a:lnTo>
                  <a:pt x="442294" y="24297"/>
                </a:lnTo>
                <a:lnTo>
                  <a:pt x="402793" y="10888"/>
                </a:lnTo>
                <a:lnTo>
                  <a:pt x="361872" y="2744"/>
                </a:lnTo>
                <a:lnTo>
                  <a:pt x="320040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961097" y="2333777"/>
            <a:ext cx="1809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41424" y="2387066"/>
            <a:ext cx="65043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Build</a:t>
            </a:r>
            <a:r>
              <a:rPr dirty="0" sz="1500" spc="-2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a</a:t>
            </a:r>
            <a:r>
              <a:rPr dirty="0" sz="1500" spc="-2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191919"/>
                </a:solidFill>
                <a:latin typeface="Microsoft Sans Serif"/>
                <a:cs typeface="Microsoft Sans Serif"/>
              </a:rPr>
              <a:t>multilingual</a:t>
            </a:r>
            <a:r>
              <a:rPr dirty="0" sz="1500" spc="-2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news</a:t>
            </a:r>
            <a:r>
              <a:rPr dirty="0" sz="1500" spc="-2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ingestion</a:t>
            </a:r>
            <a:r>
              <a:rPr dirty="0" sz="1500" spc="-2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pipeline</a:t>
            </a:r>
            <a:r>
              <a:rPr dirty="0" sz="1500" spc="-1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as</a:t>
            </a:r>
            <a:r>
              <a:rPr dirty="0" sz="1500" spc="-1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the</a:t>
            </a:r>
            <a:r>
              <a:rPr dirty="0" sz="1500" spc="-2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191919"/>
                </a:solidFill>
                <a:latin typeface="Microsoft Sans Serif"/>
                <a:cs typeface="Microsoft Sans Serif"/>
              </a:rPr>
              <a:t>real-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world</a:t>
            </a:r>
            <a:r>
              <a:rPr dirty="0" sz="1500" spc="-2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data</a:t>
            </a:r>
            <a:r>
              <a:rPr dirty="0" sz="1500" spc="-2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191919"/>
                </a:solidFill>
                <a:latin typeface="Microsoft Sans Serif"/>
                <a:cs typeface="Microsoft Sans Serif"/>
              </a:rPr>
              <a:t>foundation.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731164" y="2971444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79">
                <a:moveTo>
                  <a:pt x="320040" y="0"/>
                </a:moveTo>
                <a:lnTo>
                  <a:pt x="278201" y="2744"/>
                </a:lnTo>
                <a:lnTo>
                  <a:pt x="237239" y="10888"/>
                </a:lnTo>
                <a:lnTo>
                  <a:pt x="197624" y="24297"/>
                </a:lnTo>
                <a:lnTo>
                  <a:pt x="159829" y="42837"/>
                </a:lnTo>
                <a:lnTo>
                  <a:pt x="124999" y="66136"/>
                </a:lnTo>
                <a:lnTo>
                  <a:pt x="93641" y="93687"/>
                </a:lnTo>
                <a:lnTo>
                  <a:pt x="66130" y="125154"/>
                </a:lnTo>
                <a:lnTo>
                  <a:pt x="42837" y="160197"/>
                </a:lnTo>
                <a:lnTo>
                  <a:pt x="24297" y="197780"/>
                </a:lnTo>
                <a:lnTo>
                  <a:pt x="10888" y="237285"/>
                </a:lnTo>
                <a:lnTo>
                  <a:pt x="2744" y="278207"/>
                </a:lnTo>
                <a:lnTo>
                  <a:pt x="0" y="320040"/>
                </a:lnTo>
                <a:lnTo>
                  <a:pt x="2744" y="361878"/>
                </a:lnTo>
                <a:lnTo>
                  <a:pt x="10888" y="402839"/>
                </a:lnTo>
                <a:lnTo>
                  <a:pt x="24297" y="442449"/>
                </a:lnTo>
                <a:lnTo>
                  <a:pt x="42837" y="480237"/>
                </a:lnTo>
                <a:lnTo>
                  <a:pt x="66136" y="515073"/>
                </a:lnTo>
                <a:lnTo>
                  <a:pt x="93687" y="546430"/>
                </a:lnTo>
                <a:lnTo>
                  <a:pt x="125154" y="573938"/>
                </a:lnTo>
                <a:lnTo>
                  <a:pt x="160197" y="597230"/>
                </a:lnTo>
                <a:lnTo>
                  <a:pt x="197780" y="615771"/>
                </a:lnTo>
                <a:lnTo>
                  <a:pt x="237285" y="629184"/>
                </a:lnTo>
                <a:lnTo>
                  <a:pt x="278207" y="637333"/>
                </a:lnTo>
                <a:lnTo>
                  <a:pt x="320040" y="640080"/>
                </a:lnTo>
                <a:lnTo>
                  <a:pt x="361878" y="637333"/>
                </a:lnTo>
                <a:lnTo>
                  <a:pt x="402839" y="629184"/>
                </a:lnTo>
                <a:lnTo>
                  <a:pt x="442449" y="615771"/>
                </a:lnTo>
                <a:lnTo>
                  <a:pt x="480237" y="597230"/>
                </a:lnTo>
                <a:lnTo>
                  <a:pt x="515073" y="573938"/>
                </a:lnTo>
                <a:lnTo>
                  <a:pt x="546430" y="546430"/>
                </a:lnTo>
                <a:lnTo>
                  <a:pt x="573938" y="515073"/>
                </a:lnTo>
                <a:lnTo>
                  <a:pt x="597230" y="480237"/>
                </a:lnTo>
                <a:lnTo>
                  <a:pt x="615771" y="442449"/>
                </a:lnTo>
                <a:lnTo>
                  <a:pt x="629184" y="402839"/>
                </a:lnTo>
                <a:lnTo>
                  <a:pt x="637333" y="361878"/>
                </a:lnTo>
                <a:lnTo>
                  <a:pt x="640079" y="320040"/>
                </a:lnTo>
                <a:lnTo>
                  <a:pt x="637333" y="278207"/>
                </a:lnTo>
                <a:lnTo>
                  <a:pt x="629184" y="237285"/>
                </a:lnTo>
                <a:lnTo>
                  <a:pt x="615771" y="197780"/>
                </a:lnTo>
                <a:lnTo>
                  <a:pt x="597230" y="160197"/>
                </a:lnTo>
                <a:lnTo>
                  <a:pt x="573933" y="125154"/>
                </a:lnTo>
                <a:lnTo>
                  <a:pt x="546384" y="93687"/>
                </a:lnTo>
                <a:lnTo>
                  <a:pt x="514918" y="66136"/>
                </a:lnTo>
                <a:lnTo>
                  <a:pt x="479869" y="42837"/>
                </a:lnTo>
                <a:lnTo>
                  <a:pt x="442294" y="24297"/>
                </a:lnTo>
                <a:lnTo>
                  <a:pt x="402793" y="10888"/>
                </a:lnTo>
                <a:lnTo>
                  <a:pt x="361872" y="2744"/>
                </a:lnTo>
                <a:lnTo>
                  <a:pt x="320040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961097" y="3111017"/>
            <a:ext cx="1809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41424" y="3164306"/>
            <a:ext cx="66846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Benchmark</a:t>
            </a:r>
            <a:r>
              <a:rPr dirty="0" sz="1500" spc="-4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four</a:t>
            </a:r>
            <a:r>
              <a:rPr dirty="0" sz="1500" spc="-3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RAG</a:t>
            </a:r>
            <a:r>
              <a:rPr dirty="0" sz="1500" spc="-3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variants</a:t>
            </a:r>
            <a:r>
              <a:rPr dirty="0" sz="1500" spc="-3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across</a:t>
            </a:r>
            <a:r>
              <a:rPr dirty="0" sz="1500" spc="-4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QA,</a:t>
            </a:r>
            <a:r>
              <a:rPr dirty="0" sz="1500" spc="-3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sentiment,</a:t>
            </a:r>
            <a:r>
              <a:rPr dirty="0" sz="1500" spc="-3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and</a:t>
            </a:r>
            <a:r>
              <a:rPr dirty="0" sz="1500" spc="-4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summarisation</a:t>
            </a:r>
            <a:r>
              <a:rPr dirty="0" sz="1500" spc="-3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191919"/>
                </a:solidFill>
                <a:latin typeface="Microsoft Sans Serif"/>
                <a:cs typeface="Microsoft Sans Serif"/>
              </a:rPr>
              <a:t>tasks.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731164" y="3748684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79">
                <a:moveTo>
                  <a:pt x="320040" y="0"/>
                </a:moveTo>
                <a:lnTo>
                  <a:pt x="278201" y="2744"/>
                </a:lnTo>
                <a:lnTo>
                  <a:pt x="237239" y="10888"/>
                </a:lnTo>
                <a:lnTo>
                  <a:pt x="197624" y="24297"/>
                </a:lnTo>
                <a:lnTo>
                  <a:pt x="159829" y="42837"/>
                </a:lnTo>
                <a:lnTo>
                  <a:pt x="124999" y="66136"/>
                </a:lnTo>
                <a:lnTo>
                  <a:pt x="93641" y="93687"/>
                </a:lnTo>
                <a:lnTo>
                  <a:pt x="66130" y="125154"/>
                </a:lnTo>
                <a:lnTo>
                  <a:pt x="42837" y="160197"/>
                </a:lnTo>
                <a:lnTo>
                  <a:pt x="24297" y="197780"/>
                </a:lnTo>
                <a:lnTo>
                  <a:pt x="10888" y="237285"/>
                </a:lnTo>
                <a:lnTo>
                  <a:pt x="2744" y="278207"/>
                </a:lnTo>
                <a:lnTo>
                  <a:pt x="0" y="320039"/>
                </a:lnTo>
                <a:lnTo>
                  <a:pt x="2744" y="361878"/>
                </a:lnTo>
                <a:lnTo>
                  <a:pt x="10888" y="402839"/>
                </a:lnTo>
                <a:lnTo>
                  <a:pt x="24297" y="442449"/>
                </a:lnTo>
                <a:lnTo>
                  <a:pt x="42837" y="480237"/>
                </a:lnTo>
                <a:lnTo>
                  <a:pt x="66136" y="515073"/>
                </a:lnTo>
                <a:lnTo>
                  <a:pt x="93687" y="546430"/>
                </a:lnTo>
                <a:lnTo>
                  <a:pt x="125154" y="573938"/>
                </a:lnTo>
                <a:lnTo>
                  <a:pt x="160197" y="597230"/>
                </a:lnTo>
                <a:lnTo>
                  <a:pt x="197780" y="615771"/>
                </a:lnTo>
                <a:lnTo>
                  <a:pt x="237285" y="629184"/>
                </a:lnTo>
                <a:lnTo>
                  <a:pt x="278207" y="637333"/>
                </a:lnTo>
                <a:lnTo>
                  <a:pt x="320040" y="640079"/>
                </a:lnTo>
                <a:lnTo>
                  <a:pt x="361878" y="637333"/>
                </a:lnTo>
                <a:lnTo>
                  <a:pt x="402839" y="629184"/>
                </a:lnTo>
                <a:lnTo>
                  <a:pt x="442449" y="615771"/>
                </a:lnTo>
                <a:lnTo>
                  <a:pt x="480237" y="597230"/>
                </a:lnTo>
                <a:lnTo>
                  <a:pt x="515073" y="573938"/>
                </a:lnTo>
                <a:lnTo>
                  <a:pt x="546430" y="546430"/>
                </a:lnTo>
                <a:lnTo>
                  <a:pt x="573938" y="515073"/>
                </a:lnTo>
                <a:lnTo>
                  <a:pt x="597230" y="480237"/>
                </a:lnTo>
                <a:lnTo>
                  <a:pt x="615771" y="442449"/>
                </a:lnTo>
                <a:lnTo>
                  <a:pt x="629184" y="402839"/>
                </a:lnTo>
                <a:lnTo>
                  <a:pt x="637333" y="361878"/>
                </a:lnTo>
                <a:lnTo>
                  <a:pt x="640079" y="320039"/>
                </a:lnTo>
                <a:lnTo>
                  <a:pt x="637333" y="278207"/>
                </a:lnTo>
                <a:lnTo>
                  <a:pt x="629184" y="237285"/>
                </a:lnTo>
                <a:lnTo>
                  <a:pt x="615771" y="197780"/>
                </a:lnTo>
                <a:lnTo>
                  <a:pt x="597230" y="160197"/>
                </a:lnTo>
                <a:lnTo>
                  <a:pt x="573933" y="125154"/>
                </a:lnTo>
                <a:lnTo>
                  <a:pt x="546384" y="93687"/>
                </a:lnTo>
                <a:lnTo>
                  <a:pt x="514918" y="66136"/>
                </a:lnTo>
                <a:lnTo>
                  <a:pt x="479869" y="42837"/>
                </a:lnTo>
                <a:lnTo>
                  <a:pt x="442294" y="24297"/>
                </a:lnTo>
                <a:lnTo>
                  <a:pt x="402793" y="10888"/>
                </a:lnTo>
                <a:lnTo>
                  <a:pt x="361872" y="2744"/>
                </a:lnTo>
                <a:lnTo>
                  <a:pt x="320040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961097" y="3888257"/>
            <a:ext cx="1809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541424" y="3941546"/>
            <a:ext cx="698373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Train</a:t>
            </a:r>
            <a:r>
              <a:rPr dirty="0" sz="1500" spc="-6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a</a:t>
            </a:r>
            <a:r>
              <a:rPr dirty="0" sz="1500" spc="-5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lightweight</a:t>
            </a:r>
            <a:r>
              <a:rPr dirty="0" sz="1500" spc="-6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neural</a:t>
            </a:r>
            <a:r>
              <a:rPr dirty="0" sz="1500" spc="-6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1500" spc="-5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predictor</a:t>
            </a:r>
            <a:r>
              <a:rPr dirty="0" sz="1500" spc="-5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on</a:t>
            </a:r>
            <a:r>
              <a:rPr dirty="0" sz="1500" spc="-6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automatically</a:t>
            </a:r>
            <a:r>
              <a:rPr dirty="0" sz="1500" spc="-5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constructed</a:t>
            </a:r>
            <a:r>
              <a:rPr dirty="0" sz="1500" spc="-6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191919"/>
                </a:solidFill>
                <a:latin typeface="Microsoft Sans Serif"/>
                <a:cs typeface="Microsoft Sans Serif"/>
              </a:rPr>
              <a:t>triples.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31164" y="4525924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79">
                <a:moveTo>
                  <a:pt x="320040" y="0"/>
                </a:moveTo>
                <a:lnTo>
                  <a:pt x="278201" y="2744"/>
                </a:lnTo>
                <a:lnTo>
                  <a:pt x="237239" y="10888"/>
                </a:lnTo>
                <a:lnTo>
                  <a:pt x="197624" y="24297"/>
                </a:lnTo>
                <a:lnTo>
                  <a:pt x="159829" y="42837"/>
                </a:lnTo>
                <a:lnTo>
                  <a:pt x="124999" y="66136"/>
                </a:lnTo>
                <a:lnTo>
                  <a:pt x="93641" y="93687"/>
                </a:lnTo>
                <a:lnTo>
                  <a:pt x="66130" y="125154"/>
                </a:lnTo>
                <a:lnTo>
                  <a:pt x="42837" y="160197"/>
                </a:lnTo>
                <a:lnTo>
                  <a:pt x="24297" y="197780"/>
                </a:lnTo>
                <a:lnTo>
                  <a:pt x="10888" y="237285"/>
                </a:lnTo>
                <a:lnTo>
                  <a:pt x="2744" y="278207"/>
                </a:lnTo>
                <a:lnTo>
                  <a:pt x="0" y="320039"/>
                </a:lnTo>
                <a:lnTo>
                  <a:pt x="2744" y="361878"/>
                </a:lnTo>
                <a:lnTo>
                  <a:pt x="10888" y="402839"/>
                </a:lnTo>
                <a:lnTo>
                  <a:pt x="24297" y="442449"/>
                </a:lnTo>
                <a:lnTo>
                  <a:pt x="42837" y="480237"/>
                </a:lnTo>
                <a:lnTo>
                  <a:pt x="66136" y="515073"/>
                </a:lnTo>
                <a:lnTo>
                  <a:pt x="93687" y="546430"/>
                </a:lnTo>
                <a:lnTo>
                  <a:pt x="125154" y="573938"/>
                </a:lnTo>
                <a:lnTo>
                  <a:pt x="160197" y="597230"/>
                </a:lnTo>
                <a:lnTo>
                  <a:pt x="197780" y="615771"/>
                </a:lnTo>
                <a:lnTo>
                  <a:pt x="237285" y="629184"/>
                </a:lnTo>
                <a:lnTo>
                  <a:pt x="278207" y="637333"/>
                </a:lnTo>
                <a:lnTo>
                  <a:pt x="320040" y="640079"/>
                </a:lnTo>
                <a:lnTo>
                  <a:pt x="361878" y="637333"/>
                </a:lnTo>
                <a:lnTo>
                  <a:pt x="402839" y="629184"/>
                </a:lnTo>
                <a:lnTo>
                  <a:pt x="442449" y="615771"/>
                </a:lnTo>
                <a:lnTo>
                  <a:pt x="480237" y="597230"/>
                </a:lnTo>
                <a:lnTo>
                  <a:pt x="515073" y="573938"/>
                </a:lnTo>
                <a:lnTo>
                  <a:pt x="546430" y="546430"/>
                </a:lnTo>
                <a:lnTo>
                  <a:pt x="573938" y="515073"/>
                </a:lnTo>
                <a:lnTo>
                  <a:pt x="597230" y="480237"/>
                </a:lnTo>
                <a:lnTo>
                  <a:pt x="615771" y="442449"/>
                </a:lnTo>
                <a:lnTo>
                  <a:pt x="629184" y="402839"/>
                </a:lnTo>
                <a:lnTo>
                  <a:pt x="637333" y="361878"/>
                </a:lnTo>
                <a:lnTo>
                  <a:pt x="640079" y="320039"/>
                </a:lnTo>
                <a:lnTo>
                  <a:pt x="637333" y="278207"/>
                </a:lnTo>
                <a:lnTo>
                  <a:pt x="629184" y="237285"/>
                </a:lnTo>
                <a:lnTo>
                  <a:pt x="615771" y="197780"/>
                </a:lnTo>
                <a:lnTo>
                  <a:pt x="597230" y="160197"/>
                </a:lnTo>
                <a:lnTo>
                  <a:pt x="573933" y="125154"/>
                </a:lnTo>
                <a:lnTo>
                  <a:pt x="546384" y="93687"/>
                </a:lnTo>
                <a:lnTo>
                  <a:pt x="514918" y="66136"/>
                </a:lnTo>
                <a:lnTo>
                  <a:pt x="479869" y="42837"/>
                </a:lnTo>
                <a:lnTo>
                  <a:pt x="442294" y="24297"/>
                </a:lnTo>
                <a:lnTo>
                  <a:pt x="402793" y="10888"/>
                </a:lnTo>
                <a:lnTo>
                  <a:pt x="361872" y="2744"/>
                </a:lnTo>
                <a:lnTo>
                  <a:pt x="320040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961097" y="4665497"/>
            <a:ext cx="1809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8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1541424" y="4718786"/>
            <a:ext cx="567563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Evaluate</a:t>
            </a:r>
            <a:r>
              <a:rPr dirty="0" sz="1500" spc="-2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factual</a:t>
            </a:r>
            <a:r>
              <a:rPr dirty="0" sz="1500" spc="-2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191919"/>
                </a:solidFill>
                <a:latin typeface="Microsoft Sans Serif"/>
                <a:cs typeface="Microsoft Sans Serif"/>
              </a:rPr>
              <a:t>accuracy,</a:t>
            </a:r>
            <a:r>
              <a:rPr dirty="0" sz="1500" spc="-4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191919"/>
                </a:solidFill>
                <a:latin typeface="Microsoft Sans Serif"/>
                <a:cs typeface="Microsoft Sans Serif"/>
              </a:rPr>
              <a:t>hallucination</a:t>
            </a:r>
            <a:r>
              <a:rPr dirty="0" sz="1500" spc="-2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rate,</a:t>
            </a:r>
            <a:r>
              <a:rPr dirty="0" sz="1500" spc="-3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and</a:t>
            </a:r>
            <a:r>
              <a:rPr dirty="0" sz="1500" spc="-3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inference</a:t>
            </a:r>
            <a:r>
              <a:rPr dirty="0" sz="1500" spc="-3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191919"/>
                </a:solidFill>
                <a:latin typeface="Microsoft Sans Serif"/>
                <a:cs typeface="Microsoft Sans Serif"/>
              </a:rPr>
              <a:t>latency.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61097" y="5442737"/>
            <a:ext cx="1809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541424" y="5496026"/>
            <a:ext cx="73202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Compare</a:t>
            </a:r>
            <a:r>
              <a:rPr dirty="0" sz="1500" spc="-2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against</a:t>
            </a:r>
            <a:r>
              <a:rPr dirty="0" sz="1500" spc="-2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191919"/>
                </a:solidFill>
                <a:latin typeface="Microsoft Sans Serif"/>
                <a:cs typeface="Microsoft Sans Serif"/>
              </a:rPr>
              <a:t>No-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RAG,</a:t>
            </a:r>
            <a:r>
              <a:rPr dirty="0" sz="1500" spc="-1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191919"/>
                </a:solidFill>
                <a:latin typeface="Microsoft Sans Serif"/>
                <a:cs typeface="Microsoft Sans Serif"/>
              </a:rPr>
              <a:t>Standard-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RAG,</a:t>
            </a:r>
            <a:r>
              <a:rPr dirty="0" sz="1500" spc="-2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191919"/>
                </a:solidFill>
                <a:latin typeface="Microsoft Sans Serif"/>
                <a:cs typeface="Microsoft Sans Serif"/>
              </a:rPr>
              <a:t>Re-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ranking,</a:t>
            </a:r>
            <a:r>
              <a:rPr dirty="0" sz="1500" spc="-20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191919"/>
                </a:solidFill>
                <a:latin typeface="Microsoft Sans Serif"/>
                <a:cs typeface="Microsoft Sans Serif"/>
              </a:rPr>
              <a:t>and</a:t>
            </a:r>
            <a:r>
              <a:rPr dirty="0" sz="1500" spc="-1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191919"/>
                </a:solidFill>
                <a:latin typeface="Microsoft Sans Serif"/>
                <a:cs typeface="Microsoft Sans Serif"/>
              </a:rPr>
              <a:t>rule-</a:t>
            </a:r>
            <a:r>
              <a:rPr dirty="0" sz="1500" spc="-10">
                <a:solidFill>
                  <a:srgbClr val="191919"/>
                </a:solidFill>
                <a:latin typeface="Microsoft Sans Serif"/>
                <a:cs typeface="Microsoft Sans Serif"/>
              </a:rPr>
              <a:t>based</a:t>
            </a:r>
            <a:r>
              <a:rPr dirty="0" sz="1500" spc="-85">
                <a:solidFill>
                  <a:srgbClr val="191919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191919"/>
                </a:solidFill>
                <a:latin typeface="Microsoft Sans Serif"/>
                <a:cs typeface="Microsoft Sans Serif"/>
              </a:rPr>
              <a:t>Adaptive-</a:t>
            </a:r>
            <a:r>
              <a:rPr dirty="0" sz="1500" spc="-20">
                <a:solidFill>
                  <a:srgbClr val="191919"/>
                </a:solidFill>
                <a:latin typeface="Microsoft Sans Serif"/>
                <a:cs typeface="Microsoft Sans Serif"/>
              </a:rPr>
              <a:t>RAG.</a:t>
            </a:r>
            <a:endParaRPr sz="1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776424"/>
            <a:ext cx="4258310" cy="5081270"/>
            <a:chOff x="0" y="1776424"/>
            <a:chExt cx="4258310" cy="5081270"/>
          </a:xfrm>
        </p:grpSpPr>
        <p:sp>
          <p:nvSpPr>
            <p:cNvPr id="3" name="object 3" descr=""/>
            <p:cNvSpPr/>
            <p:nvPr/>
          </p:nvSpPr>
          <p:spPr>
            <a:xfrm>
              <a:off x="731519" y="1782724"/>
              <a:ext cx="3520440" cy="4572000"/>
            </a:xfrm>
            <a:custGeom>
              <a:avLst/>
              <a:gdLst/>
              <a:ahLst/>
              <a:cxnLst/>
              <a:rect l="l" t="t" r="r" b="b"/>
              <a:pathLst>
                <a:path w="3520440" h="4572000">
                  <a:moveTo>
                    <a:pt x="3520084" y="0"/>
                  </a:moveTo>
                  <a:lnTo>
                    <a:pt x="0" y="0"/>
                  </a:lnTo>
                  <a:lnTo>
                    <a:pt x="0" y="4571631"/>
                  </a:lnTo>
                  <a:lnTo>
                    <a:pt x="1760042" y="4571631"/>
                  </a:lnTo>
                  <a:lnTo>
                    <a:pt x="3520084" y="4571631"/>
                  </a:lnTo>
                  <a:lnTo>
                    <a:pt x="35200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31519" y="1782724"/>
              <a:ext cx="3520440" cy="4572000"/>
            </a:xfrm>
            <a:custGeom>
              <a:avLst/>
              <a:gdLst/>
              <a:ahLst/>
              <a:cxnLst/>
              <a:rect l="l" t="t" r="r" b="b"/>
              <a:pathLst>
                <a:path w="3520440" h="4572000">
                  <a:moveTo>
                    <a:pt x="1760042" y="4571631"/>
                  </a:moveTo>
                  <a:lnTo>
                    <a:pt x="0" y="4571631"/>
                  </a:lnTo>
                  <a:lnTo>
                    <a:pt x="0" y="0"/>
                  </a:lnTo>
                  <a:lnTo>
                    <a:pt x="3520084" y="0"/>
                  </a:lnTo>
                  <a:lnTo>
                    <a:pt x="3520084" y="4571631"/>
                  </a:lnTo>
                  <a:lnTo>
                    <a:pt x="1760042" y="4571631"/>
                  </a:lnTo>
                  <a:close/>
                </a:path>
              </a:pathLst>
            </a:custGeom>
            <a:ln w="1259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31519" y="1782724"/>
              <a:ext cx="3520440" cy="548640"/>
            </a:xfrm>
            <a:custGeom>
              <a:avLst/>
              <a:gdLst/>
              <a:ahLst/>
              <a:cxnLst/>
              <a:rect l="l" t="t" r="r" b="b"/>
              <a:pathLst>
                <a:path w="3520440" h="548639">
                  <a:moveTo>
                    <a:pt x="3520084" y="0"/>
                  </a:moveTo>
                  <a:lnTo>
                    <a:pt x="0" y="0"/>
                  </a:lnTo>
                  <a:lnTo>
                    <a:pt x="0" y="548271"/>
                  </a:lnTo>
                  <a:lnTo>
                    <a:pt x="1760042" y="548271"/>
                  </a:lnTo>
                  <a:lnTo>
                    <a:pt x="3520084" y="548271"/>
                  </a:lnTo>
                  <a:lnTo>
                    <a:pt x="3520084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81020">
              <a:lnSpc>
                <a:spcPct val="100000"/>
              </a:lnSpc>
              <a:spcBef>
                <a:spcPts val="100"/>
              </a:spcBef>
            </a:pPr>
            <a:r>
              <a:rPr dirty="0" spc="575"/>
              <a:t>METHODOLOGY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808456" y="1297343"/>
            <a:ext cx="63773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solidFill>
                  <a:srgbClr val="6A717F"/>
                </a:solidFill>
                <a:latin typeface="Arial"/>
                <a:cs typeface="Arial"/>
              </a:rPr>
              <a:t>Three</a:t>
            </a:r>
            <a:r>
              <a:rPr dirty="0" sz="1400" spc="-5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6A717F"/>
                </a:solidFill>
                <a:latin typeface="Arial"/>
                <a:cs typeface="Arial"/>
              </a:rPr>
              <a:t>progressive</a:t>
            </a:r>
            <a:r>
              <a:rPr dirty="0" sz="1400" spc="-5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6A717F"/>
                </a:solidFill>
                <a:latin typeface="Arial"/>
                <a:cs typeface="Arial"/>
              </a:rPr>
              <a:t>phases</a:t>
            </a:r>
            <a:r>
              <a:rPr dirty="0" sz="1400" spc="-5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6A717F"/>
                </a:solidFill>
                <a:latin typeface="Arial"/>
                <a:cs typeface="Arial"/>
              </a:rPr>
              <a:t>—</a:t>
            </a:r>
            <a:r>
              <a:rPr dirty="0" sz="1400" spc="-15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6A717F"/>
                </a:solidFill>
                <a:latin typeface="Arial"/>
                <a:cs typeface="Arial"/>
              </a:rPr>
              <a:t>each</a:t>
            </a:r>
            <a:r>
              <a:rPr dirty="0" sz="1400" spc="-15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6A717F"/>
                </a:solidFill>
                <a:latin typeface="Arial"/>
                <a:cs typeface="Arial"/>
              </a:rPr>
              <a:t>motivated</a:t>
            </a:r>
            <a:r>
              <a:rPr dirty="0" sz="1400" spc="-1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6A717F"/>
                </a:solidFill>
                <a:latin typeface="Arial"/>
                <a:cs typeface="Arial"/>
              </a:rPr>
              <a:t>by</a:t>
            </a:r>
            <a:r>
              <a:rPr dirty="0" sz="1400" spc="-1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6A717F"/>
                </a:solidFill>
                <a:latin typeface="Arial"/>
                <a:cs typeface="Arial"/>
              </a:rPr>
              <a:t>what</a:t>
            </a:r>
            <a:r>
              <a:rPr dirty="0" sz="1400" spc="-15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6A717F"/>
                </a:solidFill>
                <a:latin typeface="Arial"/>
                <a:cs typeface="Arial"/>
              </a:rPr>
              <a:t>the previous</a:t>
            </a:r>
            <a:r>
              <a:rPr dirty="0" sz="1400" spc="-1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6A717F"/>
                </a:solidFill>
                <a:latin typeface="Arial"/>
                <a:cs typeface="Arial"/>
              </a:rPr>
              <a:t>one</a:t>
            </a:r>
            <a:r>
              <a:rPr dirty="0" sz="1400" spc="-5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6A717F"/>
                </a:solidFill>
                <a:latin typeface="Arial"/>
                <a:cs typeface="Arial"/>
              </a:rPr>
              <a:t>surfaced.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737004" y="1952891"/>
            <a:ext cx="2160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88340" algn="l"/>
              </a:tabLst>
            </a:pPr>
            <a:r>
              <a:rPr dirty="0" sz="1200" spc="85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1200" spc="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9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200" spc="-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200" spc="-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4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	F</a:t>
            </a:r>
            <a:r>
              <a:rPr dirty="0" sz="1200" spc="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75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1200" spc="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1200" spc="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60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200" spc="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85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1200" spc="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9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200" spc="-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200" spc="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200" spc="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75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1200" spc="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10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59764" y="2547264"/>
            <a:ext cx="15716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91919"/>
                </a:solidFill>
                <a:latin typeface="Trebuchet MS"/>
                <a:cs typeface="Trebuchet MS"/>
              </a:rPr>
              <a:t>Wiser</a:t>
            </a:r>
            <a:r>
              <a:rPr dirty="0" sz="1800" spc="9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191919"/>
                </a:solidFill>
                <a:latin typeface="Trebuchet MS"/>
                <a:cs typeface="Trebuchet MS"/>
              </a:rPr>
              <a:t>Pipeline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49756" y="2923314"/>
            <a:ext cx="67310" cy="134620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</a:pP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92834" y="2947811"/>
            <a:ext cx="2552700" cy="134620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</a:pP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25,000+</a:t>
            </a:r>
            <a:r>
              <a:rPr dirty="0" sz="12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RSS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feeds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polled</a:t>
            </a:r>
            <a:endParaRPr sz="1200">
              <a:latin typeface="Microsoft Sans Serif"/>
              <a:cs typeface="Microsoft Sans Serif"/>
            </a:endParaRPr>
          </a:p>
          <a:p>
            <a:pPr marR="634365">
              <a:lnSpc>
                <a:spcPct val="100000"/>
              </a:lnSpc>
              <a:spcBef>
                <a:spcPts val="795"/>
              </a:spcBef>
            </a:pP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Multilingual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sentiment,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NER,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classification</a:t>
            </a:r>
            <a:endParaRPr sz="1200">
              <a:latin typeface="Microsoft Sans Serif"/>
              <a:cs typeface="Microsoft Sans Serif"/>
            </a:endParaRPr>
          </a:p>
          <a:p>
            <a:pPr marR="5080">
              <a:lnSpc>
                <a:spcPct val="155500"/>
              </a:lnSpc>
            </a:pP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LaBSE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embeddings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+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story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clustering GitHub</a:t>
            </a:r>
            <a:r>
              <a:rPr dirty="0" sz="1200" spc="-6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Actions</a:t>
            </a:r>
            <a:r>
              <a:rPr dirty="0" sz="12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zero-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cost</a:t>
            </a:r>
            <a:r>
              <a:rPr dirty="0" sz="12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ingest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428540" y="1776424"/>
            <a:ext cx="3533140" cy="4584700"/>
            <a:chOff x="4428540" y="1776424"/>
            <a:chExt cx="3533140" cy="4584700"/>
          </a:xfrm>
        </p:grpSpPr>
        <p:sp>
          <p:nvSpPr>
            <p:cNvPr id="13" name="object 13" descr=""/>
            <p:cNvSpPr/>
            <p:nvPr/>
          </p:nvSpPr>
          <p:spPr>
            <a:xfrm>
              <a:off x="4434840" y="1782724"/>
              <a:ext cx="3520440" cy="4572000"/>
            </a:xfrm>
            <a:custGeom>
              <a:avLst/>
              <a:gdLst/>
              <a:ahLst/>
              <a:cxnLst/>
              <a:rect l="l" t="t" r="r" b="b"/>
              <a:pathLst>
                <a:path w="3520440" h="4572000">
                  <a:moveTo>
                    <a:pt x="1760042" y="4571631"/>
                  </a:moveTo>
                  <a:lnTo>
                    <a:pt x="0" y="4571631"/>
                  </a:lnTo>
                  <a:lnTo>
                    <a:pt x="0" y="0"/>
                  </a:lnTo>
                  <a:lnTo>
                    <a:pt x="3520084" y="0"/>
                  </a:lnTo>
                  <a:lnTo>
                    <a:pt x="3520084" y="4571631"/>
                  </a:lnTo>
                  <a:lnTo>
                    <a:pt x="1760042" y="4571631"/>
                  </a:lnTo>
                  <a:close/>
                </a:path>
              </a:pathLst>
            </a:custGeom>
            <a:ln w="1259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434840" y="1782724"/>
              <a:ext cx="3520440" cy="548640"/>
            </a:xfrm>
            <a:custGeom>
              <a:avLst/>
              <a:gdLst/>
              <a:ahLst/>
              <a:cxnLst/>
              <a:rect l="l" t="t" r="r" b="b"/>
              <a:pathLst>
                <a:path w="3520440" h="548639">
                  <a:moveTo>
                    <a:pt x="3520084" y="0"/>
                  </a:moveTo>
                  <a:lnTo>
                    <a:pt x="0" y="0"/>
                  </a:lnTo>
                  <a:lnTo>
                    <a:pt x="0" y="548271"/>
                  </a:lnTo>
                  <a:lnTo>
                    <a:pt x="1760042" y="548271"/>
                  </a:lnTo>
                  <a:lnTo>
                    <a:pt x="3520084" y="548271"/>
                  </a:lnTo>
                  <a:lnTo>
                    <a:pt x="3520084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959764" y="1876577"/>
            <a:ext cx="402590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702685" algn="l"/>
              </a:tabLst>
            </a:pPr>
            <a:r>
              <a:rPr dirty="0" sz="2200" spc="-25" b="1">
                <a:solidFill>
                  <a:srgbClr val="5DE9D3"/>
                </a:solidFill>
                <a:latin typeface="Trebuchet MS"/>
                <a:cs typeface="Trebuchet MS"/>
              </a:rPr>
              <a:t>01</a:t>
            </a:r>
            <a:r>
              <a:rPr dirty="0" sz="2200" b="1">
                <a:solidFill>
                  <a:srgbClr val="5DE9D3"/>
                </a:solidFill>
                <a:latin typeface="Trebuchet MS"/>
                <a:cs typeface="Trebuchet MS"/>
              </a:rPr>
              <a:t>	</a:t>
            </a:r>
            <a:r>
              <a:rPr dirty="0" sz="2200" spc="-50" b="1">
                <a:solidFill>
                  <a:srgbClr val="5DE9D3"/>
                </a:solidFill>
                <a:latin typeface="Trebuchet MS"/>
                <a:cs typeface="Trebuchet MS"/>
              </a:rPr>
              <a:t>02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440324" y="1952891"/>
            <a:ext cx="2277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545590" algn="l"/>
              </a:tabLst>
            </a:pPr>
            <a:r>
              <a:rPr dirty="0" sz="1200" spc="145" b="1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dirty="0" sz="1200" spc="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110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200" spc="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60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200" spc="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125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1200" spc="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z="1200" spc="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95" b="1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1200" spc="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9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200" spc="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12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200" spc="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75" b="1">
                <a:solidFill>
                  <a:srgbClr val="FFFFFF"/>
                </a:solidFill>
                <a:latin typeface="Trebuchet MS"/>
                <a:cs typeface="Trebuchet MS"/>
              </a:rPr>
              <a:t>K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200" spc="180" b="1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1200" spc="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200" spc="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1200" spc="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85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1200" spc="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5" b="1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663084" y="2547264"/>
            <a:ext cx="20294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91919"/>
                </a:solidFill>
                <a:latin typeface="Trebuchet MS"/>
                <a:cs typeface="Trebuchet MS"/>
              </a:rPr>
              <a:t>Four</a:t>
            </a:r>
            <a:r>
              <a:rPr dirty="0" sz="1800" spc="-15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800" spc="175" b="1">
                <a:solidFill>
                  <a:srgbClr val="191919"/>
                </a:solidFill>
                <a:latin typeface="Trebuchet MS"/>
                <a:cs typeface="Trebuchet MS"/>
              </a:rPr>
              <a:t>RAG</a:t>
            </a:r>
            <a:r>
              <a:rPr dirty="0" sz="1800" spc="-15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191919"/>
                </a:solidFill>
                <a:latin typeface="Trebuchet MS"/>
                <a:cs typeface="Trebuchet MS"/>
              </a:rPr>
              <a:t>variants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753076" y="3024975"/>
            <a:ext cx="67310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096154" y="3049460"/>
            <a:ext cx="2270125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11557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No-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RAG,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Standard,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Re-ranking, Adaptive</a:t>
            </a:r>
            <a:endParaRPr sz="1200">
              <a:latin typeface="Microsoft Sans Serif"/>
              <a:cs typeface="Microsoft Sans Serif"/>
            </a:endParaRPr>
          </a:p>
          <a:p>
            <a:pPr marR="5080">
              <a:lnSpc>
                <a:spcPct val="155500"/>
              </a:lnSpc>
            </a:pP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QA</a:t>
            </a:r>
            <a:r>
              <a:rPr dirty="0" sz="1200" spc="-7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+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Sentiment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+</a:t>
            </a:r>
            <a:r>
              <a:rPr dirty="0" sz="12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Summarisation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Identified</a:t>
            </a:r>
            <a:r>
              <a:rPr dirty="0" sz="12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failure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of</a:t>
            </a:r>
            <a:r>
              <a:rPr dirty="0" sz="12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fixed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weights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Motivated</a:t>
            </a:r>
            <a:r>
              <a:rPr dirty="0" sz="12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learned</a:t>
            </a:r>
            <a:r>
              <a:rPr dirty="0" sz="12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scoring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8131860" y="1776424"/>
            <a:ext cx="3533140" cy="4584700"/>
            <a:chOff x="8131860" y="1776424"/>
            <a:chExt cx="3533140" cy="4584700"/>
          </a:xfrm>
        </p:grpSpPr>
        <p:sp>
          <p:nvSpPr>
            <p:cNvPr id="21" name="object 21" descr=""/>
            <p:cNvSpPr/>
            <p:nvPr/>
          </p:nvSpPr>
          <p:spPr>
            <a:xfrm>
              <a:off x="8138160" y="1782724"/>
              <a:ext cx="3520440" cy="4572000"/>
            </a:xfrm>
            <a:custGeom>
              <a:avLst/>
              <a:gdLst/>
              <a:ahLst/>
              <a:cxnLst/>
              <a:rect l="l" t="t" r="r" b="b"/>
              <a:pathLst>
                <a:path w="3520440" h="4572000">
                  <a:moveTo>
                    <a:pt x="1760042" y="4571631"/>
                  </a:moveTo>
                  <a:lnTo>
                    <a:pt x="0" y="4571631"/>
                  </a:lnTo>
                  <a:lnTo>
                    <a:pt x="0" y="0"/>
                  </a:lnTo>
                  <a:lnTo>
                    <a:pt x="3520084" y="0"/>
                  </a:lnTo>
                  <a:lnTo>
                    <a:pt x="3520084" y="4571631"/>
                  </a:lnTo>
                  <a:lnTo>
                    <a:pt x="1760042" y="4571631"/>
                  </a:lnTo>
                  <a:close/>
                </a:path>
              </a:pathLst>
            </a:custGeom>
            <a:ln w="1259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138160" y="1782724"/>
              <a:ext cx="3520440" cy="548640"/>
            </a:xfrm>
            <a:custGeom>
              <a:avLst/>
              <a:gdLst/>
              <a:ahLst/>
              <a:cxnLst/>
              <a:rect l="l" t="t" r="r" b="b"/>
              <a:pathLst>
                <a:path w="3520440" h="548639">
                  <a:moveTo>
                    <a:pt x="3520084" y="0"/>
                  </a:moveTo>
                  <a:lnTo>
                    <a:pt x="0" y="0"/>
                  </a:lnTo>
                  <a:lnTo>
                    <a:pt x="0" y="548271"/>
                  </a:lnTo>
                  <a:lnTo>
                    <a:pt x="1760042" y="548271"/>
                  </a:lnTo>
                  <a:lnTo>
                    <a:pt x="3520084" y="548271"/>
                  </a:lnTo>
                  <a:lnTo>
                    <a:pt x="3520084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8366404" y="1876577"/>
            <a:ext cx="32258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200" spc="-50" b="1">
                <a:solidFill>
                  <a:srgbClr val="5DE9D3"/>
                </a:solidFill>
                <a:latin typeface="Trebuchet MS"/>
                <a:cs typeface="Trebuchet MS"/>
              </a:rPr>
              <a:t>03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28" name="object 2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9</a:t>
            </a:r>
          </a:p>
        </p:txBody>
      </p:sp>
      <p:sp>
        <p:nvSpPr>
          <p:cNvPr id="24" name="object 24" descr=""/>
          <p:cNvSpPr txBox="1"/>
          <p:nvPr/>
        </p:nvSpPr>
        <p:spPr>
          <a:xfrm>
            <a:off x="9143644" y="1952891"/>
            <a:ext cx="23018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9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200" spc="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85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1200" spc="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9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200" spc="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95" b="1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dirty="0" sz="1200" spc="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200" spc="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200" spc="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dirty="0" sz="1200" spc="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110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200" spc="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dirty="0" sz="1200" spc="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180" b="1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1200" spc="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65" b="1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1200" spc="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95" b="1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1200" spc="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dirty="0" sz="1200" spc="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12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200" spc="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9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200" spc="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75" b="1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8366404" y="2547264"/>
            <a:ext cx="21691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91919"/>
                </a:solidFill>
                <a:latin typeface="Trebuchet MS"/>
                <a:cs typeface="Trebuchet MS"/>
              </a:rPr>
              <a:t>Learned</a:t>
            </a:r>
            <a:r>
              <a:rPr dirty="0" sz="1800" spc="-25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191919"/>
                </a:solidFill>
                <a:latin typeface="Trebuchet MS"/>
                <a:cs typeface="Trebuchet MS"/>
              </a:rPr>
              <a:t>confidence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456396" y="2923314"/>
            <a:ext cx="67310" cy="116332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</a:pP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799474" y="2947811"/>
            <a:ext cx="2305685" cy="1163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55500"/>
              </a:lnSpc>
              <a:spcBef>
                <a:spcPts val="100"/>
              </a:spcBef>
            </a:pP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MiniLM-L6-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v2 +</a:t>
            </a:r>
            <a:r>
              <a:rPr dirty="0" sz="12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2-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layer</a:t>
            </a:r>
            <a:r>
              <a:rPr dirty="0" sz="1200" spc="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MLP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head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Trained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on</a:t>
            </a:r>
            <a:r>
              <a:rPr dirty="0" sz="12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1,350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(q,d,r)</a:t>
            </a:r>
            <a:r>
              <a:rPr dirty="0" sz="12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triples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Document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filter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at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threshold</a:t>
            </a:r>
            <a:r>
              <a:rPr dirty="0" sz="12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0.3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0%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hallucination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on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QA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9893" y="444144"/>
            <a:ext cx="755840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14855" algn="l"/>
                <a:tab pos="2498090" algn="l"/>
                <a:tab pos="3181985" algn="l"/>
                <a:tab pos="5109845" algn="l"/>
              </a:tabLst>
            </a:pPr>
            <a:r>
              <a:rPr dirty="0" spc="625"/>
              <a:t>PHASE</a:t>
            </a:r>
            <a:r>
              <a:rPr dirty="0"/>
              <a:t>	</a:t>
            </a:r>
            <a:r>
              <a:rPr dirty="0" spc="-50"/>
              <a:t>1</a:t>
            </a:r>
            <a:r>
              <a:rPr dirty="0"/>
              <a:t>	</a:t>
            </a:r>
            <a:r>
              <a:rPr dirty="0" spc="875"/>
              <a:t>—</a:t>
            </a:r>
            <a:r>
              <a:rPr dirty="0"/>
              <a:t>	</a:t>
            </a:r>
            <a:r>
              <a:rPr dirty="0" spc="600"/>
              <a:t>WISER</a:t>
            </a:r>
            <a:r>
              <a:rPr dirty="0"/>
              <a:t>	</a:t>
            </a:r>
            <a:r>
              <a:rPr dirty="0" spc="535"/>
              <a:t>PIPELINE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8456" y="1421904"/>
            <a:ext cx="8445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51534" y="1449260"/>
            <a:ext cx="578802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Polls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25,000+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RSS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feeds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across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six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cadences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(breaking,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hourly,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6-hourly,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daily, weekly,</a:t>
            </a:r>
            <a:r>
              <a:rPr dirty="0" sz="1300" spc="-8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monthly).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08456" y="1970900"/>
            <a:ext cx="8445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51534" y="1998256"/>
            <a:ext cx="559117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Four-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strategy</a:t>
            </a:r>
            <a:r>
              <a:rPr dirty="0" sz="13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article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crawler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with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circuit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breaker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on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consistently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failing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feeds.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08456" y="2321534"/>
            <a:ext cx="8445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51534" y="2348902"/>
            <a:ext cx="514794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MurmurHash3</a:t>
            </a:r>
            <a:r>
              <a:rPr dirty="0" sz="13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+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SimHash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near-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duplicate</a:t>
            </a:r>
            <a:r>
              <a:rPr dirty="0" sz="13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detection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before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enrichment.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08456" y="2672181"/>
            <a:ext cx="8445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51534" y="2699537"/>
            <a:ext cx="5823585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Six-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step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NLP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enrichment: language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ID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→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sentiment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 (multilingual DistilBERT)</a:t>
            </a:r>
            <a:r>
              <a:rPr dirty="0" sz="13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Microsoft Sans Serif"/>
                <a:cs typeface="Microsoft Sans Serif"/>
              </a:rPr>
              <a:t>→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NER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→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zero-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shot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topic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→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entity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linking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→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LaBSE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clustering.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08456" y="3221177"/>
            <a:ext cx="8445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51534" y="3248545"/>
            <a:ext cx="493268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Runs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entirely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on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GitHub</a:t>
            </a:r>
            <a:r>
              <a:rPr dirty="0" sz="1300" spc="-8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Actions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free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tier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530">
                <a:solidFill>
                  <a:srgbClr val="333333"/>
                </a:solidFill>
                <a:latin typeface="Microsoft Sans Serif"/>
                <a:cs typeface="Microsoft Sans Serif"/>
              </a:rPr>
              <a:t>—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zero</a:t>
            </a:r>
            <a:r>
              <a:rPr dirty="0" sz="13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infrastructure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cost.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08456" y="3571824"/>
            <a:ext cx="8445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51534" y="3599179"/>
            <a:ext cx="550545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Output</a:t>
            </a:r>
            <a:r>
              <a:rPr dirty="0" sz="13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written</a:t>
            </a:r>
            <a:r>
              <a:rPr dirty="0" sz="13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to</a:t>
            </a:r>
            <a:r>
              <a:rPr dirty="0" sz="13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Supabase</a:t>
            </a:r>
            <a:r>
              <a:rPr dirty="0" sz="13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(Postgres</a:t>
            </a:r>
            <a:r>
              <a:rPr dirty="0" sz="13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+</a:t>
            </a:r>
            <a:r>
              <a:rPr dirty="0" sz="13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pgvector)</a:t>
            </a:r>
            <a:r>
              <a:rPr dirty="0" sz="13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for</a:t>
            </a:r>
            <a:r>
              <a:rPr dirty="0" sz="13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downstream</a:t>
            </a:r>
            <a:r>
              <a:rPr dirty="0" sz="13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retrieval.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7772044" y="1416964"/>
            <a:ext cx="3474720" cy="548640"/>
          </a:xfrm>
          <a:custGeom>
            <a:avLst/>
            <a:gdLst/>
            <a:ahLst/>
            <a:cxnLst/>
            <a:rect l="l" t="t" r="r" b="b"/>
            <a:pathLst>
              <a:path w="3474720" h="548639">
                <a:moveTo>
                  <a:pt x="340127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58"/>
                </a:lnTo>
                <a:lnTo>
                  <a:pt x="607" y="63442"/>
                </a:lnTo>
                <a:lnTo>
                  <a:pt x="0" y="73075"/>
                </a:lnTo>
                <a:lnTo>
                  <a:pt x="0" y="475551"/>
                </a:lnTo>
                <a:lnTo>
                  <a:pt x="594" y="484829"/>
                </a:lnTo>
                <a:lnTo>
                  <a:pt x="607" y="485029"/>
                </a:lnTo>
                <a:lnTo>
                  <a:pt x="21413" y="527169"/>
                </a:lnTo>
                <a:lnTo>
                  <a:pt x="63442" y="548032"/>
                </a:lnTo>
                <a:lnTo>
                  <a:pt x="73075" y="548639"/>
                </a:lnTo>
                <a:lnTo>
                  <a:pt x="3401631" y="548271"/>
                </a:lnTo>
                <a:lnTo>
                  <a:pt x="3446009" y="533180"/>
                </a:lnTo>
                <a:lnTo>
                  <a:pt x="3469172" y="503447"/>
                </a:lnTo>
                <a:lnTo>
                  <a:pt x="3469249" y="503292"/>
                </a:lnTo>
                <a:lnTo>
                  <a:pt x="3472229" y="494407"/>
                </a:lnTo>
                <a:lnTo>
                  <a:pt x="3472289" y="494230"/>
                </a:lnTo>
                <a:lnTo>
                  <a:pt x="3474073" y="485029"/>
                </a:lnTo>
                <a:lnTo>
                  <a:pt x="3474112" y="484829"/>
                </a:lnTo>
                <a:lnTo>
                  <a:pt x="3474697" y="475551"/>
                </a:lnTo>
                <a:lnTo>
                  <a:pt x="3474720" y="475195"/>
                </a:lnTo>
                <a:lnTo>
                  <a:pt x="3474351" y="73075"/>
                </a:lnTo>
                <a:lnTo>
                  <a:pt x="3459260" y="28698"/>
                </a:lnTo>
                <a:lnTo>
                  <a:pt x="3420310" y="2428"/>
                </a:lnTo>
                <a:lnTo>
                  <a:pt x="3410909" y="607"/>
                </a:lnTo>
                <a:lnTo>
                  <a:pt x="340127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9125178" y="1571663"/>
            <a:ext cx="7677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95" b="1">
                <a:solidFill>
                  <a:srgbClr val="FFFFFF"/>
                </a:solidFill>
                <a:latin typeface="Trebuchet MS"/>
                <a:cs typeface="Trebuchet MS"/>
              </a:rPr>
              <a:t>RSS</a:t>
            </a:r>
            <a:r>
              <a:rPr dirty="0" sz="1400" spc="-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Trebuchet MS"/>
                <a:cs typeface="Trebuchet MS"/>
              </a:rPr>
              <a:t>Poll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7772044" y="1952942"/>
            <a:ext cx="3474720" cy="789940"/>
            <a:chOff x="7772044" y="1952942"/>
            <a:chExt cx="3474720" cy="789940"/>
          </a:xfrm>
        </p:grpSpPr>
        <p:sp>
          <p:nvSpPr>
            <p:cNvPr id="18" name="object 18" descr=""/>
            <p:cNvSpPr/>
            <p:nvPr/>
          </p:nvSpPr>
          <p:spPr>
            <a:xfrm>
              <a:off x="9509759" y="1965959"/>
              <a:ext cx="635" cy="157480"/>
            </a:xfrm>
            <a:custGeom>
              <a:avLst/>
              <a:gdLst/>
              <a:ahLst/>
              <a:cxnLst/>
              <a:rect l="l" t="t" r="r" b="b"/>
              <a:pathLst>
                <a:path w="634" h="157480">
                  <a:moveTo>
                    <a:pt x="0" y="0"/>
                  </a:moveTo>
                  <a:lnTo>
                    <a:pt x="355" y="156959"/>
                  </a:lnTo>
                </a:path>
              </a:pathLst>
            </a:custGeom>
            <a:ln w="25559">
              <a:solidFill>
                <a:srgbClr val="6A71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471596" y="2117877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4" h="76835">
                  <a:moveTo>
                    <a:pt x="76682" y="0"/>
                  </a:moveTo>
                  <a:lnTo>
                    <a:pt x="0" y="0"/>
                  </a:lnTo>
                  <a:lnTo>
                    <a:pt x="38519" y="76682"/>
                  </a:lnTo>
                  <a:lnTo>
                    <a:pt x="76682" y="0"/>
                  </a:lnTo>
                  <a:close/>
                </a:path>
              </a:pathLst>
            </a:custGeom>
            <a:solidFill>
              <a:srgbClr val="6A71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772044" y="2194204"/>
              <a:ext cx="3474720" cy="548640"/>
            </a:xfrm>
            <a:custGeom>
              <a:avLst/>
              <a:gdLst/>
              <a:ahLst/>
              <a:cxnLst/>
              <a:rect l="l" t="t" r="r" b="b"/>
              <a:pathLst>
                <a:path w="3474720" h="548639">
                  <a:moveTo>
                    <a:pt x="34012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75551"/>
                  </a:lnTo>
                  <a:lnTo>
                    <a:pt x="594" y="484829"/>
                  </a:lnTo>
                  <a:lnTo>
                    <a:pt x="607" y="485029"/>
                  </a:lnTo>
                  <a:lnTo>
                    <a:pt x="2394" y="494230"/>
                  </a:lnTo>
                  <a:lnTo>
                    <a:pt x="2428" y="494407"/>
                  </a:lnTo>
                  <a:lnTo>
                    <a:pt x="5412" y="503292"/>
                  </a:lnTo>
                  <a:lnTo>
                    <a:pt x="5464" y="503447"/>
                  </a:lnTo>
                  <a:lnTo>
                    <a:pt x="36360" y="538911"/>
                  </a:lnTo>
                  <a:lnTo>
                    <a:pt x="73075" y="548639"/>
                  </a:lnTo>
                  <a:lnTo>
                    <a:pt x="3401631" y="548271"/>
                  </a:lnTo>
                  <a:lnTo>
                    <a:pt x="3446009" y="533180"/>
                  </a:lnTo>
                  <a:lnTo>
                    <a:pt x="3472229" y="494407"/>
                  </a:lnTo>
                  <a:lnTo>
                    <a:pt x="3474073" y="485029"/>
                  </a:lnTo>
                  <a:lnTo>
                    <a:pt x="3474112" y="484829"/>
                  </a:lnTo>
                  <a:lnTo>
                    <a:pt x="3474697" y="475551"/>
                  </a:lnTo>
                  <a:lnTo>
                    <a:pt x="3474720" y="475195"/>
                  </a:lnTo>
                  <a:lnTo>
                    <a:pt x="3474351" y="73075"/>
                  </a:lnTo>
                  <a:lnTo>
                    <a:pt x="3459260" y="28698"/>
                  </a:lnTo>
                  <a:lnTo>
                    <a:pt x="3420310" y="2428"/>
                  </a:lnTo>
                  <a:lnTo>
                    <a:pt x="3410909" y="607"/>
                  </a:lnTo>
                  <a:lnTo>
                    <a:pt x="3401275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8875344" y="2348902"/>
            <a:ext cx="12674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Trebuchet MS"/>
                <a:cs typeface="Trebuchet MS"/>
              </a:rPr>
              <a:t>Crawl</a:t>
            </a:r>
            <a:r>
              <a:rPr dirty="0" sz="1400" spc="-1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r>
              <a:rPr dirty="0" sz="1400" spc="-20" b="1">
                <a:solidFill>
                  <a:srgbClr val="FFFFFF"/>
                </a:solidFill>
                <a:latin typeface="Trebuchet MS"/>
                <a:cs typeface="Trebuchet MS"/>
              </a:rPr>
              <a:t> Dedup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7772044" y="2730182"/>
            <a:ext cx="3474720" cy="789940"/>
            <a:chOff x="7772044" y="2730182"/>
            <a:chExt cx="3474720" cy="789940"/>
          </a:xfrm>
        </p:grpSpPr>
        <p:sp>
          <p:nvSpPr>
            <p:cNvPr id="23" name="object 23" descr=""/>
            <p:cNvSpPr/>
            <p:nvPr/>
          </p:nvSpPr>
          <p:spPr>
            <a:xfrm>
              <a:off x="9509759" y="2743200"/>
              <a:ext cx="635" cy="157480"/>
            </a:xfrm>
            <a:custGeom>
              <a:avLst/>
              <a:gdLst/>
              <a:ahLst/>
              <a:cxnLst/>
              <a:rect l="l" t="t" r="r" b="b"/>
              <a:pathLst>
                <a:path w="634" h="157480">
                  <a:moveTo>
                    <a:pt x="0" y="0"/>
                  </a:moveTo>
                  <a:lnTo>
                    <a:pt x="355" y="156959"/>
                  </a:lnTo>
                </a:path>
              </a:pathLst>
            </a:custGeom>
            <a:ln w="25559">
              <a:solidFill>
                <a:srgbClr val="6A71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471596" y="2895117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4" h="76835">
                  <a:moveTo>
                    <a:pt x="76682" y="0"/>
                  </a:moveTo>
                  <a:lnTo>
                    <a:pt x="0" y="0"/>
                  </a:lnTo>
                  <a:lnTo>
                    <a:pt x="38519" y="76682"/>
                  </a:lnTo>
                  <a:lnTo>
                    <a:pt x="76682" y="0"/>
                  </a:lnTo>
                  <a:close/>
                </a:path>
              </a:pathLst>
            </a:custGeom>
            <a:solidFill>
              <a:srgbClr val="6A71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772044" y="2971444"/>
              <a:ext cx="3474720" cy="548640"/>
            </a:xfrm>
            <a:custGeom>
              <a:avLst/>
              <a:gdLst/>
              <a:ahLst/>
              <a:cxnLst/>
              <a:rect l="l" t="t" r="r" b="b"/>
              <a:pathLst>
                <a:path w="3474720" h="548639">
                  <a:moveTo>
                    <a:pt x="34012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75551"/>
                  </a:lnTo>
                  <a:lnTo>
                    <a:pt x="594" y="484829"/>
                  </a:lnTo>
                  <a:lnTo>
                    <a:pt x="607" y="485029"/>
                  </a:lnTo>
                  <a:lnTo>
                    <a:pt x="2394" y="494230"/>
                  </a:lnTo>
                  <a:lnTo>
                    <a:pt x="2428" y="494407"/>
                  </a:lnTo>
                  <a:lnTo>
                    <a:pt x="5412" y="503292"/>
                  </a:lnTo>
                  <a:lnTo>
                    <a:pt x="5464" y="503447"/>
                  </a:lnTo>
                  <a:lnTo>
                    <a:pt x="36360" y="538911"/>
                  </a:lnTo>
                  <a:lnTo>
                    <a:pt x="73075" y="548640"/>
                  </a:lnTo>
                  <a:lnTo>
                    <a:pt x="3401631" y="548271"/>
                  </a:lnTo>
                  <a:lnTo>
                    <a:pt x="3446009" y="533180"/>
                  </a:lnTo>
                  <a:lnTo>
                    <a:pt x="3472229" y="494407"/>
                  </a:lnTo>
                  <a:lnTo>
                    <a:pt x="3474073" y="485029"/>
                  </a:lnTo>
                  <a:lnTo>
                    <a:pt x="3474112" y="484829"/>
                  </a:lnTo>
                  <a:lnTo>
                    <a:pt x="3474697" y="475551"/>
                  </a:lnTo>
                  <a:lnTo>
                    <a:pt x="3474720" y="475195"/>
                  </a:lnTo>
                  <a:lnTo>
                    <a:pt x="3474351" y="73075"/>
                  </a:lnTo>
                  <a:lnTo>
                    <a:pt x="3459260" y="28698"/>
                  </a:lnTo>
                  <a:lnTo>
                    <a:pt x="3420310" y="2428"/>
                  </a:lnTo>
                  <a:lnTo>
                    <a:pt x="3410909" y="607"/>
                  </a:lnTo>
                  <a:lnTo>
                    <a:pt x="3401275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8961373" y="3126143"/>
            <a:ext cx="10934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5" b="1">
                <a:solidFill>
                  <a:srgbClr val="FFFFFF"/>
                </a:solidFill>
                <a:latin typeface="Trebuchet MS"/>
                <a:cs typeface="Trebuchet MS"/>
              </a:rPr>
              <a:t>Language</a:t>
            </a:r>
            <a:r>
              <a:rPr dirty="0" sz="1400" spc="-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Trebuchet MS"/>
                <a:cs typeface="Trebuchet MS"/>
              </a:rPr>
              <a:t>ID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7772044" y="3507422"/>
            <a:ext cx="3474720" cy="789940"/>
            <a:chOff x="7772044" y="3507422"/>
            <a:chExt cx="3474720" cy="789940"/>
          </a:xfrm>
        </p:grpSpPr>
        <p:sp>
          <p:nvSpPr>
            <p:cNvPr id="28" name="object 28" descr=""/>
            <p:cNvSpPr/>
            <p:nvPr/>
          </p:nvSpPr>
          <p:spPr>
            <a:xfrm>
              <a:off x="9509759" y="3520439"/>
              <a:ext cx="635" cy="157480"/>
            </a:xfrm>
            <a:custGeom>
              <a:avLst/>
              <a:gdLst/>
              <a:ahLst/>
              <a:cxnLst/>
              <a:rect l="l" t="t" r="r" b="b"/>
              <a:pathLst>
                <a:path w="634" h="157479">
                  <a:moveTo>
                    <a:pt x="0" y="0"/>
                  </a:moveTo>
                  <a:lnTo>
                    <a:pt x="355" y="156959"/>
                  </a:lnTo>
                </a:path>
              </a:pathLst>
            </a:custGeom>
            <a:ln w="25559">
              <a:solidFill>
                <a:srgbClr val="6A71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471596" y="3672357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4" h="76835">
                  <a:moveTo>
                    <a:pt x="76682" y="0"/>
                  </a:moveTo>
                  <a:lnTo>
                    <a:pt x="0" y="0"/>
                  </a:lnTo>
                  <a:lnTo>
                    <a:pt x="38519" y="76682"/>
                  </a:lnTo>
                  <a:lnTo>
                    <a:pt x="76682" y="0"/>
                  </a:lnTo>
                  <a:close/>
                </a:path>
              </a:pathLst>
            </a:custGeom>
            <a:solidFill>
              <a:srgbClr val="6A71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772044" y="3748684"/>
              <a:ext cx="3474720" cy="548640"/>
            </a:xfrm>
            <a:custGeom>
              <a:avLst/>
              <a:gdLst/>
              <a:ahLst/>
              <a:cxnLst/>
              <a:rect l="l" t="t" r="r" b="b"/>
              <a:pathLst>
                <a:path w="3474720" h="548639">
                  <a:moveTo>
                    <a:pt x="34012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75551"/>
                  </a:lnTo>
                  <a:lnTo>
                    <a:pt x="594" y="484829"/>
                  </a:lnTo>
                  <a:lnTo>
                    <a:pt x="607" y="485029"/>
                  </a:lnTo>
                  <a:lnTo>
                    <a:pt x="2394" y="494230"/>
                  </a:lnTo>
                  <a:lnTo>
                    <a:pt x="2428" y="494407"/>
                  </a:lnTo>
                  <a:lnTo>
                    <a:pt x="5412" y="503292"/>
                  </a:lnTo>
                  <a:lnTo>
                    <a:pt x="5464" y="503447"/>
                  </a:lnTo>
                  <a:lnTo>
                    <a:pt x="36360" y="538911"/>
                  </a:lnTo>
                  <a:lnTo>
                    <a:pt x="73075" y="548639"/>
                  </a:lnTo>
                  <a:lnTo>
                    <a:pt x="3401631" y="548271"/>
                  </a:lnTo>
                  <a:lnTo>
                    <a:pt x="3446009" y="533180"/>
                  </a:lnTo>
                  <a:lnTo>
                    <a:pt x="3472229" y="494407"/>
                  </a:lnTo>
                  <a:lnTo>
                    <a:pt x="3474073" y="485029"/>
                  </a:lnTo>
                  <a:lnTo>
                    <a:pt x="3474112" y="484829"/>
                  </a:lnTo>
                  <a:lnTo>
                    <a:pt x="3474697" y="475551"/>
                  </a:lnTo>
                  <a:lnTo>
                    <a:pt x="3474720" y="475195"/>
                  </a:lnTo>
                  <a:lnTo>
                    <a:pt x="3474351" y="73075"/>
                  </a:lnTo>
                  <a:lnTo>
                    <a:pt x="3459260" y="28698"/>
                  </a:lnTo>
                  <a:lnTo>
                    <a:pt x="3420310" y="2428"/>
                  </a:lnTo>
                  <a:lnTo>
                    <a:pt x="3410909" y="607"/>
                  </a:lnTo>
                  <a:lnTo>
                    <a:pt x="340127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8776334" y="3903383"/>
            <a:ext cx="14643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Trebuchet MS"/>
                <a:cs typeface="Trebuchet MS"/>
              </a:rPr>
              <a:t>Sentiment</a:t>
            </a:r>
            <a:r>
              <a:rPr dirty="0" sz="1400" spc="-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r>
              <a:rPr dirty="0" sz="1400" spc="-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90" b="1">
                <a:solidFill>
                  <a:srgbClr val="FFFFFF"/>
                </a:solidFill>
                <a:latin typeface="Trebuchet MS"/>
                <a:cs typeface="Trebuchet MS"/>
              </a:rPr>
              <a:t>NER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7772044" y="4284662"/>
            <a:ext cx="3474720" cy="789940"/>
            <a:chOff x="7772044" y="4284662"/>
            <a:chExt cx="3474720" cy="789940"/>
          </a:xfrm>
        </p:grpSpPr>
        <p:sp>
          <p:nvSpPr>
            <p:cNvPr id="33" name="object 33" descr=""/>
            <p:cNvSpPr/>
            <p:nvPr/>
          </p:nvSpPr>
          <p:spPr>
            <a:xfrm>
              <a:off x="9509759" y="4297679"/>
              <a:ext cx="635" cy="157480"/>
            </a:xfrm>
            <a:custGeom>
              <a:avLst/>
              <a:gdLst/>
              <a:ahLst/>
              <a:cxnLst/>
              <a:rect l="l" t="t" r="r" b="b"/>
              <a:pathLst>
                <a:path w="634" h="157479">
                  <a:moveTo>
                    <a:pt x="0" y="0"/>
                  </a:moveTo>
                  <a:lnTo>
                    <a:pt x="355" y="156959"/>
                  </a:lnTo>
                </a:path>
              </a:pathLst>
            </a:custGeom>
            <a:ln w="25559">
              <a:solidFill>
                <a:srgbClr val="6A71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9471596" y="4449597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4" h="76835">
                  <a:moveTo>
                    <a:pt x="76682" y="0"/>
                  </a:moveTo>
                  <a:lnTo>
                    <a:pt x="0" y="0"/>
                  </a:lnTo>
                  <a:lnTo>
                    <a:pt x="38519" y="76682"/>
                  </a:lnTo>
                  <a:lnTo>
                    <a:pt x="76682" y="0"/>
                  </a:lnTo>
                  <a:close/>
                </a:path>
              </a:pathLst>
            </a:custGeom>
            <a:solidFill>
              <a:srgbClr val="6A71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772044" y="4525924"/>
              <a:ext cx="3474720" cy="548640"/>
            </a:xfrm>
            <a:custGeom>
              <a:avLst/>
              <a:gdLst/>
              <a:ahLst/>
              <a:cxnLst/>
              <a:rect l="l" t="t" r="r" b="b"/>
              <a:pathLst>
                <a:path w="3474720" h="548639">
                  <a:moveTo>
                    <a:pt x="34012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75551"/>
                  </a:lnTo>
                  <a:lnTo>
                    <a:pt x="594" y="484829"/>
                  </a:lnTo>
                  <a:lnTo>
                    <a:pt x="607" y="485029"/>
                  </a:lnTo>
                  <a:lnTo>
                    <a:pt x="2394" y="494230"/>
                  </a:lnTo>
                  <a:lnTo>
                    <a:pt x="2428" y="494407"/>
                  </a:lnTo>
                  <a:lnTo>
                    <a:pt x="5412" y="503292"/>
                  </a:lnTo>
                  <a:lnTo>
                    <a:pt x="5464" y="503447"/>
                  </a:lnTo>
                  <a:lnTo>
                    <a:pt x="36360" y="538911"/>
                  </a:lnTo>
                  <a:lnTo>
                    <a:pt x="73075" y="548639"/>
                  </a:lnTo>
                  <a:lnTo>
                    <a:pt x="3401631" y="548271"/>
                  </a:lnTo>
                  <a:lnTo>
                    <a:pt x="3446009" y="533180"/>
                  </a:lnTo>
                  <a:lnTo>
                    <a:pt x="3472229" y="494407"/>
                  </a:lnTo>
                  <a:lnTo>
                    <a:pt x="3474073" y="485029"/>
                  </a:lnTo>
                  <a:lnTo>
                    <a:pt x="3474112" y="484829"/>
                  </a:lnTo>
                  <a:lnTo>
                    <a:pt x="3474697" y="475551"/>
                  </a:lnTo>
                  <a:lnTo>
                    <a:pt x="3474720" y="475195"/>
                  </a:lnTo>
                  <a:lnTo>
                    <a:pt x="3474351" y="73075"/>
                  </a:lnTo>
                  <a:lnTo>
                    <a:pt x="3459260" y="28698"/>
                  </a:lnTo>
                  <a:lnTo>
                    <a:pt x="3420310" y="2428"/>
                  </a:lnTo>
                  <a:lnTo>
                    <a:pt x="3410909" y="607"/>
                  </a:lnTo>
                  <a:lnTo>
                    <a:pt x="3401275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8877858" y="4680623"/>
            <a:ext cx="12623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20" b="1">
                <a:solidFill>
                  <a:srgbClr val="FFFFFF"/>
                </a:solidFill>
                <a:latin typeface="Trebuchet MS"/>
                <a:cs typeface="Trebuchet MS"/>
              </a:rPr>
              <a:t>LaBSE</a:t>
            </a:r>
            <a:r>
              <a:rPr dirty="0" sz="1400" spc="-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Trebuchet MS"/>
                <a:cs typeface="Trebuchet MS"/>
              </a:rPr>
              <a:t>Cluster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7772044" y="5062140"/>
            <a:ext cx="3474720" cy="789940"/>
            <a:chOff x="7772044" y="5062140"/>
            <a:chExt cx="3474720" cy="789940"/>
          </a:xfrm>
        </p:grpSpPr>
        <p:sp>
          <p:nvSpPr>
            <p:cNvPr id="38" name="object 38" descr=""/>
            <p:cNvSpPr/>
            <p:nvPr/>
          </p:nvSpPr>
          <p:spPr>
            <a:xfrm>
              <a:off x="9509759" y="5074919"/>
              <a:ext cx="635" cy="157480"/>
            </a:xfrm>
            <a:custGeom>
              <a:avLst/>
              <a:gdLst/>
              <a:ahLst/>
              <a:cxnLst/>
              <a:rect l="l" t="t" r="r" b="b"/>
              <a:pathLst>
                <a:path w="634" h="157479">
                  <a:moveTo>
                    <a:pt x="0" y="0"/>
                  </a:moveTo>
                  <a:lnTo>
                    <a:pt x="355" y="156959"/>
                  </a:lnTo>
                </a:path>
              </a:pathLst>
            </a:custGeom>
            <a:ln w="25559">
              <a:solidFill>
                <a:srgbClr val="6A71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9471596" y="5226837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4" h="76835">
                  <a:moveTo>
                    <a:pt x="76682" y="0"/>
                  </a:moveTo>
                  <a:lnTo>
                    <a:pt x="0" y="0"/>
                  </a:lnTo>
                  <a:lnTo>
                    <a:pt x="38519" y="76682"/>
                  </a:lnTo>
                  <a:lnTo>
                    <a:pt x="76682" y="0"/>
                  </a:lnTo>
                  <a:close/>
                </a:path>
              </a:pathLst>
            </a:custGeom>
            <a:solidFill>
              <a:srgbClr val="6A71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772044" y="5303164"/>
              <a:ext cx="3474720" cy="548640"/>
            </a:xfrm>
            <a:custGeom>
              <a:avLst/>
              <a:gdLst/>
              <a:ahLst/>
              <a:cxnLst/>
              <a:rect l="l" t="t" r="r" b="b"/>
              <a:pathLst>
                <a:path w="3474720" h="548639">
                  <a:moveTo>
                    <a:pt x="340127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75551"/>
                  </a:lnTo>
                  <a:lnTo>
                    <a:pt x="594" y="484829"/>
                  </a:lnTo>
                  <a:lnTo>
                    <a:pt x="607" y="485029"/>
                  </a:lnTo>
                  <a:lnTo>
                    <a:pt x="2394" y="494230"/>
                  </a:lnTo>
                  <a:lnTo>
                    <a:pt x="2428" y="494407"/>
                  </a:lnTo>
                  <a:lnTo>
                    <a:pt x="5412" y="503292"/>
                  </a:lnTo>
                  <a:lnTo>
                    <a:pt x="5464" y="503447"/>
                  </a:lnTo>
                  <a:lnTo>
                    <a:pt x="36360" y="538911"/>
                  </a:lnTo>
                  <a:lnTo>
                    <a:pt x="73075" y="548640"/>
                  </a:lnTo>
                  <a:lnTo>
                    <a:pt x="3401631" y="548271"/>
                  </a:lnTo>
                  <a:lnTo>
                    <a:pt x="3446009" y="533180"/>
                  </a:lnTo>
                  <a:lnTo>
                    <a:pt x="3472229" y="494407"/>
                  </a:lnTo>
                  <a:lnTo>
                    <a:pt x="3474073" y="485029"/>
                  </a:lnTo>
                  <a:lnTo>
                    <a:pt x="3474112" y="484829"/>
                  </a:lnTo>
                  <a:lnTo>
                    <a:pt x="3474697" y="475551"/>
                  </a:lnTo>
                  <a:lnTo>
                    <a:pt x="3474720" y="475195"/>
                  </a:lnTo>
                  <a:lnTo>
                    <a:pt x="3474351" y="73075"/>
                  </a:lnTo>
                  <a:lnTo>
                    <a:pt x="3459260" y="28698"/>
                  </a:lnTo>
                  <a:lnTo>
                    <a:pt x="3420310" y="2428"/>
                  </a:lnTo>
                  <a:lnTo>
                    <a:pt x="3410909" y="607"/>
                  </a:lnTo>
                  <a:lnTo>
                    <a:pt x="3401275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8822778" y="5457862"/>
            <a:ext cx="13709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60" b="1">
                <a:solidFill>
                  <a:srgbClr val="FFFFFF"/>
                </a:solidFill>
                <a:latin typeface="Trebuchet MS"/>
                <a:cs typeface="Trebuchet MS"/>
              </a:rPr>
              <a:t>Supabase</a:t>
            </a:r>
            <a:r>
              <a:rPr dirty="0" sz="1400" spc="-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Trebuchet MS"/>
                <a:cs typeface="Trebuchet MS"/>
              </a:rPr>
              <a:t>Store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2" name="object 4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3840124"/>
            <a:ext cx="6080760" cy="3017520"/>
            <a:chOff x="0" y="3840124"/>
            <a:chExt cx="6080760" cy="3017520"/>
          </a:xfrm>
        </p:grpSpPr>
        <p:sp>
          <p:nvSpPr>
            <p:cNvPr id="3" name="object 3" descr=""/>
            <p:cNvSpPr/>
            <p:nvPr/>
          </p:nvSpPr>
          <p:spPr>
            <a:xfrm>
              <a:off x="731519" y="3840124"/>
              <a:ext cx="5349240" cy="1828800"/>
            </a:xfrm>
            <a:custGeom>
              <a:avLst/>
              <a:gdLst/>
              <a:ahLst/>
              <a:cxnLst/>
              <a:rect l="l" t="t" r="r" b="b"/>
              <a:pathLst>
                <a:path w="5349240" h="1828800">
                  <a:moveTo>
                    <a:pt x="5348884" y="0"/>
                  </a:moveTo>
                  <a:lnTo>
                    <a:pt x="0" y="0"/>
                  </a:lnTo>
                  <a:lnTo>
                    <a:pt x="0" y="1828431"/>
                  </a:lnTo>
                  <a:lnTo>
                    <a:pt x="2674442" y="1828431"/>
                  </a:lnTo>
                  <a:lnTo>
                    <a:pt x="5348884" y="1828431"/>
                  </a:lnTo>
                  <a:lnTo>
                    <a:pt x="53488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31519" y="3840124"/>
              <a:ext cx="109855" cy="1828800"/>
            </a:xfrm>
            <a:custGeom>
              <a:avLst/>
              <a:gdLst/>
              <a:ahLst/>
              <a:cxnLst/>
              <a:rect l="l" t="t" r="r" b="b"/>
              <a:pathLst>
                <a:path w="109855" h="1828800">
                  <a:moveTo>
                    <a:pt x="109435" y="0"/>
                  </a:moveTo>
                  <a:lnTo>
                    <a:pt x="0" y="0"/>
                  </a:lnTo>
                  <a:lnTo>
                    <a:pt x="0" y="1828431"/>
                  </a:lnTo>
                  <a:lnTo>
                    <a:pt x="54724" y="1828431"/>
                  </a:lnTo>
                  <a:lnTo>
                    <a:pt x="109435" y="1828431"/>
                  </a:lnTo>
                  <a:lnTo>
                    <a:pt x="109435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59457" y="444144"/>
            <a:ext cx="79406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14855" algn="l"/>
                <a:tab pos="2498090" algn="l"/>
                <a:tab pos="3181985" algn="l"/>
                <a:tab pos="4526280" algn="l"/>
              </a:tabLst>
            </a:pPr>
            <a:r>
              <a:rPr dirty="0" spc="625"/>
              <a:t>PHASE</a:t>
            </a:r>
            <a:r>
              <a:rPr dirty="0"/>
              <a:t>	</a:t>
            </a:r>
            <a:r>
              <a:rPr dirty="0" spc="-50"/>
              <a:t>2</a:t>
            </a:r>
            <a:r>
              <a:rPr dirty="0"/>
              <a:t>	</a:t>
            </a:r>
            <a:r>
              <a:rPr dirty="0" spc="875"/>
              <a:t>—</a:t>
            </a:r>
            <a:r>
              <a:rPr dirty="0"/>
              <a:t>	</a:t>
            </a:r>
            <a:r>
              <a:rPr dirty="0" spc="600"/>
              <a:t>RAG</a:t>
            </a:r>
            <a:r>
              <a:rPr dirty="0"/>
              <a:t>	</a:t>
            </a:r>
            <a:r>
              <a:rPr dirty="0" spc="660"/>
              <a:t>BENCHMARK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808456" y="1297343"/>
            <a:ext cx="61309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i="1">
                <a:solidFill>
                  <a:srgbClr val="6A717F"/>
                </a:solidFill>
                <a:latin typeface="Arial"/>
                <a:cs typeface="Arial"/>
              </a:rPr>
              <a:t>Four</a:t>
            </a:r>
            <a:r>
              <a:rPr dirty="0" sz="1400" spc="-1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6A717F"/>
                </a:solidFill>
                <a:latin typeface="Arial"/>
                <a:cs typeface="Arial"/>
              </a:rPr>
              <a:t>RAG</a:t>
            </a:r>
            <a:r>
              <a:rPr dirty="0" sz="1400" spc="-1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6A717F"/>
                </a:solidFill>
                <a:latin typeface="Arial"/>
                <a:cs typeface="Arial"/>
              </a:rPr>
              <a:t>variants</a:t>
            </a:r>
            <a:r>
              <a:rPr dirty="0" sz="1400" spc="-15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6A717F"/>
                </a:solidFill>
                <a:latin typeface="Arial"/>
                <a:cs typeface="Arial"/>
              </a:rPr>
              <a:t>evaluated</a:t>
            </a:r>
            <a:r>
              <a:rPr dirty="0" sz="1400" spc="-5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6A717F"/>
                </a:solidFill>
                <a:latin typeface="Arial"/>
                <a:cs typeface="Arial"/>
              </a:rPr>
              <a:t>head-</a:t>
            </a:r>
            <a:r>
              <a:rPr dirty="0" sz="1400" i="1">
                <a:solidFill>
                  <a:srgbClr val="6A717F"/>
                </a:solidFill>
                <a:latin typeface="Arial"/>
                <a:cs typeface="Arial"/>
              </a:rPr>
              <a:t>to-head</a:t>
            </a:r>
            <a:r>
              <a:rPr dirty="0" sz="1400" spc="-25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6A717F"/>
                </a:solidFill>
                <a:latin typeface="Arial"/>
                <a:cs typeface="Arial"/>
              </a:rPr>
              <a:t>across</a:t>
            </a:r>
            <a:r>
              <a:rPr dirty="0" sz="1400" spc="-1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6A717F"/>
                </a:solidFill>
                <a:latin typeface="Arial"/>
                <a:cs typeface="Arial"/>
              </a:rPr>
              <a:t>three</a:t>
            </a:r>
            <a:r>
              <a:rPr dirty="0" sz="1400" spc="-15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400" i="1">
                <a:solidFill>
                  <a:srgbClr val="6A717F"/>
                </a:solidFill>
                <a:latin typeface="Arial"/>
                <a:cs typeface="Arial"/>
              </a:rPr>
              <a:t>application</a:t>
            </a:r>
            <a:r>
              <a:rPr dirty="0" sz="1400" spc="-2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400" spc="-10" i="1">
                <a:solidFill>
                  <a:srgbClr val="6A717F"/>
                </a:solidFill>
                <a:latin typeface="Arial"/>
                <a:cs typeface="Arial"/>
              </a:rPr>
              <a:t>domains.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31519" y="1737004"/>
            <a:ext cx="109855" cy="1828800"/>
          </a:xfrm>
          <a:custGeom>
            <a:avLst/>
            <a:gdLst/>
            <a:ahLst/>
            <a:cxnLst/>
            <a:rect l="l" t="t" r="r" b="b"/>
            <a:pathLst>
              <a:path w="109855" h="1828800">
                <a:moveTo>
                  <a:pt x="109435" y="0"/>
                </a:moveTo>
                <a:lnTo>
                  <a:pt x="0" y="0"/>
                </a:lnTo>
                <a:lnTo>
                  <a:pt x="0" y="1828431"/>
                </a:lnTo>
                <a:lnTo>
                  <a:pt x="54724" y="1828431"/>
                </a:lnTo>
                <a:lnTo>
                  <a:pt x="109435" y="1828431"/>
                </a:lnTo>
                <a:lnTo>
                  <a:pt x="109435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731519" y="1737004"/>
            <a:ext cx="5349240" cy="1828800"/>
          </a:xfrm>
          <a:prstGeom prst="rect">
            <a:avLst/>
          </a:prstGeom>
          <a:ln w="12599">
            <a:solidFill>
              <a:srgbClr val="E4E6EA"/>
            </a:solidFill>
          </a:ln>
        </p:spPr>
        <p:txBody>
          <a:bodyPr wrap="square" lIns="0" tIns="259080" rIns="0" bIns="0" rtlCol="0" vert="horz">
            <a:spAutoFit/>
          </a:bodyPr>
          <a:lstStyle/>
          <a:p>
            <a:pPr marL="319405">
              <a:lnSpc>
                <a:spcPct val="100000"/>
              </a:lnSpc>
              <a:spcBef>
                <a:spcPts val="2040"/>
              </a:spcBef>
            </a:pPr>
            <a:r>
              <a:rPr dirty="0" sz="2000" b="1">
                <a:solidFill>
                  <a:srgbClr val="191919"/>
                </a:solidFill>
                <a:latin typeface="Trebuchet MS"/>
                <a:cs typeface="Trebuchet MS"/>
              </a:rPr>
              <a:t>No-</a:t>
            </a:r>
            <a:r>
              <a:rPr dirty="0" sz="2000" spc="170" b="1">
                <a:solidFill>
                  <a:srgbClr val="191919"/>
                </a:solidFill>
                <a:latin typeface="Trebuchet MS"/>
                <a:cs typeface="Trebuchet MS"/>
              </a:rPr>
              <a:t>RAG</a:t>
            </a:r>
            <a:endParaRPr sz="2000">
              <a:latin typeface="Trebuchet MS"/>
              <a:cs typeface="Trebuchet MS"/>
            </a:endParaRPr>
          </a:p>
          <a:p>
            <a:pPr marL="409575" marR="252729">
              <a:lnSpc>
                <a:spcPct val="100000"/>
              </a:lnSpc>
              <a:spcBef>
                <a:spcPts val="1675"/>
              </a:spcBef>
            </a:pP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Pure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parametric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baseline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530">
                <a:solidFill>
                  <a:srgbClr val="333333"/>
                </a:solidFill>
                <a:latin typeface="Microsoft Sans Serif"/>
                <a:cs typeface="Microsoft Sans Serif"/>
              </a:rPr>
              <a:t>—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only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LM's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training-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time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memory.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Shows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floor.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6263640" y="1737004"/>
            <a:ext cx="109855" cy="1828800"/>
          </a:xfrm>
          <a:custGeom>
            <a:avLst/>
            <a:gdLst/>
            <a:ahLst/>
            <a:cxnLst/>
            <a:rect l="l" t="t" r="r" b="b"/>
            <a:pathLst>
              <a:path w="109854" h="1828800">
                <a:moveTo>
                  <a:pt x="109435" y="0"/>
                </a:moveTo>
                <a:lnTo>
                  <a:pt x="0" y="0"/>
                </a:lnTo>
                <a:lnTo>
                  <a:pt x="0" y="1828431"/>
                </a:lnTo>
                <a:lnTo>
                  <a:pt x="54724" y="1828431"/>
                </a:lnTo>
                <a:lnTo>
                  <a:pt x="109435" y="1828431"/>
                </a:lnTo>
                <a:lnTo>
                  <a:pt x="109435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263640" y="1737004"/>
            <a:ext cx="5349240" cy="1828800"/>
          </a:xfrm>
          <a:prstGeom prst="rect">
            <a:avLst/>
          </a:prstGeom>
          <a:ln w="12599">
            <a:solidFill>
              <a:srgbClr val="E4E6EA"/>
            </a:solidFill>
          </a:ln>
        </p:spPr>
        <p:txBody>
          <a:bodyPr wrap="square" lIns="0" tIns="259080" rIns="0" bIns="0" rtlCol="0" vert="horz">
            <a:spAutoFit/>
          </a:bodyPr>
          <a:lstStyle/>
          <a:p>
            <a:pPr marL="319405">
              <a:lnSpc>
                <a:spcPct val="100000"/>
              </a:lnSpc>
              <a:spcBef>
                <a:spcPts val="2040"/>
              </a:spcBef>
            </a:pPr>
            <a:r>
              <a:rPr dirty="0" sz="2000" b="1">
                <a:solidFill>
                  <a:srgbClr val="191919"/>
                </a:solidFill>
                <a:latin typeface="Trebuchet MS"/>
                <a:cs typeface="Trebuchet MS"/>
              </a:rPr>
              <a:t>Standard</a:t>
            </a:r>
            <a:r>
              <a:rPr dirty="0" sz="2000" spc="29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2000" spc="170" b="1">
                <a:solidFill>
                  <a:srgbClr val="191919"/>
                </a:solidFill>
                <a:latin typeface="Trebuchet MS"/>
                <a:cs typeface="Trebuchet MS"/>
              </a:rPr>
              <a:t>RAG</a:t>
            </a:r>
            <a:endParaRPr sz="2000">
              <a:latin typeface="Trebuchet MS"/>
              <a:cs typeface="Trebuchet MS"/>
            </a:endParaRPr>
          </a:p>
          <a:p>
            <a:pPr marL="409575" marR="362585">
              <a:lnSpc>
                <a:spcPct val="100000"/>
              </a:lnSpc>
              <a:spcBef>
                <a:spcPts val="1675"/>
              </a:spcBef>
            </a:pPr>
            <a:r>
              <a:rPr dirty="0" sz="1300" spc="-55">
                <a:solidFill>
                  <a:srgbClr val="333333"/>
                </a:solidFill>
                <a:latin typeface="Microsoft Sans Serif"/>
                <a:cs typeface="Microsoft Sans Serif"/>
              </a:rPr>
              <a:t>Top-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k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similarity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retrieval;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all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retrieved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documents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handed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to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the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generator.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31519" y="3840124"/>
            <a:ext cx="5349240" cy="1828800"/>
          </a:xfrm>
          <a:prstGeom prst="rect">
            <a:avLst/>
          </a:prstGeom>
          <a:ln w="12599">
            <a:solidFill>
              <a:srgbClr val="E4E6EA"/>
            </a:solidFill>
          </a:ln>
        </p:spPr>
        <p:txBody>
          <a:bodyPr wrap="square" lIns="0" tIns="259080" rIns="0" bIns="0" rtlCol="0" vert="horz">
            <a:spAutoFit/>
          </a:bodyPr>
          <a:lstStyle/>
          <a:p>
            <a:pPr marL="319405">
              <a:lnSpc>
                <a:spcPct val="100000"/>
              </a:lnSpc>
              <a:spcBef>
                <a:spcPts val="2040"/>
              </a:spcBef>
            </a:pPr>
            <a:r>
              <a:rPr dirty="0" sz="2000" b="1">
                <a:solidFill>
                  <a:srgbClr val="191919"/>
                </a:solidFill>
                <a:latin typeface="Trebuchet MS"/>
                <a:cs typeface="Trebuchet MS"/>
              </a:rPr>
              <a:t>Re-ranking</a:t>
            </a:r>
            <a:r>
              <a:rPr dirty="0" sz="2000" spc="25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2000" spc="170" b="1">
                <a:solidFill>
                  <a:srgbClr val="191919"/>
                </a:solidFill>
                <a:latin typeface="Trebuchet MS"/>
                <a:cs typeface="Trebuchet MS"/>
              </a:rPr>
              <a:t>RAG</a:t>
            </a:r>
            <a:endParaRPr sz="2000">
              <a:latin typeface="Trebuchet MS"/>
              <a:cs typeface="Trebuchet MS"/>
            </a:endParaRPr>
          </a:p>
          <a:p>
            <a:pPr marL="409575" marR="568960">
              <a:lnSpc>
                <a:spcPct val="100000"/>
              </a:lnSpc>
              <a:spcBef>
                <a:spcPts val="1675"/>
              </a:spcBef>
            </a:pP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Standard</a:t>
            </a:r>
            <a:r>
              <a:rPr dirty="0" sz="1300" spc="-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retrieval</a:t>
            </a:r>
            <a:r>
              <a:rPr dirty="0" sz="13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+</a:t>
            </a:r>
            <a:r>
              <a:rPr dirty="0" sz="13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cross-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encoder</a:t>
            </a:r>
            <a:r>
              <a:rPr dirty="0" sz="13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reranker</a:t>
            </a:r>
            <a:r>
              <a:rPr dirty="0" sz="1300" spc="-5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to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reorder</a:t>
            </a:r>
            <a:r>
              <a:rPr dirty="0" sz="1300" spc="-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top-</a:t>
            </a:r>
            <a:r>
              <a:rPr dirty="0" sz="1300" spc="-50">
                <a:solidFill>
                  <a:srgbClr val="333333"/>
                </a:solidFill>
                <a:latin typeface="Microsoft Sans Serif"/>
                <a:cs typeface="Microsoft Sans Serif"/>
              </a:rPr>
              <a:t>k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before</a:t>
            </a:r>
            <a:r>
              <a:rPr dirty="0" sz="1300" spc="-5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generation.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6263640" y="3840124"/>
            <a:ext cx="109855" cy="1828800"/>
          </a:xfrm>
          <a:custGeom>
            <a:avLst/>
            <a:gdLst/>
            <a:ahLst/>
            <a:cxnLst/>
            <a:rect l="l" t="t" r="r" b="b"/>
            <a:pathLst>
              <a:path w="109854" h="1828800">
                <a:moveTo>
                  <a:pt x="109435" y="0"/>
                </a:moveTo>
                <a:lnTo>
                  <a:pt x="0" y="0"/>
                </a:lnTo>
                <a:lnTo>
                  <a:pt x="0" y="1828431"/>
                </a:lnTo>
                <a:lnTo>
                  <a:pt x="54724" y="1828431"/>
                </a:lnTo>
                <a:lnTo>
                  <a:pt x="109435" y="1828431"/>
                </a:lnTo>
                <a:lnTo>
                  <a:pt x="109435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6263640" y="3840124"/>
            <a:ext cx="5349240" cy="1828800"/>
          </a:xfrm>
          <a:prstGeom prst="rect">
            <a:avLst/>
          </a:prstGeom>
          <a:ln w="12599">
            <a:solidFill>
              <a:srgbClr val="E4E6EA"/>
            </a:solidFill>
          </a:ln>
        </p:spPr>
        <p:txBody>
          <a:bodyPr wrap="square" lIns="0" tIns="259080" rIns="0" bIns="0" rtlCol="0" vert="horz">
            <a:spAutoFit/>
          </a:bodyPr>
          <a:lstStyle/>
          <a:p>
            <a:pPr marL="319405">
              <a:lnSpc>
                <a:spcPct val="100000"/>
              </a:lnSpc>
              <a:spcBef>
                <a:spcPts val="2040"/>
              </a:spcBef>
            </a:pPr>
            <a:r>
              <a:rPr dirty="0" sz="2000" b="1">
                <a:solidFill>
                  <a:srgbClr val="191919"/>
                </a:solidFill>
                <a:latin typeface="Trebuchet MS"/>
                <a:cs typeface="Trebuchet MS"/>
              </a:rPr>
              <a:t>Adaptive</a:t>
            </a:r>
            <a:r>
              <a:rPr dirty="0" sz="2000" spc="3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2000" spc="195" b="1">
                <a:solidFill>
                  <a:srgbClr val="191919"/>
                </a:solidFill>
                <a:latin typeface="Trebuchet MS"/>
                <a:cs typeface="Trebuchet MS"/>
              </a:rPr>
              <a:t>RAG</a:t>
            </a:r>
            <a:r>
              <a:rPr dirty="0" sz="2000" spc="45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2000" spc="-10" b="1">
                <a:solidFill>
                  <a:srgbClr val="191919"/>
                </a:solidFill>
                <a:latin typeface="Trebuchet MS"/>
                <a:cs typeface="Trebuchet MS"/>
              </a:rPr>
              <a:t>(rule)</a:t>
            </a:r>
            <a:endParaRPr sz="2000">
              <a:latin typeface="Trebuchet MS"/>
              <a:cs typeface="Trebuchet MS"/>
            </a:endParaRPr>
          </a:p>
          <a:p>
            <a:pPr marL="409575" marR="381000">
              <a:lnSpc>
                <a:spcPct val="100000"/>
              </a:lnSpc>
              <a:spcBef>
                <a:spcPts val="1675"/>
              </a:spcBef>
            </a:pP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Hand-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tuned</a:t>
            </a:r>
            <a:r>
              <a:rPr dirty="0" sz="13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13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weights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filter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documents</a:t>
            </a:r>
            <a:r>
              <a:rPr dirty="0" sz="13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530">
                <a:solidFill>
                  <a:srgbClr val="333333"/>
                </a:solidFill>
                <a:latin typeface="Microsoft Sans Serif"/>
                <a:cs typeface="Microsoft Sans Serif"/>
              </a:rPr>
              <a:t>—</a:t>
            </a:r>
            <a:r>
              <a:rPr dirty="0" sz="13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our</a:t>
            </a:r>
            <a:r>
              <a:rPr dirty="0" sz="13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control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for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fixed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thresholds.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731164" y="6034684"/>
            <a:ext cx="10698480" cy="457200"/>
          </a:xfrm>
          <a:custGeom>
            <a:avLst/>
            <a:gdLst/>
            <a:ahLst/>
            <a:cxnLst/>
            <a:rect l="l" t="t" r="r" b="b"/>
            <a:pathLst>
              <a:path w="10698480" h="457200">
                <a:moveTo>
                  <a:pt x="10698111" y="0"/>
                </a:moveTo>
                <a:lnTo>
                  <a:pt x="0" y="0"/>
                </a:lnTo>
                <a:lnTo>
                  <a:pt x="0" y="456831"/>
                </a:lnTo>
                <a:lnTo>
                  <a:pt x="5349240" y="456831"/>
                </a:lnTo>
                <a:lnTo>
                  <a:pt x="10698111" y="456831"/>
                </a:lnTo>
                <a:lnTo>
                  <a:pt x="10698111" y="0"/>
                </a:lnTo>
                <a:close/>
              </a:path>
            </a:pathLst>
          </a:custGeom>
          <a:solidFill>
            <a:srgbClr val="F2F3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991336" y="6159131"/>
            <a:ext cx="85013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Key</a:t>
            </a:r>
            <a:r>
              <a:rPr dirty="0" sz="1200" spc="-2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finding:</a:t>
            </a:r>
            <a:r>
              <a:rPr dirty="0" sz="1200" spc="-1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rule-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based</a:t>
            </a:r>
            <a:r>
              <a:rPr dirty="0" sz="1200" spc="-7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Adaptive</a:t>
            </a:r>
            <a:r>
              <a:rPr dirty="0" sz="1200" spc="-2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RAG</a:t>
            </a:r>
            <a:r>
              <a:rPr dirty="0" sz="1200" spc="-1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drops</a:t>
            </a:r>
            <a:r>
              <a:rPr dirty="0" sz="1200" spc="-1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F1</a:t>
            </a:r>
            <a:r>
              <a:rPr dirty="0" sz="1200" spc="-2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dirty="0" sz="1200" spc="-2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0.55</a:t>
            </a: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on</a:t>
            </a:r>
            <a:r>
              <a:rPr dirty="0" sz="1200" spc="-2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QA</a:t>
            </a:r>
            <a:r>
              <a:rPr dirty="0" sz="1200" spc="-6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vs</a:t>
            </a:r>
            <a:r>
              <a:rPr dirty="0" sz="1200" spc="-2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0.73</a:t>
            </a:r>
            <a:r>
              <a:rPr dirty="0" sz="1200" spc="-1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dirty="0" sz="1200" spc="-2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Standard</a:t>
            </a:r>
            <a:r>
              <a:rPr dirty="0" sz="1200" spc="-1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RAG</a:t>
            </a:r>
            <a:r>
              <a:rPr dirty="0" sz="1200" spc="-2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—</a:t>
            </a:r>
            <a:r>
              <a:rPr dirty="0" sz="1200" spc="-1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fixed</a:t>
            </a:r>
            <a:r>
              <a:rPr dirty="0" sz="1200" spc="-2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weights</a:t>
            </a:r>
            <a:r>
              <a:rPr dirty="0" sz="1200" spc="-2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hurt</a:t>
            </a:r>
            <a:r>
              <a:rPr dirty="0" sz="1200" spc="-1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more</a:t>
            </a: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than</a:t>
            </a:r>
            <a:r>
              <a:rPr dirty="0" sz="1200" spc="-2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help.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3902" y="444144"/>
            <a:ext cx="85299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14855" algn="l"/>
                <a:tab pos="2498090" algn="l"/>
                <a:tab pos="3165475" algn="l"/>
              </a:tabLst>
            </a:pPr>
            <a:r>
              <a:rPr dirty="0" spc="625"/>
              <a:t>PHASE</a:t>
            </a:r>
            <a:r>
              <a:rPr dirty="0"/>
              <a:t>	</a:t>
            </a:r>
            <a:r>
              <a:rPr dirty="0" spc="-50"/>
              <a:t>3</a:t>
            </a:r>
            <a:r>
              <a:rPr dirty="0"/>
              <a:t>	</a:t>
            </a:r>
            <a:r>
              <a:rPr dirty="0" spc="875"/>
              <a:t>—</a:t>
            </a:r>
            <a:r>
              <a:rPr dirty="0"/>
              <a:t>	</a:t>
            </a:r>
            <a:r>
              <a:rPr dirty="0" spc="520"/>
              <a:t>ADAPTIVE-</a:t>
            </a:r>
            <a:r>
              <a:rPr dirty="0" spc="-685"/>
              <a:t> </a:t>
            </a:r>
            <a:r>
              <a:rPr dirty="0" spc="520"/>
              <a:t>SLM-</a:t>
            </a:r>
            <a:r>
              <a:rPr dirty="0" spc="-680"/>
              <a:t> </a:t>
            </a:r>
            <a:r>
              <a:rPr dirty="0" spc="600"/>
              <a:t>RAG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548284" y="1828444"/>
            <a:ext cx="1463040" cy="1371600"/>
          </a:xfrm>
          <a:custGeom>
            <a:avLst/>
            <a:gdLst/>
            <a:ahLst/>
            <a:cxnLst/>
            <a:rect l="l" t="t" r="r" b="b"/>
            <a:pathLst>
              <a:path w="1463039" h="1371600">
                <a:moveTo>
                  <a:pt x="0" y="73075"/>
                </a:moveTo>
                <a:lnTo>
                  <a:pt x="607" y="63442"/>
                </a:lnTo>
                <a:lnTo>
                  <a:pt x="2428" y="54041"/>
                </a:lnTo>
                <a:lnTo>
                  <a:pt x="28698" y="15091"/>
                </a:lnTo>
                <a:lnTo>
                  <a:pt x="73075" y="0"/>
                </a:lnTo>
                <a:lnTo>
                  <a:pt x="1389595" y="0"/>
                </a:lnTo>
                <a:lnTo>
                  <a:pt x="1434123" y="15096"/>
                </a:lnTo>
                <a:lnTo>
                  <a:pt x="1460242" y="54219"/>
                </a:lnTo>
                <a:lnTo>
                  <a:pt x="1462671" y="73075"/>
                </a:lnTo>
                <a:lnTo>
                  <a:pt x="1463040" y="1298155"/>
                </a:lnTo>
                <a:lnTo>
                  <a:pt x="1462432" y="1307789"/>
                </a:lnTo>
                <a:lnTo>
                  <a:pt x="1460609" y="1317190"/>
                </a:lnTo>
                <a:lnTo>
                  <a:pt x="1434329" y="1356140"/>
                </a:lnTo>
                <a:lnTo>
                  <a:pt x="1389951" y="1371231"/>
                </a:lnTo>
                <a:lnTo>
                  <a:pt x="73075" y="1371600"/>
                </a:lnTo>
                <a:lnTo>
                  <a:pt x="28548" y="1356490"/>
                </a:lnTo>
                <a:lnTo>
                  <a:pt x="2428" y="1317367"/>
                </a:lnTo>
                <a:lnTo>
                  <a:pt x="0" y="1298511"/>
                </a:lnTo>
                <a:lnTo>
                  <a:pt x="0" y="73075"/>
                </a:lnTo>
                <a:close/>
              </a:path>
            </a:pathLst>
          </a:custGeom>
          <a:ln w="19079">
            <a:solidFill>
              <a:srgbClr val="19191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46784" y="2410091"/>
            <a:ext cx="4648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91919"/>
                </a:solidFill>
                <a:latin typeface="Trebuchet MS"/>
                <a:cs typeface="Trebuchet MS"/>
              </a:rPr>
              <a:t>Query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2331364" y="1828444"/>
            <a:ext cx="1828800" cy="1371600"/>
          </a:xfrm>
          <a:custGeom>
            <a:avLst/>
            <a:gdLst/>
            <a:ahLst/>
            <a:cxnLst/>
            <a:rect l="l" t="t" r="r" b="b"/>
            <a:pathLst>
              <a:path w="1828800" h="1371600">
                <a:moveTo>
                  <a:pt x="17553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58"/>
                </a:lnTo>
                <a:lnTo>
                  <a:pt x="607" y="63442"/>
                </a:lnTo>
                <a:lnTo>
                  <a:pt x="0" y="73075"/>
                </a:lnTo>
                <a:lnTo>
                  <a:pt x="0" y="1298511"/>
                </a:lnTo>
                <a:lnTo>
                  <a:pt x="594" y="1307789"/>
                </a:lnTo>
                <a:lnTo>
                  <a:pt x="607" y="1307989"/>
                </a:lnTo>
                <a:lnTo>
                  <a:pt x="2394" y="1317190"/>
                </a:lnTo>
                <a:lnTo>
                  <a:pt x="2428" y="1317367"/>
                </a:lnTo>
                <a:lnTo>
                  <a:pt x="5412" y="1326252"/>
                </a:lnTo>
                <a:lnTo>
                  <a:pt x="36360" y="1361871"/>
                </a:lnTo>
                <a:lnTo>
                  <a:pt x="73075" y="1371600"/>
                </a:lnTo>
                <a:lnTo>
                  <a:pt x="1755711" y="1371231"/>
                </a:lnTo>
                <a:lnTo>
                  <a:pt x="1800089" y="1356140"/>
                </a:lnTo>
                <a:lnTo>
                  <a:pt x="1823252" y="1326407"/>
                </a:lnTo>
                <a:lnTo>
                  <a:pt x="1823329" y="1326252"/>
                </a:lnTo>
                <a:lnTo>
                  <a:pt x="1826309" y="1317367"/>
                </a:lnTo>
                <a:lnTo>
                  <a:pt x="1826369" y="1317190"/>
                </a:lnTo>
                <a:lnTo>
                  <a:pt x="1828153" y="1307989"/>
                </a:lnTo>
                <a:lnTo>
                  <a:pt x="1828192" y="1307789"/>
                </a:lnTo>
                <a:lnTo>
                  <a:pt x="1828777" y="1298511"/>
                </a:lnTo>
                <a:lnTo>
                  <a:pt x="1828800" y="1298155"/>
                </a:lnTo>
                <a:lnTo>
                  <a:pt x="1828431" y="73075"/>
                </a:lnTo>
                <a:lnTo>
                  <a:pt x="1813340" y="28698"/>
                </a:lnTo>
                <a:lnTo>
                  <a:pt x="1774390" y="2428"/>
                </a:lnTo>
                <a:lnTo>
                  <a:pt x="1764989" y="607"/>
                </a:lnTo>
                <a:lnTo>
                  <a:pt x="175535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2663545" y="2227211"/>
            <a:ext cx="11626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Trebuchet MS"/>
                <a:cs typeface="Trebuchet MS"/>
              </a:rPr>
              <a:t>Hybrid Retriever</a:t>
            </a:r>
            <a:r>
              <a:rPr dirty="0" sz="1200" spc="5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(BM25</a:t>
            </a:r>
            <a:r>
              <a:rPr dirty="0" sz="1200" spc="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r>
              <a:rPr dirty="0" sz="1200" spc="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Trebuchet MS"/>
                <a:cs typeface="Trebuchet MS"/>
              </a:rPr>
              <a:t>Dense)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4480204" y="1828444"/>
            <a:ext cx="1554480" cy="1371600"/>
          </a:xfrm>
          <a:custGeom>
            <a:avLst/>
            <a:gdLst/>
            <a:ahLst/>
            <a:cxnLst/>
            <a:rect l="l" t="t" r="r" b="b"/>
            <a:pathLst>
              <a:path w="1554479" h="1371600">
                <a:moveTo>
                  <a:pt x="0" y="73075"/>
                </a:moveTo>
                <a:lnTo>
                  <a:pt x="607" y="63442"/>
                </a:lnTo>
                <a:lnTo>
                  <a:pt x="2428" y="54041"/>
                </a:lnTo>
                <a:lnTo>
                  <a:pt x="28698" y="15091"/>
                </a:lnTo>
                <a:lnTo>
                  <a:pt x="73075" y="0"/>
                </a:lnTo>
                <a:lnTo>
                  <a:pt x="1481035" y="0"/>
                </a:lnTo>
                <a:lnTo>
                  <a:pt x="1525563" y="15096"/>
                </a:lnTo>
                <a:lnTo>
                  <a:pt x="1551682" y="54219"/>
                </a:lnTo>
                <a:lnTo>
                  <a:pt x="1554111" y="73075"/>
                </a:lnTo>
                <a:lnTo>
                  <a:pt x="1554480" y="1298155"/>
                </a:lnTo>
                <a:lnTo>
                  <a:pt x="1553872" y="1307789"/>
                </a:lnTo>
                <a:lnTo>
                  <a:pt x="1552049" y="1317190"/>
                </a:lnTo>
                <a:lnTo>
                  <a:pt x="1525769" y="1356140"/>
                </a:lnTo>
                <a:lnTo>
                  <a:pt x="1481391" y="1371231"/>
                </a:lnTo>
                <a:lnTo>
                  <a:pt x="73075" y="1371600"/>
                </a:lnTo>
                <a:lnTo>
                  <a:pt x="28548" y="1356490"/>
                </a:lnTo>
                <a:lnTo>
                  <a:pt x="2428" y="1317367"/>
                </a:lnTo>
                <a:lnTo>
                  <a:pt x="0" y="1298511"/>
                </a:lnTo>
                <a:lnTo>
                  <a:pt x="0" y="73075"/>
                </a:lnTo>
                <a:close/>
              </a:path>
            </a:pathLst>
          </a:custGeom>
          <a:ln w="19079">
            <a:solidFill>
              <a:srgbClr val="19191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830025" y="2318651"/>
            <a:ext cx="8528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12725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191919"/>
                </a:solidFill>
                <a:latin typeface="Trebuchet MS"/>
                <a:cs typeface="Trebuchet MS"/>
              </a:rPr>
              <a:t>Top-</a:t>
            </a:r>
            <a:r>
              <a:rPr dirty="0" sz="1200" spc="-50" b="1">
                <a:solidFill>
                  <a:srgbClr val="191919"/>
                </a:solidFill>
                <a:latin typeface="Trebuchet MS"/>
                <a:cs typeface="Trebuchet MS"/>
              </a:rPr>
              <a:t>k </a:t>
            </a:r>
            <a:r>
              <a:rPr dirty="0" sz="1200" spc="-10" b="1">
                <a:solidFill>
                  <a:srgbClr val="191919"/>
                </a:solidFill>
                <a:latin typeface="Trebuchet MS"/>
                <a:cs typeface="Trebuchet MS"/>
              </a:rPr>
              <a:t>Documents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6355079" y="1828444"/>
            <a:ext cx="1965960" cy="1371600"/>
          </a:xfrm>
          <a:custGeom>
            <a:avLst/>
            <a:gdLst/>
            <a:ahLst/>
            <a:cxnLst/>
            <a:rect l="l" t="t" r="r" b="b"/>
            <a:pathLst>
              <a:path w="1965959" h="1371600">
                <a:moveTo>
                  <a:pt x="1892515" y="0"/>
                </a:moveTo>
                <a:lnTo>
                  <a:pt x="73075" y="0"/>
                </a:lnTo>
                <a:lnTo>
                  <a:pt x="63599" y="607"/>
                </a:lnTo>
                <a:lnTo>
                  <a:pt x="21428" y="21458"/>
                </a:lnTo>
                <a:lnTo>
                  <a:pt x="607" y="63442"/>
                </a:lnTo>
                <a:lnTo>
                  <a:pt x="0" y="73075"/>
                </a:lnTo>
                <a:lnTo>
                  <a:pt x="0" y="1298511"/>
                </a:lnTo>
                <a:lnTo>
                  <a:pt x="15098" y="1342889"/>
                </a:lnTo>
                <a:lnTo>
                  <a:pt x="54046" y="1369169"/>
                </a:lnTo>
                <a:lnTo>
                  <a:pt x="73075" y="1371600"/>
                </a:lnTo>
                <a:lnTo>
                  <a:pt x="1892884" y="1371231"/>
                </a:lnTo>
                <a:lnTo>
                  <a:pt x="1937254" y="1356140"/>
                </a:lnTo>
                <a:lnTo>
                  <a:pt x="1963471" y="1317367"/>
                </a:lnTo>
                <a:lnTo>
                  <a:pt x="1965314" y="1307989"/>
                </a:lnTo>
                <a:lnTo>
                  <a:pt x="1965352" y="1307789"/>
                </a:lnTo>
                <a:lnTo>
                  <a:pt x="1965937" y="1298511"/>
                </a:lnTo>
                <a:lnTo>
                  <a:pt x="1965960" y="1298155"/>
                </a:lnTo>
                <a:lnTo>
                  <a:pt x="1965604" y="73075"/>
                </a:lnTo>
                <a:lnTo>
                  <a:pt x="1950500" y="28698"/>
                </a:lnTo>
                <a:lnTo>
                  <a:pt x="1911556" y="2428"/>
                </a:lnTo>
                <a:lnTo>
                  <a:pt x="1902155" y="607"/>
                </a:lnTo>
                <a:lnTo>
                  <a:pt x="1892515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765023" y="2227211"/>
            <a:ext cx="11442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127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Trebuchet MS"/>
                <a:cs typeface="Trebuchet MS"/>
              </a:rPr>
              <a:t>Confidence Predictor 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(MiniLM</a:t>
            </a:r>
            <a:r>
              <a:rPr dirty="0" sz="1200" spc="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+</a:t>
            </a:r>
            <a:r>
              <a:rPr dirty="0" sz="1200" spc="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30" b="1">
                <a:solidFill>
                  <a:srgbClr val="FFFFFF"/>
                </a:solidFill>
                <a:latin typeface="Trebuchet MS"/>
                <a:cs typeface="Trebuchet MS"/>
              </a:rPr>
              <a:t>MLP)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8640724" y="1828444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371600" h="1371600">
                <a:moveTo>
                  <a:pt x="129815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58"/>
                </a:lnTo>
                <a:lnTo>
                  <a:pt x="607" y="63442"/>
                </a:lnTo>
                <a:lnTo>
                  <a:pt x="0" y="73075"/>
                </a:lnTo>
                <a:lnTo>
                  <a:pt x="0" y="1298511"/>
                </a:lnTo>
                <a:lnTo>
                  <a:pt x="594" y="1307789"/>
                </a:lnTo>
                <a:lnTo>
                  <a:pt x="607" y="1307989"/>
                </a:lnTo>
                <a:lnTo>
                  <a:pt x="2394" y="1317190"/>
                </a:lnTo>
                <a:lnTo>
                  <a:pt x="2428" y="1317367"/>
                </a:lnTo>
                <a:lnTo>
                  <a:pt x="5412" y="1326252"/>
                </a:lnTo>
                <a:lnTo>
                  <a:pt x="5464" y="1326407"/>
                </a:lnTo>
                <a:lnTo>
                  <a:pt x="36360" y="1361871"/>
                </a:lnTo>
                <a:lnTo>
                  <a:pt x="73075" y="1371600"/>
                </a:lnTo>
                <a:lnTo>
                  <a:pt x="1298511" y="1371231"/>
                </a:lnTo>
                <a:lnTo>
                  <a:pt x="1342889" y="1356140"/>
                </a:lnTo>
                <a:lnTo>
                  <a:pt x="1369109" y="1317367"/>
                </a:lnTo>
                <a:lnTo>
                  <a:pt x="1370953" y="1307989"/>
                </a:lnTo>
                <a:lnTo>
                  <a:pt x="1370992" y="1307789"/>
                </a:lnTo>
                <a:lnTo>
                  <a:pt x="1371577" y="1298511"/>
                </a:lnTo>
                <a:lnTo>
                  <a:pt x="1371600" y="1298155"/>
                </a:lnTo>
                <a:lnTo>
                  <a:pt x="1371231" y="73075"/>
                </a:lnTo>
                <a:lnTo>
                  <a:pt x="1356140" y="28698"/>
                </a:lnTo>
                <a:lnTo>
                  <a:pt x="1317190" y="2428"/>
                </a:lnTo>
                <a:lnTo>
                  <a:pt x="1307789" y="607"/>
                </a:lnTo>
                <a:lnTo>
                  <a:pt x="129815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9087383" y="2318651"/>
            <a:ext cx="47688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000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Trebuchet MS"/>
                <a:cs typeface="Trebuchet MS"/>
              </a:rPr>
              <a:t>Filter 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τ</a:t>
            </a:r>
            <a:r>
              <a:rPr dirty="0" sz="1200" spc="-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dirty="0" sz="1200" spc="-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80" b="1">
                <a:solidFill>
                  <a:srgbClr val="FFFFFF"/>
                </a:solidFill>
                <a:latin typeface="Trebuchet MS"/>
                <a:cs typeface="Trebuchet MS"/>
              </a:rPr>
              <a:t>0.3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0332364" y="1828444"/>
            <a:ext cx="1280160" cy="1371600"/>
          </a:xfrm>
          <a:custGeom>
            <a:avLst/>
            <a:gdLst/>
            <a:ahLst/>
            <a:cxnLst/>
            <a:rect l="l" t="t" r="r" b="b"/>
            <a:pathLst>
              <a:path w="1280159" h="1371600">
                <a:moveTo>
                  <a:pt x="120671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58"/>
                </a:lnTo>
                <a:lnTo>
                  <a:pt x="607" y="63442"/>
                </a:lnTo>
                <a:lnTo>
                  <a:pt x="0" y="73075"/>
                </a:lnTo>
                <a:lnTo>
                  <a:pt x="0" y="1298511"/>
                </a:lnTo>
                <a:lnTo>
                  <a:pt x="594" y="1307789"/>
                </a:lnTo>
                <a:lnTo>
                  <a:pt x="607" y="1307989"/>
                </a:lnTo>
                <a:lnTo>
                  <a:pt x="2394" y="1317190"/>
                </a:lnTo>
                <a:lnTo>
                  <a:pt x="2428" y="1317367"/>
                </a:lnTo>
                <a:lnTo>
                  <a:pt x="5412" y="1326252"/>
                </a:lnTo>
                <a:lnTo>
                  <a:pt x="5464" y="1326407"/>
                </a:lnTo>
                <a:lnTo>
                  <a:pt x="36360" y="1361871"/>
                </a:lnTo>
                <a:lnTo>
                  <a:pt x="73075" y="1371600"/>
                </a:lnTo>
                <a:lnTo>
                  <a:pt x="1207071" y="1371231"/>
                </a:lnTo>
                <a:lnTo>
                  <a:pt x="1251449" y="1356140"/>
                </a:lnTo>
                <a:lnTo>
                  <a:pt x="1277669" y="1317367"/>
                </a:lnTo>
                <a:lnTo>
                  <a:pt x="1279513" y="1307989"/>
                </a:lnTo>
                <a:lnTo>
                  <a:pt x="1279552" y="1307789"/>
                </a:lnTo>
                <a:lnTo>
                  <a:pt x="1280137" y="1298511"/>
                </a:lnTo>
                <a:lnTo>
                  <a:pt x="1280159" y="1298155"/>
                </a:lnTo>
                <a:lnTo>
                  <a:pt x="1279791" y="73075"/>
                </a:lnTo>
                <a:lnTo>
                  <a:pt x="1264700" y="28698"/>
                </a:lnTo>
                <a:lnTo>
                  <a:pt x="1225750" y="2428"/>
                </a:lnTo>
                <a:lnTo>
                  <a:pt x="1216349" y="607"/>
                </a:lnTo>
                <a:lnTo>
                  <a:pt x="120671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0591457" y="2318651"/>
            <a:ext cx="7594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44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FFFFFF"/>
                </a:solidFill>
                <a:latin typeface="Trebuchet MS"/>
                <a:cs typeface="Trebuchet MS"/>
              </a:rPr>
              <a:t>Generator </a:t>
            </a:r>
            <a:r>
              <a:rPr dirty="0" sz="1200" b="1">
                <a:solidFill>
                  <a:srgbClr val="FFFFFF"/>
                </a:solidFill>
                <a:latin typeface="Trebuchet MS"/>
                <a:cs typeface="Trebuchet MS"/>
              </a:rPr>
              <a:t>(FLAN-</a:t>
            </a:r>
            <a:r>
              <a:rPr dirty="0" sz="1200" spc="-40" b="1">
                <a:solidFill>
                  <a:srgbClr val="FFFFFF"/>
                </a:solidFill>
                <a:latin typeface="Trebuchet MS"/>
                <a:cs typeface="Trebuchet MS"/>
              </a:rPr>
              <a:t>T5)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2016896" y="2476436"/>
            <a:ext cx="8297545" cy="76835"/>
            <a:chOff x="2016896" y="2476436"/>
            <a:chExt cx="8297545" cy="76835"/>
          </a:xfrm>
        </p:grpSpPr>
        <p:sp>
          <p:nvSpPr>
            <p:cNvPr id="16" name="object 16" descr=""/>
            <p:cNvSpPr/>
            <p:nvPr/>
          </p:nvSpPr>
          <p:spPr>
            <a:xfrm>
              <a:off x="2029675" y="2514599"/>
              <a:ext cx="212090" cy="635"/>
            </a:xfrm>
            <a:custGeom>
              <a:avLst/>
              <a:gdLst/>
              <a:ahLst/>
              <a:cxnLst/>
              <a:rect l="l" t="t" r="r" b="b"/>
              <a:pathLst>
                <a:path w="212089" h="635">
                  <a:moveTo>
                    <a:pt x="0" y="0"/>
                  </a:moveTo>
                  <a:lnTo>
                    <a:pt x="212039" y="355"/>
                  </a:lnTo>
                </a:path>
              </a:pathLst>
            </a:custGeom>
            <a:ln w="25559">
              <a:solidFill>
                <a:srgbClr val="6A71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236685" y="247643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682"/>
                  </a:lnTo>
                  <a:lnTo>
                    <a:pt x="76669" y="38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71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178515" y="2514599"/>
              <a:ext cx="212090" cy="635"/>
            </a:xfrm>
            <a:custGeom>
              <a:avLst/>
              <a:gdLst/>
              <a:ahLst/>
              <a:cxnLst/>
              <a:rect l="l" t="t" r="r" b="b"/>
              <a:pathLst>
                <a:path w="212089" h="635">
                  <a:moveTo>
                    <a:pt x="0" y="0"/>
                  </a:moveTo>
                  <a:lnTo>
                    <a:pt x="212039" y="355"/>
                  </a:lnTo>
                </a:path>
              </a:pathLst>
            </a:custGeom>
            <a:ln w="25559">
              <a:solidFill>
                <a:srgbClr val="6A71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385525" y="247643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682"/>
                  </a:lnTo>
                  <a:lnTo>
                    <a:pt x="76669" y="38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71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053035" y="2514599"/>
              <a:ext cx="212090" cy="635"/>
            </a:xfrm>
            <a:custGeom>
              <a:avLst/>
              <a:gdLst/>
              <a:ahLst/>
              <a:cxnLst/>
              <a:rect l="l" t="t" r="r" b="b"/>
              <a:pathLst>
                <a:path w="212089" h="635">
                  <a:moveTo>
                    <a:pt x="0" y="0"/>
                  </a:moveTo>
                  <a:lnTo>
                    <a:pt x="212039" y="355"/>
                  </a:lnTo>
                </a:path>
              </a:pathLst>
            </a:custGeom>
            <a:ln w="25559">
              <a:solidFill>
                <a:srgbClr val="6A71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260045" y="247643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682"/>
                  </a:lnTo>
                  <a:lnTo>
                    <a:pt x="76669" y="38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71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339035" y="2514599"/>
              <a:ext cx="212090" cy="635"/>
            </a:xfrm>
            <a:custGeom>
              <a:avLst/>
              <a:gdLst/>
              <a:ahLst/>
              <a:cxnLst/>
              <a:rect l="l" t="t" r="r" b="b"/>
              <a:pathLst>
                <a:path w="212090" h="635">
                  <a:moveTo>
                    <a:pt x="0" y="0"/>
                  </a:moveTo>
                  <a:lnTo>
                    <a:pt x="212039" y="355"/>
                  </a:lnTo>
                </a:path>
              </a:pathLst>
            </a:custGeom>
            <a:ln w="25559">
              <a:solidFill>
                <a:srgbClr val="6A71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546045" y="247643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4" h="76835">
                  <a:moveTo>
                    <a:pt x="0" y="0"/>
                  </a:moveTo>
                  <a:lnTo>
                    <a:pt x="0" y="76682"/>
                  </a:lnTo>
                  <a:lnTo>
                    <a:pt x="76669" y="38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71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0030675" y="2514599"/>
              <a:ext cx="212090" cy="635"/>
            </a:xfrm>
            <a:custGeom>
              <a:avLst/>
              <a:gdLst/>
              <a:ahLst/>
              <a:cxnLst/>
              <a:rect l="l" t="t" r="r" b="b"/>
              <a:pathLst>
                <a:path w="212090" h="635">
                  <a:moveTo>
                    <a:pt x="0" y="0"/>
                  </a:moveTo>
                  <a:lnTo>
                    <a:pt x="212039" y="355"/>
                  </a:lnTo>
                </a:path>
              </a:pathLst>
            </a:custGeom>
            <a:ln w="25559">
              <a:solidFill>
                <a:srgbClr val="6A71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237685" y="247643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4" h="76835">
                  <a:moveTo>
                    <a:pt x="0" y="0"/>
                  </a:moveTo>
                  <a:lnTo>
                    <a:pt x="0" y="76682"/>
                  </a:lnTo>
                  <a:lnTo>
                    <a:pt x="76669" y="38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717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718819" y="3720503"/>
            <a:ext cx="5255260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0C9387"/>
                </a:solidFill>
                <a:latin typeface="Trebuchet MS"/>
                <a:cs typeface="Trebuchet MS"/>
              </a:rPr>
              <a:t>Encoder</a:t>
            </a:r>
            <a:endParaRPr sz="1400">
              <a:latin typeface="Trebuchet MS"/>
              <a:cs typeface="Trebuchet MS"/>
            </a:endParaRPr>
          </a:p>
          <a:p>
            <a:pPr marL="102235" marR="5080">
              <a:lnSpc>
                <a:spcPct val="100000"/>
              </a:lnSpc>
              <a:spcBef>
                <a:spcPts val="955"/>
              </a:spcBef>
            </a:pP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all-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MiniLM-L6-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v2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495">
                <a:solidFill>
                  <a:srgbClr val="333333"/>
                </a:solidFill>
                <a:latin typeface="Microsoft Sans Serif"/>
                <a:cs typeface="Microsoft Sans Serif"/>
              </a:rPr>
              <a:t>—</a:t>
            </a:r>
            <a:r>
              <a:rPr dirty="0" sz="12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22M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parameters,</a:t>
            </a:r>
            <a:r>
              <a:rPr dirty="0" sz="12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384-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dim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sentence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embeddings,</a:t>
            </a:r>
            <a:r>
              <a:rPr dirty="0" sz="12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frozen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during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training.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0" name="object 3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12</a:t>
            </a:r>
          </a:p>
        </p:txBody>
      </p:sp>
      <p:sp>
        <p:nvSpPr>
          <p:cNvPr id="27" name="object 27" descr=""/>
          <p:cNvSpPr txBox="1"/>
          <p:nvPr/>
        </p:nvSpPr>
        <p:spPr>
          <a:xfrm>
            <a:off x="6250940" y="3720503"/>
            <a:ext cx="4454525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C9387"/>
                </a:solidFill>
                <a:latin typeface="Trebuchet MS"/>
                <a:cs typeface="Trebuchet MS"/>
              </a:rPr>
              <a:t>Predictor</a:t>
            </a:r>
            <a:r>
              <a:rPr dirty="0" sz="1400" spc="-40" b="1">
                <a:solidFill>
                  <a:srgbClr val="0C9387"/>
                </a:solidFill>
                <a:latin typeface="Trebuchet MS"/>
                <a:cs typeface="Trebuchet MS"/>
              </a:rPr>
              <a:t> </a:t>
            </a:r>
            <a:r>
              <a:rPr dirty="0" sz="1400" spc="-20" b="1">
                <a:solidFill>
                  <a:srgbClr val="0C9387"/>
                </a:solidFill>
                <a:latin typeface="Trebuchet MS"/>
                <a:cs typeface="Trebuchet MS"/>
              </a:rPr>
              <a:t>Head</a:t>
            </a:r>
            <a:endParaRPr sz="1400">
              <a:latin typeface="Trebuchet MS"/>
              <a:cs typeface="Trebuchet MS"/>
            </a:endParaRPr>
          </a:p>
          <a:p>
            <a:pPr marL="102235" marR="5080">
              <a:lnSpc>
                <a:spcPct val="100000"/>
              </a:lnSpc>
              <a:spcBef>
                <a:spcPts val="955"/>
              </a:spcBef>
            </a:pPr>
            <a:r>
              <a:rPr dirty="0" sz="1200" spc="-35">
                <a:solidFill>
                  <a:srgbClr val="333333"/>
                </a:solidFill>
                <a:latin typeface="Microsoft Sans Serif"/>
                <a:cs typeface="Microsoft Sans Serif"/>
              </a:rPr>
              <a:t>Two-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layer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MLP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(768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→ 128 →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1)</a:t>
            </a:r>
            <a:r>
              <a:rPr dirty="0" sz="12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over</a:t>
            </a:r>
            <a:r>
              <a:rPr dirty="0" sz="12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concatenated</a:t>
            </a:r>
            <a:r>
              <a:rPr dirty="0" sz="12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[query,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doc]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embeddings;</a:t>
            </a:r>
            <a:r>
              <a:rPr dirty="0" sz="1200" spc="-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sigmoid</a:t>
            </a:r>
            <a:r>
              <a:rPr dirty="0" sz="1200" spc="-6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output.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18819" y="5046383"/>
            <a:ext cx="5091430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C9387"/>
                </a:solidFill>
                <a:latin typeface="Trebuchet MS"/>
                <a:cs typeface="Trebuchet MS"/>
              </a:rPr>
              <a:t>Training</a:t>
            </a:r>
            <a:r>
              <a:rPr dirty="0" sz="1400" spc="-20" b="1">
                <a:solidFill>
                  <a:srgbClr val="0C9387"/>
                </a:solidFill>
                <a:latin typeface="Trebuchet MS"/>
                <a:cs typeface="Trebuchet MS"/>
              </a:rPr>
              <a:t> Data</a:t>
            </a:r>
            <a:endParaRPr sz="1400">
              <a:latin typeface="Trebuchet MS"/>
              <a:cs typeface="Trebuchet MS"/>
            </a:endParaRPr>
          </a:p>
          <a:p>
            <a:pPr marL="102235" marR="5080">
              <a:lnSpc>
                <a:spcPct val="100000"/>
              </a:lnSpc>
              <a:spcBef>
                <a:spcPts val="955"/>
              </a:spcBef>
            </a:pP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1,350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(query,</a:t>
            </a:r>
            <a:r>
              <a:rPr dirty="0" sz="12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document,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relevance)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triples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auto-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built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from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QA</a:t>
            </a:r>
            <a:r>
              <a:rPr dirty="0" sz="1200" spc="-8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sentiment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0">
                <a:solidFill>
                  <a:srgbClr val="333333"/>
                </a:solidFill>
                <a:latin typeface="Microsoft Sans Serif"/>
                <a:cs typeface="Microsoft Sans Serif"/>
              </a:rPr>
              <a:t>/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summarisation</a:t>
            </a:r>
            <a:r>
              <a:rPr dirty="0" sz="1200" spc="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corpora.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250940" y="5046383"/>
            <a:ext cx="5248275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0C9387"/>
                </a:solidFill>
                <a:latin typeface="Trebuchet MS"/>
                <a:cs typeface="Trebuchet MS"/>
              </a:rPr>
              <a:t>Filtering</a:t>
            </a:r>
            <a:endParaRPr sz="1400">
              <a:latin typeface="Trebuchet MS"/>
              <a:cs typeface="Trebuchet MS"/>
            </a:endParaRPr>
          </a:p>
          <a:p>
            <a:pPr marL="102235" marR="5080">
              <a:lnSpc>
                <a:spcPct val="100000"/>
              </a:lnSpc>
              <a:spcBef>
                <a:spcPts val="955"/>
              </a:spcBef>
            </a:pP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Per-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doc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&lt;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0.3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→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dropped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before</a:t>
            </a:r>
            <a:r>
              <a:rPr dirty="0" sz="12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generation.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Threshold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validated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on</a:t>
            </a:r>
            <a:r>
              <a:rPr dirty="0" sz="12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dev</a:t>
            </a:r>
            <a:r>
              <a:rPr dirty="0" sz="12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split.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303507"/>
            <a:ext cx="1828444" cy="15541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14115" algn="l"/>
                <a:tab pos="7029450" algn="l"/>
                <a:tab pos="7713345" algn="l"/>
              </a:tabLst>
            </a:pPr>
            <a:r>
              <a:rPr dirty="0" spc="590"/>
              <a:t>CONFIDENCE</a:t>
            </a:r>
            <a:r>
              <a:rPr dirty="0"/>
              <a:t>	</a:t>
            </a:r>
            <a:r>
              <a:rPr dirty="0" spc="590"/>
              <a:t>PREDICTOR</a:t>
            </a:r>
            <a:r>
              <a:rPr dirty="0"/>
              <a:t>	</a:t>
            </a:r>
            <a:r>
              <a:rPr dirty="0" spc="875"/>
              <a:t>—</a:t>
            </a:r>
            <a:r>
              <a:rPr dirty="0"/>
              <a:t>	</a:t>
            </a:r>
            <a:r>
              <a:rPr dirty="0" spc="515"/>
              <a:t>TRAINING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18464" y="1434503"/>
            <a:ext cx="21888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77315" algn="l"/>
              </a:tabLst>
            </a:pPr>
            <a:r>
              <a:rPr dirty="0" sz="1400" b="1">
                <a:solidFill>
                  <a:srgbClr val="0C9387"/>
                </a:solidFill>
                <a:latin typeface="Trebuchet MS"/>
                <a:cs typeface="Trebuchet MS"/>
              </a:rPr>
              <a:t>T</a:t>
            </a:r>
            <a:r>
              <a:rPr dirty="0" sz="1400" spc="-35" b="1">
                <a:solidFill>
                  <a:srgbClr val="0C9387"/>
                </a:solidFill>
                <a:latin typeface="Trebuchet MS"/>
                <a:cs typeface="Trebuchet MS"/>
              </a:rPr>
              <a:t> </a:t>
            </a:r>
            <a:r>
              <a:rPr dirty="0" sz="1400" spc="150" b="1">
                <a:solidFill>
                  <a:srgbClr val="0C9387"/>
                </a:solidFill>
                <a:latin typeface="Trebuchet MS"/>
                <a:cs typeface="Trebuchet MS"/>
              </a:rPr>
              <a:t>R</a:t>
            </a:r>
            <a:r>
              <a:rPr dirty="0" sz="1400" spc="-30" b="1">
                <a:solidFill>
                  <a:srgbClr val="0C9387"/>
                </a:solidFill>
                <a:latin typeface="Trebuchet MS"/>
                <a:cs typeface="Trebuchet MS"/>
              </a:rPr>
              <a:t> </a:t>
            </a:r>
            <a:r>
              <a:rPr dirty="0" sz="1400" spc="114" b="1">
                <a:solidFill>
                  <a:srgbClr val="0C9387"/>
                </a:solidFill>
                <a:latin typeface="Trebuchet MS"/>
                <a:cs typeface="Trebuchet MS"/>
              </a:rPr>
              <a:t>A</a:t>
            </a:r>
            <a:r>
              <a:rPr dirty="0" sz="1400" spc="-15" b="1">
                <a:solidFill>
                  <a:srgbClr val="0C9387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0C9387"/>
                </a:solidFill>
                <a:latin typeface="Trebuchet MS"/>
                <a:cs typeface="Trebuchet MS"/>
              </a:rPr>
              <a:t>I</a:t>
            </a:r>
            <a:r>
              <a:rPr dirty="0" sz="1400" spc="-30" b="1">
                <a:solidFill>
                  <a:srgbClr val="0C9387"/>
                </a:solidFill>
                <a:latin typeface="Trebuchet MS"/>
                <a:cs typeface="Trebuchet MS"/>
              </a:rPr>
              <a:t> </a:t>
            </a:r>
            <a:r>
              <a:rPr dirty="0" sz="1400" spc="65" b="1">
                <a:solidFill>
                  <a:srgbClr val="0C9387"/>
                </a:solidFill>
                <a:latin typeface="Trebuchet MS"/>
                <a:cs typeface="Trebuchet MS"/>
              </a:rPr>
              <a:t>N</a:t>
            </a:r>
            <a:r>
              <a:rPr dirty="0" sz="1400" spc="-15" b="1">
                <a:solidFill>
                  <a:srgbClr val="0C9387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0C9387"/>
                </a:solidFill>
                <a:latin typeface="Trebuchet MS"/>
                <a:cs typeface="Trebuchet MS"/>
              </a:rPr>
              <a:t>I</a:t>
            </a:r>
            <a:r>
              <a:rPr dirty="0" sz="1400" spc="-30" b="1">
                <a:solidFill>
                  <a:srgbClr val="0C9387"/>
                </a:solidFill>
                <a:latin typeface="Trebuchet MS"/>
                <a:cs typeface="Trebuchet MS"/>
              </a:rPr>
              <a:t> </a:t>
            </a:r>
            <a:r>
              <a:rPr dirty="0" sz="1400" spc="65" b="1">
                <a:solidFill>
                  <a:srgbClr val="0C9387"/>
                </a:solidFill>
                <a:latin typeface="Trebuchet MS"/>
                <a:cs typeface="Trebuchet MS"/>
              </a:rPr>
              <a:t>N</a:t>
            </a:r>
            <a:r>
              <a:rPr dirty="0" sz="1400" spc="-15" b="1">
                <a:solidFill>
                  <a:srgbClr val="0C9387"/>
                </a:solidFill>
                <a:latin typeface="Trebuchet MS"/>
                <a:cs typeface="Trebuchet MS"/>
              </a:rPr>
              <a:t> </a:t>
            </a:r>
            <a:r>
              <a:rPr dirty="0" sz="1400" spc="100" b="1">
                <a:solidFill>
                  <a:srgbClr val="0C9387"/>
                </a:solidFill>
                <a:latin typeface="Trebuchet MS"/>
                <a:cs typeface="Trebuchet MS"/>
              </a:rPr>
              <a:t>G</a:t>
            </a:r>
            <a:r>
              <a:rPr dirty="0" sz="1400" b="1">
                <a:solidFill>
                  <a:srgbClr val="0C9387"/>
                </a:solidFill>
                <a:latin typeface="Trebuchet MS"/>
                <a:cs typeface="Trebuchet MS"/>
              </a:rPr>
              <a:t>	</a:t>
            </a:r>
            <a:r>
              <a:rPr dirty="0" sz="1400" spc="220" b="1">
                <a:solidFill>
                  <a:srgbClr val="0C9387"/>
                </a:solidFill>
                <a:latin typeface="Trebuchet MS"/>
                <a:cs typeface="Trebuchet MS"/>
              </a:rPr>
              <a:t>S</a:t>
            </a:r>
            <a:r>
              <a:rPr dirty="0" sz="1400" spc="-15" b="1">
                <a:solidFill>
                  <a:srgbClr val="0C9387"/>
                </a:solidFill>
                <a:latin typeface="Trebuchet MS"/>
                <a:cs typeface="Trebuchet MS"/>
              </a:rPr>
              <a:t> </a:t>
            </a:r>
            <a:r>
              <a:rPr dirty="0" sz="1400" spc="125" b="1">
                <a:solidFill>
                  <a:srgbClr val="0C9387"/>
                </a:solidFill>
                <a:latin typeface="Trebuchet MS"/>
                <a:cs typeface="Trebuchet MS"/>
              </a:rPr>
              <a:t>E</a:t>
            </a:r>
            <a:r>
              <a:rPr dirty="0" sz="1400" spc="-25" b="1">
                <a:solidFill>
                  <a:srgbClr val="0C9387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0C9387"/>
                </a:solidFill>
                <a:latin typeface="Trebuchet MS"/>
                <a:cs typeface="Trebuchet MS"/>
              </a:rPr>
              <a:t>T</a:t>
            </a:r>
            <a:r>
              <a:rPr dirty="0" sz="1400" spc="-30" b="1">
                <a:solidFill>
                  <a:srgbClr val="0C9387"/>
                </a:solidFill>
                <a:latin typeface="Trebuchet MS"/>
                <a:cs typeface="Trebuchet MS"/>
              </a:rPr>
              <a:t> </a:t>
            </a:r>
            <a:r>
              <a:rPr dirty="0" sz="1400" spc="55" b="1">
                <a:solidFill>
                  <a:srgbClr val="0C9387"/>
                </a:solidFill>
                <a:latin typeface="Trebuchet MS"/>
                <a:cs typeface="Trebuchet MS"/>
              </a:rPr>
              <a:t>U</a:t>
            </a:r>
            <a:r>
              <a:rPr dirty="0" sz="1400" spc="-20" b="1">
                <a:solidFill>
                  <a:srgbClr val="0C9387"/>
                </a:solidFill>
                <a:latin typeface="Trebuchet MS"/>
                <a:cs typeface="Trebuchet MS"/>
              </a:rPr>
              <a:t> </a:t>
            </a:r>
            <a:r>
              <a:rPr dirty="0" sz="1400" spc="55" b="1">
                <a:solidFill>
                  <a:srgbClr val="0C9387"/>
                </a:solidFill>
                <a:latin typeface="Trebuchet MS"/>
                <a:cs typeface="Trebuchet MS"/>
              </a:rPr>
              <a:t>P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08456" y="1787664"/>
            <a:ext cx="8445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51534" y="1815020"/>
            <a:ext cx="5332730" cy="2120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1,350</a:t>
            </a:r>
            <a:r>
              <a:rPr dirty="0" sz="13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(query,</a:t>
            </a:r>
            <a:r>
              <a:rPr dirty="0" sz="13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document,</a:t>
            </a:r>
            <a:r>
              <a:rPr dirty="0" sz="13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relevance)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triples</a:t>
            </a:r>
            <a:r>
              <a:rPr dirty="0" sz="13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auto-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built</a:t>
            </a:r>
            <a:r>
              <a:rPr dirty="0" sz="13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from</a:t>
            </a:r>
            <a:r>
              <a:rPr dirty="0" sz="13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QA,</a:t>
            </a:r>
            <a:r>
              <a:rPr dirty="0" sz="13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sentiment,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and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summarisation data.</a:t>
            </a:r>
            <a:endParaRPr sz="1300">
              <a:latin typeface="Microsoft Sans Serif"/>
              <a:cs typeface="Microsoft Sans Serif"/>
            </a:endParaRPr>
          </a:p>
          <a:p>
            <a:pPr marL="12700" marR="28575">
              <a:lnSpc>
                <a:spcPct val="100000"/>
              </a:lnSpc>
              <a:spcBef>
                <a:spcPts val="1005"/>
              </a:spcBef>
            </a:pP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Positive:</a:t>
            </a:r>
            <a:r>
              <a:rPr dirty="0" sz="1300" spc="-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document</a:t>
            </a:r>
            <a:r>
              <a:rPr dirty="0" sz="13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overlaps</a:t>
            </a:r>
            <a:r>
              <a:rPr dirty="0" sz="13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with</a:t>
            </a:r>
            <a:r>
              <a:rPr dirty="0" sz="1300" spc="-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gold</a:t>
            </a:r>
            <a:r>
              <a:rPr dirty="0" sz="13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answer</a:t>
            </a:r>
            <a:r>
              <a:rPr dirty="0" sz="13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/</a:t>
            </a:r>
            <a:r>
              <a:rPr dirty="0" sz="13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target.</a:t>
            </a:r>
            <a:r>
              <a:rPr dirty="0" sz="1300" spc="-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Negative:</a:t>
            </a:r>
            <a:r>
              <a:rPr dirty="0" sz="13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random 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in-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domain</a:t>
            </a:r>
            <a:r>
              <a:rPr dirty="0" sz="13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mismatch.</a:t>
            </a:r>
            <a:endParaRPr sz="1300">
              <a:latin typeface="Microsoft Sans Serif"/>
              <a:cs typeface="Microsoft Sans Serif"/>
            </a:endParaRPr>
          </a:p>
          <a:p>
            <a:pPr marL="12700" marR="43180">
              <a:lnSpc>
                <a:spcPct val="100000"/>
              </a:lnSpc>
              <a:spcBef>
                <a:spcPts val="1005"/>
              </a:spcBef>
            </a:pP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Binary</a:t>
            </a:r>
            <a:r>
              <a:rPr dirty="0" sz="13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cross-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entropy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loss,</a:t>
            </a:r>
            <a:r>
              <a:rPr dirty="0" sz="1300" spc="-7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AdamW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optimiser,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lr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=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 2e-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4,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20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epochs,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batch 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32.</a:t>
            </a:r>
            <a:endParaRPr sz="1300">
              <a:latin typeface="Microsoft Sans Serif"/>
              <a:cs typeface="Microsoft Sans Serif"/>
            </a:endParaRPr>
          </a:p>
          <a:p>
            <a:pPr marL="12700" marR="506095">
              <a:lnSpc>
                <a:spcPct val="164300"/>
              </a:lnSpc>
            </a:pP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Frozen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encoder,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~98K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trainable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parameters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in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MLP</a:t>
            </a:r>
            <a:r>
              <a:rPr dirty="0" sz="1300" spc="-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head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only. Trained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CPU-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only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on</a:t>
            </a:r>
            <a:r>
              <a:rPr dirty="0" sz="13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developer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laptop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in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under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12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minutes.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08456" y="2311463"/>
            <a:ext cx="8445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08456" y="2835262"/>
            <a:ext cx="8445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08456" y="3359061"/>
            <a:ext cx="8445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08456" y="3684498"/>
            <a:ext cx="8445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7040524" y="1371244"/>
            <a:ext cx="4572000" cy="4846320"/>
          </a:xfrm>
          <a:custGeom>
            <a:avLst/>
            <a:gdLst/>
            <a:ahLst/>
            <a:cxnLst/>
            <a:rect l="l" t="t" r="r" b="b"/>
            <a:pathLst>
              <a:path w="4572000" h="4846320">
                <a:moveTo>
                  <a:pt x="4571631" y="0"/>
                </a:moveTo>
                <a:lnTo>
                  <a:pt x="0" y="0"/>
                </a:lnTo>
                <a:lnTo>
                  <a:pt x="0" y="4845951"/>
                </a:lnTo>
                <a:lnTo>
                  <a:pt x="2286000" y="4845951"/>
                </a:lnTo>
                <a:lnTo>
                  <a:pt x="4571631" y="4845951"/>
                </a:lnTo>
                <a:lnTo>
                  <a:pt x="4571631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7210704" y="1632851"/>
            <a:ext cx="4075429" cy="923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6710" algn="l"/>
              </a:tabLst>
            </a:pPr>
            <a:r>
              <a:rPr dirty="0" sz="1200" spc="125" b="1">
                <a:solidFill>
                  <a:srgbClr val="5DE9D3"/>
                </a:solidFill>
                <a:latin typeface="Trebuchet MS"/>
                <a:cs typeface="Trebuchet MS"/>
              </a:rPr>
              <a:t>C</a:t>
            </a:r>
            <a:r>
              <a:rPr dirty="0" sz="1200" spc="35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200" spc="75" b="1">
                <a:solidFill>
                  <a:srgbClr val="5DE9D3"/>
                </a:solidFill>
                <a:latin typeface="Trebuchet MS"/>
                <a:cs typeface="Trebuchet MS"/>
              </a:rPr>
              <a:t>O</a:t>
            </a:r>
            <a:r>
              <a:rPr dirty="0" sz="1200" spc="40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200" spc="60" b="1">
                <a:solidFill>
                  <a:srgbClr val="5DE9D3"/>
                </a:solidFill>
                <a:latin typeface="Trebuchet MS"/>
                <a:cs typeface="Trebuchet MS"/>
              </a:rPr>
              <a:t>N</a:t>
            </a:r>
            <a:r>
              <a:rPr dirty="0" sz="1200" spc="40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5DE9D3"/>
                </a:solidFill>
                <a:latin typeface="Trebuchet MS"/>
                <a:cs typeface="Trebuchet MS"/>
              </a:rPr>
              <a:t>F</a:t>
            </a:r>
            <a:r>
              <a:rPr dirty="0" sz="1200" spc="35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200" b="1">
                <a:solidFill>
                  <a:srgbClr val="5DE9D3"/>
                </a:solidFill>
                <a:latin typeface="Trebuchet MS"/>
                <a:cs typeface="Trebuchet MS"/>
              </a:rPr>
              <a:t>I</a:t>
            </a:r>
            <a:r>
              <a:rPr dirty="0" sz="1200" spc="45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200" spc="85" b="1">
                <a:solidFill>
                  <a:srgbClr val="5DE9D3"/>
                </a:solidFill>
                <a:latin typeface="Trebuchet MS"/>
                <a:cs typeface="Trebuchet MS"/>
              </a:rPr>
              <a:t>D</a:t>
            </a:r>
            <a:r>
              <a:rPr dirty="0" sz="1200" spc="35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200" spc="110" b="1">
                <a:solidFill>
                  <a:srgbClr val="5DE9D3"/>
                </a:solidFill>
                <a:latin typeface="Trebuchet MS"/>
                <a:cs typeface="Trebuchet MS"/>
              </a:rPr>
              <a:t>E</a:t>
            </a:r>
            <a:r>
              <a:rPr dirty="0" sz="1200" spc="40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200" spc="60" b="1">
                <a:solidFill>
                  <a:srgbClr val="5DE9D3"/>
                </a:solidFill>
                <a:latin typeface="Trebuchet MS"/>
                <a:cs typeface="Trebuchet MS"/>
              </a:rPr>
              <a:t>N</a:t>
            </a:r>
            <a:r>
              <a:rPr dirty="0" sz="1200" spc="40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200" spc="125" b="1">
                <a:solidFill>
                  <a:srgbClr val="5DE9D3"/>
                </a:solidFill>
                <a:latin typeface="Trebuchet MS"/>
                <a:cs typeface="Trebuchet MS"/>
              </a:rPr>
              <a:t>C</a:t>
            </a:r>
            <a:r>
              <a:rPr dirty="0" sz="1200" spc="40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200" spc="60" b="1">
                <a:solidFill>
                  <a:srgbClr val="5DE9D3"/>
                </a:solidFill>
                <a:latin typeface="Trebuchet MS"/>
                <a:cs typeface="Trebuchet MS"/>
              </a:rPr>
              <a:t>E</a:t>
            </a:r>
            <a:r>
              <a:rPr dirty="0" sz="1200" b="1">
                <a:solidFill>
                  <a:srgbClr val="5DE9D3"/>
                </a:solidFill>
                <a:latin typeface="Trebuchet MS"/>
                <a:cs typeface="Trebuchet MS"/>
              </a:rPr>
              <a:t>	</a:t>
            </a:r>
            <a:r>
              <a:rPr dirty="0" sz="1200" spc="180" b="1">
                <a:solidFill>
                  <a:srgbClr val="5DE9D3"/>
                </a:solidFill>
                <a:latin typeface="Trebuchet MS"/>
                <a:cs typeface="Trebuchet MS"/>
              </a:rPr>
              <a:t>S</a:t>
            </a:r>
            <a:r>
              <a:rPr dirty="0" sz="1200" spc="35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200" spc="125" b="1">
                <a:solidFill>
                  <a:srgbClr val="5DE9D3"/>
                </a:solidFill>
                <a:latin typeface="Trebuchet MS"/>
                <a:cs typeface="Trebuchet MS"/>
              </a:rPr>
              <a:t>C</a:t>
            </a:r>
            <a:r>
              <a:rPr dirty="0" sz="1200" spc="35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200" spc="75" b="1">
                <a:solidFill>
                  <a:srgbClr val="5DE9D3"/>
                </a:solidFill>
                <a:latin typeface="Trebuchet MS"/>
                <a:cs typeface="Trebuchet MS"/>
              </a:rPr>
              <a:t>O</a:t>
            </a:r>
            <a:r>
              <a:rPr dirty="0" sz="1200" spc="35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200" spc="125" b="1">
                <a:solidFill>
                  <a:srgbClr val="5DE9D3"/>
                </a:solidFill>
                <a:latin typeface="Trebuchet MS"/>
                <a:cs typeface="Trebuchet MS"/>
              </a:rPr>
              <a:t>R</a:t>
            </a:r>
            <a:r>
              <a:rPr dirty="0" sz="1200" spc="40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200" spc="60" b="1">
                <a:solidFill>
                  <a:srgbClr val="5DE9D3"/>
                </a:solidFill>
                <a:latin typeface="Trebuchet MS"/>
                <a:cs typeface="Trebuchet MS"/>
              </a:rPr>
              <a:t>E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200">
              <a:latin typeface="Trebuchet MS"/>
              <a:cs typeface="Trebuchet MS"/>
            </a:endParaRPr>
          </a:p>
          <a:p>
            <a:pPr marL="102235">
              <a:lnSpc>
                <a:spcPct val="100000"/>
              </a:lnSpc>
              <a:spcBef>
                <a:spcPts val="5"/>
              </a:spcBef>
            </a:pPr>
            <a:r>
              <a:rPr dirty="0" sz="1600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1600" i="1">
                <a:solidFill>
                  <a:srgbClr val="FFFFFF"/>
                </a:solidFill>
                <a:latin typeface="Times New Roman"/>
                <a:cs typeface="Times New Roman"/>
              </a:rPr>
              <a:t>q,</a:t>
            </a:r>
            <a:r>
              <a:rPr dirty="0" sz="1600" spc="-55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1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1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170">
                <a:solidFill>
                  <a:srgbClr val="FFFFFF"/>
                </a:solidFill>
                <a:latin typeface="Trebuchet MS"/>
                <a:cs typeface="Trebuchet MS"/>
              </a:rPr>
              <a:t>σ</a:t>
            </a:r>
            <a:r>
              <a:rPr dirty="0" sz="16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6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1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105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dirty="0" sz="1600" spc="-105">
                <a:solidFill>
                  <a:srgbClr val="FFFFFF"/>
                </a:solidFill>
                <a:latin typeface="Trebuchet MS"/>
                <a:cs typeface="Trebuchet MS"/>
              </a:rPr>
              <a:t>₂</a:t>
            </a:r>
            <a:r>
              <a:rPr dirty="0" sz="1600" spc="-1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375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1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110">
                <a:solidFill>
                  <a:srgbClr val="FFFFFF"/>
                </a:solidFill>
                <a:latin typeface="Times New Roman"/>
                <a:cs typeface="Times New Roman"/>
              </a:rPr>
              <a:t>ReLU</a:t>
            </a:r>
            <a:r>
              <a:rPr dirty="0" sz="1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6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1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105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dirty="0" sz="1600" spc="-105">
                <a:solidFill>
                  <a:srgbClr val="FFFFFF"/>
                </a:solidFill>
                <a:latin typeface="Trebuchet MS"/>
                <a:cs typeface="Trebuchet MS"/>
              </a:rPr>
              <a:t>₁</a:t>
            </a:r>
            <a:r>
              <a:rPr dirty="0" sz="16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375">
                <a:solidFill>
                  <a:srgbClr val="FFFFFF"/>
                </a:solidFill>
                <a:latin typeface="Times New Roman"/>
                <a:cs typeface="Times New Roman"/>
              </a:rPr>
              <a:t>·</a:t>
            </a:r>
            <a:r>
              <a:rPr dirty="0" sz="1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[</a:t>
            </a:r>
            <a:r>
              <a:rPr dirty="0" sz="1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E(</a:t>
            </a:r>
            <a:r>
              <a:rPr dirty="0" sz="1600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);</a:t>
            </a:r>
            <a:r>
              <a:rPr dirty="0" sz="1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E(</a:t>
            </a:r>
            <a:r>
              <a:rPr dirty="0" sz="1600" i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1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dirty="0" sz="1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1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1600" i="1">
                <a:solidFill>
                  <a:srgbClr val="FFFFFF"/>
                </a:solidFill>
                <a:latin typeface="Trebuchet MS"/>
                <a:cs typeface="Trebuchet MS"/>
              </a:rPr>
              <a:t>₁</a:t>
            </a:r>
            <a:r>
              <a:rPr dirty="0" sz="1600" spc="-13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1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</a:pP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1600" spc="-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1600" i="1">
                <a:solidFill>
                  <a:srgbClr val="FFFFFF"/>
                </a:solidFill>
                <a:latin typeface="Trebuchet MS"/>
                <a:cs typeface="Trebuchet MS"/>
              </a:rPr>
              <a:t>₂</a:t>
            </a:r>
            <a:r>
              <a:rPr dirty="0" sz="1600" spc="-14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1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13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7300696" y="3039302"/>
            <a:ext cx="3293110" cy="1225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1400"/>
              </a:lnSpc>
              <a:spcBef>
                <a:spcPts val="100"/>
              </a:spcBef>
            </a:pPr>
            <a:r>
              <a:rPr dirty="0" sz="1300" b="1" i="1">
                <a:solidFill>
                  <a:srgbClr val="E4E6EA"/>
                </a:solidFill>
                <a:latin typeface="Arial"/>
                <a:cs typeface="Arial"/>
              </a:rPr>
              <a:t>E(·)</a:t>
            </a:r>
            <a:r>
              <a:rPr dirty="0" sz="1300" spc="275" b="1" i="1">
                <a:solidFill>
                  <a:srgbClr val="E4E6E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Sentence-Transformer</a:t>
            </a:r>
            <a:r>
              <a:rPr dirty="0" sz="1300" spc="-3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encoder</a:t>
            </a:r>
            <a:r>
              <a:rPr dirty="0" sz="1300" spc="-3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(frozen) </a:t>
            </a:r>
            <a:r>
              <a:rPr dirty="0" sz="1300" b="1">
                <a:solidFill>
                  <a:srgbClr val="E4E6EA"/>
                </a:solidFill>
                <a:latin typeface="Trebuchet MS"/>
                <a:cs typeface="Trebuchet MS"/>
              </a:rPr>
              <a:t>W₁,</a:t>
            </a:r>
            <a:r>
              <a:rPr dirty="0" sz="1300" spc="-75" b="1">
                <a:solidFill>
                  <a:srgbClr val="E4E6EA"/>
                </a:solidFill>
                <a:latin typeface="Trebuchet MS"/>
                <a:cs typeface="Trebuchet MS"/>
              </a:rPr>
              <a:t> </a:t>
            </a:r>
            <a:r>
              <a:rPr dirty="0" sz="1300" spc="55" b="1">
                <a:solidFill>
                  <a:srgbClr val="E4E6EA"/>
                </a:solidFill>
                <a:latin typeface="Trebuchet MS"/>
                <a:cs typeface="Trebuchet MS"/>
              </a:rPr>
              <a:t>W₂</a:t>
            </a:r>
            <a:r>
              <a:rPr dirty="0" sz="1300" spc="240" b="1">
                <a:solidFill>
                  <a:srgbClr val="E4E6EA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Learned</a:t>
            </a:r>
            <a:r>
              <a:rPr dirty="0" sz="1300" spc="-3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MLP</a:t>
            </a:r>
            <a:r>
              <a:rPr dirty="0" sz="1300" spc="-4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weights</a:t>
            </a:r>
            <a:r>
              <a:rPr dirty="0" sz="1300" spc="-3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(98K</a:t>
            </a:r>
            <a:r>
              <a:rPr dirty="0" sz="1300" spc="-3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params) </a:t>
            </a:r>
            <a:r>
              <a:rPr dirty="0" sz="1300" spc="105" b="1">
                <a:solidFill>
                  <a:srgbClr val="E4E6EA"/>
                </a:solidFill>
                <a:latin typeface="Trebuchet MS"/>
                <a:cs typeface="Trebuchet MS"/>
              </a:rPr>
              <a:t>σ</a:t>
            </a:r>
            <a:r>
              <a:rPr dirty="0" sz="1300" spc="275" b="1">
                <a:solidFill>
                  <a:srgbClr val="E4E6EA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Sigmoid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→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 confidence</a:t>
            </a:r>
            <a:r>
              <a:rPr dirty="0" sz="1300" spc="-20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90">
                <a:solidFill>
                  <a:srgbClr val="E4E6EA"/>
                </a:solidFill>
                <a:latin typeface="Lucida Sans Unicode"/>
                <a:cs typeface="Lucida Sans Unicode"/>
              </a:rPr>
              <a:t>∈</a:t>
            </a:r>
            <a:r>
              <a:rPr dirty="0" sz="1300" spc="-60">
                <a:solidFill>
                  <a:srgbClr val="E4E6EA"/>
                </a:solidFill>
                <a:latin typeface="Lucida Sans Unicode"/>
                <a:cs typeface="Lucida Sans Unicode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[0,</a:t>
            </a:r>
            <a:r>
              <a:rPr dirty="0" sz="1300" spc="-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5">
                <a:solidFill>
                  <a:srgbClr val="E4E6EA"/>
                </a:solidFill>
                <a:latin typeface="Microsoft Sans Serif"/>
                <a:cs typeface="Microsoft Sans Serif"/>
              </a:rPr>
              <a:t>1]</a:t>
            </a:r>
            <a:endParaRPr sz="1300">
              <a:latin typeface="Microsoft Sans Serif"/>
              <a:cs typeface="Microsoft Sans Serif"/>
            </a:endParaRPr>
          </a:p>
          <a:p>
            <a:pPr algn="just" marL="12700">
              <a:lnSpc>
                <a:spcPct val="100000"/>
              </a:lnSpc>
              <a:spcBef>
                <a:spcPts val="800"/>
              </a:spcBef>
            </a:pPr>
            <a:r>
              <a:rPr dirty="0" sz="1300" b="1">
                <a:solidFill>
                  <a:srgbClr val="5DE9D3"/>
                </a:solidFill>
                <a:latin typeface="Trebuchet MS"/>
                <a:cs typeface="Trebuchet MS"/>
              </a:rPr>
              <a:t>τ</a:t>
            </a:r>
            <a:r>
              <a:rPr dirty="0" sz="1300" spc="-100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5DE9D3"/>
                </a:solidFill>
                <a:latin typeface="Trebuchet MS"/>
                <a:cs typeface="Trebuchet MS"/>
              </a:rPr>
              <a:t>=</a:t>
            </a:r>
            <a:r>
              <a:rPr dirty="0" sz="1300" spc="-95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5DE9D3"/>
                </a:solidFill>
                <a:latin typeface="Trebuchet MS"/>
                <a:cs typeface="Trebuchet MS"/>
              </a:rPr>
              <a:t>0.3</a:t>
            </a:r>
            <a:r>
              <a:rPr dirty="0" sz="1300" spc="165" b="1">
                <a:solidFill>
                  <a:srgbClr val="5DE9D3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E4E6EA"/>
                </a:solidFill>
                <a:latin typeface="Microsoft Sans Serif"/>
                <a:cs typeface="Microsoft Sans Serif"/>
              </a:rPr>
              <a:t>Filter</a:t>
            </a:r>
            <a:r>
              <a:rPr dirty="0" sz="1300" spc="-55">
                <a:solidFill>
                  <a:srgbClr val="E4E6EA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E4E6EA"/>
                </a:solidFill>
                <a:latin typeface="Microsoft Sans Serif"/>
                <a:cs typeface="Microsoft Sans Serif"/>
              </a:rPr>
              <a:t>threshold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1164" y="5303519"/>
            <a:ext cx="2377440" cy="594360"/>
          </a:xfrm>
          <a:custGeom>
            <a:avLst/>
            <a:gdLst/>
            <a:ahLst/>
            <a:cxnLst/>
            <a:rect l="l" t="t" r="r" b="b"/>
            <a:pathLst>
              <a:path w="2377440" h="594360">
                <a:moveTo>
                  <a:pt x="230399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521284"/>
                </a:lnTo>
                <a:lnTo>
                  <a:pt x="594" y="530555"/>
                </a:lnTo>
                <a:lnTo>
                  <a:pt x="607" y="530760"/>
                </a:lnTo>
                <a:lnTo>
                  <a:pt x="2394" y="539956"/>
                </a:lnTo>
                <a:lnTo>
                  <a:pt x="2428" y="540135"/>
                </a:lnTo>
                <a:lnTo>
                  <a:pt x="5412" y="549019"/>
                </a:lnTo>
                <a:lnTo>
                  <a:pt x="5464" y="549175"/>
                </a:lnTo>
                <a:lnTo>
                  <a:pt x="36360" y="584644"/>
                </a:lnTo>
                <a:lnTo>
                  <a:pt x="73075" y="594359"/>
                </a:lnTo>
                <a:lnTo>
                  <a:pt x="2304351" y="594004"/>
                </a:lnTo>
                <a:lnTo>
                  <a:pt x="2348729" y="578900"/>
                </a:lnTo>
                <a:lnTo>
                  <a:pt x="2371892" y="549175"/>
                </a:lnTo>
                <a:lnTo>
                  <a:pt x="2371969" y="549019"/>
                </a:lnTo>
                <a:lnTo>
                  <a:pt x="2374949" y="540135"/>
                </a:lnTo>
                <a:lnTo>
                  <a:pt x="2375009" y="539956"/>
                </a:lnTo>
                <a:lnTo>
                  <a:pt x="2376792" y="530760"/>
                </a:lnTo>
                <a:lnTo>
                  <a:pt x="2376832" y="530555"/>
                </a:lnTo>
                <a:lnTo>
                  <a:pt x="2377416" y="521284"/>
                </a:lnTo>
                <a:lnTo>
                  <a:pt x="2377440" y="520915"/>
                </a:lnTo>
                <a:lnTo>
                  <a:pt x="2377071" y="73075"/>
                </a:lnTo>
                <a:lnTo>
                  <a:pt x="2361980" y="28705"/>
                </a:lnTo>
                <a:lnTo>
                  <a:pt x="2323030" y="2428"/>
                </a:lnTo>
                <a:lnTo>
                  <a:pt x="2313629" y="607"/>
                </a:lnTo>
                <a:lnTo>
                  <a:pt x="230399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97810">
              <a:lnSpc>
                <a:spcPct val="100000"/>
              </a:lnSpc>
              <a:spcBef>
                <a:spcPts val="100"/>
              </a:spcBef>
            </a:pPr>
            <a:r>
              <a:rPr dirty="0" spc="505"/>
              <a:t>IMPLEMENTATION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731164" y="1417319"/>
            <a:ext cx="2377440" cy="594360"/>
          </a:xfrm>
          <a:custGeom>
            <a:avLst/>
            <a:gdLst/>
            <a:ahLst/>
            <a:cxnLst/>
            <a:rect l="l" t="t" r="r" b="b"/>
            <a:pathLst>
              <a:path w="2377440" h="594360">
                <a:moveTo>
                  <a:pt x="230399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521284"/>
                </a:lnTo>
                <a:lnTo>
                  <a:pt x="594" y="530555"/>
                </a:lnTo>
                <a:lnTo>
                  <a:pt x="607" y="530760"/>
                </a:lnTo>
                <a:lnTo>
                  <a:pt x="2394" y="539956"/>
                </a:lnTo>
                <a:lnTo>
                  <a:pt x="2428" y="540135"/>
                </a:lnTo>
                <a:lnTo>
                  <a:pt x="5412" y="549019"/>
                </a:lnTo>
                <a:lnTo>
                  <a:pt x="5464" y="549175"/>
                </a:lnTo>
                <a:lnTo>
                  <a:pt x="9715" y="557644"/>
                </a:lnTo>
                <a:lnTo>
                  <a:pt x="44979" y="588895"/>
                </a:lnTo>
                <a:lnTo>
                  <a:pt x="73075" y="594359"/>
                </a:lnTo>
                <a:lnTo>
                  <a:pt x="2304351" y="594004"/>
                </a:lnTo>
                <a:lnTo>
                  <a:pt x="2348729" y="578900"/>
                </a:lnTo>
                <a:lnTo>
                  <a:pt x="2371892" y="549175"/>
                </a:lnTo>
                <a:lnTo>
                  <a:pt x="2371969" y="549019"/>
                </a:lnTo>
                <a:lnTo>
                  <a:pt x="2374949" y="540135"/>
                </a:lnTo>
                <a:lnTo>
                  <a:pt x="2375009" y="539956"/>
                </a:lnTo>
                <a:lnTo>
                  <a:pt x="2376792" y="530760"/>
                </a:lnTo>
                <a:lnTo>
                  <a:pt x="2376832" y="530555"/>
                </a:lnTo>
                <a:lnTo>
                  <a:pt x="2377416" y="521284"/>
                </a:lnTo>
                <a:lnTo>
                  <a:pt x="2377440" y="520915"/>
                </a:lnTo>
                <a:lnTo>
                  <a:pt x="2377071" y="73075"/>
                </a:lnTo>
                <a:lnTo>
                  <a:pt x="2361980" y="28705"/>
                </a:lnTo>
                <a:lnTo>
                  <a:pt x="2323030" y="2428"/>
                </a:lnTo>
                <a:lnTo>
                  <a:pt x="2313629" y="607"/>
                </a:lnTo>
                <a:lnTo>
                  <a:pt x="2303995" y="0"/>
                </a:lnTo>
                <a:close/>
              </a:path>
            </a:pathLst>
          </a:custGeom>
          <a:solidFill>
            <a:srgbClr val="0C93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459344" y="1602625"/>
            <a:ext cx="91948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14" b="1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13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90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1300" spc="-1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00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13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2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300" spc="-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75" b="1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1300" spc="-10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45" b="1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278784" y="1602625"/>
            <a:ext cx="619823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FLAN-T5-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small</a:t>
            </a:r>
            <a:r>
              <a:rPr dirty="0" sz="13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(80M)</a:t>
            </a:r>
            <a:r>
              <a:rPr dirty="0" sz="1300" spc="35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•</a:t>
            </a:r>
            <a:r>
              <a:rPr dirty="0" sz="1300" spc="3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all-MiniLM-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L6-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v2 (22M)</a:t>
            </a:r>
            <a:r>
              <a:rPr dirty="0" sz="1300" spc="3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•</a:t>
            </a:r>
            <a:r>
              <a:rPr dirty="0" sz="1300" spc="3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LaBSE</a:t>
            </a:r>
            <a:r>
              <a:rPr dirty="0" sz="1300" spc="3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•</a:t>
            </a:r>
            <a:r>
              <a:rPr dirty="0" sz="1300" spc="36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multilingual</a:t>
            </a:r>
            <a:r>
              <a:rPr dirty="0" sz="13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DistilBERT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31164" y="2194560"/>
            <a:ext cx="2377440" cy="594360"/>
          </a:xfrm>
          <a:custGeom>
            <a:avLst/>
            <a:gdLst/>
            <a:ahLst/>
            <a:cxnLst/>
            <a:rect l="l" t="t" r="r" b="b"/>
            <a:pathLst>
              <a:path w="2377440" h="594360">
                <a:moveTo>
                  <a:pt x="230399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521284"/>
                </a:lnTo>
                <a:lnTo>
                  <a:pt x="594" y="530555"/>
                </a:lnTo>
                <a:lnTo>
                  <a:pt x="607" y="530760"/>
                </a:lnTo>
                <a:lnTo>
                  <a:pt x="2394" y="539956"/>
                </a:lnTo>
                <a:lnTo>
                  <a:pt x="2428" y="540135"/>
                </a:lnTo>
                <a:lnTo>
                  <a:pt x="5412" y="549019"/>
                </a:lnTo>
                <a:lnTo>
                  <a:pt x="36360" y="584644"/>
                </a:lnTo>
                <a:lnTo>
                  <a:pt x="73075" y="594360"/>
                </a:lnTo>
                <a:lnTo>
                  <a:pt x="2304351" y="594004"/>
                </a:lnTo>
                <a:lnTo>
                  <a:pt x="2348729" y="578900"/>
                </a:lnTo>
                <a:lnTo>
                  <a:pt x="2371892" y="549175"/>
                </a:lnTo>
                <a:lnTo>
                  <a:pt x="2371969" y="549019"/>
                </a:lnTo>
                <a:lnTo>
                  <a:pt x="2374949" y="540135"/>
                </a:lnTo>
                <a:lnTo>
                  <a:pt x="2375009" y="539956"/>
                </a:lnTo>
                <a:lnTo>
                  <a:pt x="2376792" y="530760"/>
                </a:lnTo>
                <a:lnTo>
                  <a:pt x="2376832" y="530555"/>
                </a:lnTo>
                <a:lnTo>
                  <a:pt x="2377416" y="521284"/>
                </a:lnTo>
                <a:lnTo>
                  <a:pt x="2377440" y="520915"/>
                </a:lnTo>
                <a:lnTo>
                  <a:pt x="2377071" y="73075"/>
                </a:lnTo>
                <a:lnTo>
                  <a:pt x="2361980" y="28705"/>
                </a:lnTo>
                <a:lnTo>
                  <a:pt x="2323030" y="2428"/>
                </a:lnTo>
                <a:lnTo>
                  <a:pt x="2313629" y="607"/>
                </a:lnTo>
                <a:lnTo>
                  <a:pt x="230399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294104" y="2379865"/>
            <a:ext cx="125158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3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300" spc="-10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2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300" spc="-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3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3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300" spc="-10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300" spc="-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2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3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dirty="0" sz="1300" spc="-1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0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3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25" b="1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278784" y="2379865"/>
            <a:ext cx="560578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BM25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(rank_bm25)</a:t>
            </a:r>
            <a:r>
              <a:rPr dirty="0" sz="1300" spc="3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•</a:t>
            </a:r>
            <a:r>
              <a:rPr dirty="0" sz="1300" spc="3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Dense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(sentence-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transformers)</a:t>
            </a:r>
            <a:r>
              <a:rPr dirty="0" sz="1300" spc="3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•</a:t>
            </a:r>
            <a:r>
              <a:rPr dirty="0" sz="1300" spc="3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Hybrid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score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 fusion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731164" y="2971800"/>
            <a:ext cx="2377440" cy="594360"/>
          </a:xfrm>
          <a:custGeom>
            <a:avLst/>
            <a:gdLst/>
            <a:ahLst/>
            <a:cxnLst/>
            <a:rect l="l" t="t" r="r" b="b"/>
            <a:pathLst>
              <a:path w="2377440" h="594360">
                <a:moveTo>
                  <a:pt x="230399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521284"/>
                </a:lnTo>
                <a:lnTo>
                  <a:pt x="594" y="530555"/>
                </a:lnTo>
                <a:lnTo>
                  <a:pt x="607" y="530760"/>
                </a:lnTo>
                <a:lnTo>
                  <a:pt x="2394" y="539956"/>
                </a:lnTo>
                <a:lnTo>
                  <a:pt x="2428" y="540135"/>
                </a:lnTo>
                <a:lnTo>
                  <a:pt x="5412" y="549019"/>
                </a:lnTo>
                <a:lnTo>
                  <a:pt x="36360" y="584644"/>
                </a:lnTo>
                <a:lnTo>
                  <a:pt x="73075" y="594360"/>
                </a:lnTo>
                <a:lnTo>
                  <a:pt x="2304351" y="594004"/>
                </a:lnTo>
                <a:lnTo>
                  <a:pt x="2348729" y="578900"/>
                </a:lnTo>
                <a:lnTo>
                  <a:pt x="2371892" y="549175"/>
                </a:lnTo>
                <a:lnTo>
                  <a:pt x="2371969" y="549019"/>
                </a:lnTo>
                <a:lnTo>
                  <a:pt x="2374949" y="540135"/>
                </a:lnTo>
                <a:lnTo>
                  <a:pt x="2375009" y="539956"/>
                </a:lnTo>
                <a:lnTo>
                  <a:pt x="2376792" y="530760"/>
                </a:lnTo>
                <a:lnTo>
                  <a:pt x="2376832" y="530555"/>
                </a:lnTo>
                <a:lnTo>
                  <a:pt x="2377416" y="521284"/>
                </a:lnTo>
                <a:lnTo>
                  <a:pt x="2377440" y="520915"/>
                </a:lnTo>
                <a:lnTo>
                  <a:pt x="2377071" y="73075"/>
                </a:lnTo>
                <a:lnTo>
                  <a:pt x="2361980" y="28705"/>
                </a:lnTo>
                <a:lnTo>
                  <a:pt x="2323030" y="2428"/>
                </a:lnTo>
                <a:lnTo>
                  <a:pt x="2313629" y="607"/>
                </a:lnTo>
                <a:lnTo>
                  <a:pt x="230399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376184" y="3157105"/>
            <a:ext cx="108712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3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3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3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0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3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3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5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3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3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5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3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80" b="1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278784" y="3157105"/>
            <a:ext cx="501523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PyTorch</a:t>
            </a:r>
            <a:r>
              <a:rPr dirty="0" sz="1300" spc="3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•</a:t>
            </a:r>
            <a:r>
              <a:rPr dirty="0" sz="1300" spc="26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AdamW</a:t>
            </a:r>
            <a:r>
              <a:rPr dirty="0" sz="1300" spc="3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•</a:t>
            </a:r>
            <a:r>
              <a:rPr dirty="0" sz="1300" spc="3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BCE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loss</a:t>
            </a:r>
            <a:r>
              <a:rPr dirty="0" sz="1300" spc="3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•</a:t>
            </a:r>
            <a:r>
              <a:rPr dirty="0" sz="1300" spc="3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CPU-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only,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~12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min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for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20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epochs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731164" y="3749040"/>
            <a:ext cx="2377440" cy="594360"/>
          </a:xfrm>
          <a:custGeom>
            <a:avLst/>
            <a:gdLst/>
            <a:ahLst/>
            <a:cxnLst/>
            <a:rect l="l" t="t" r="r" b="b"/>
            <a:pathLst>
              <a:path w="2377440" h="594360">
                <a:moveTo>
                  <a:pt x="230399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521284"/>
                </a:lnTo>
                <a:lnTo>
                  <a:pt x="594" y="530555"/>
                </a:lnTo>
                <a:lnTo>
                  <a:pt x="607" y="530760"/>
                </a:lnTo>
                <a:lnTo>
                  <a:pt x="2394" y="539956"/>
                </a:lnTo>
                <a:lnTo>
                  <a:pt x="2428" y="540135"/>
                </a:lnTo>
                <a:lnTo>
                  <a:pt x="5412" y="549019"/>
                </a:lnTo>
                <a:lnTo>
                  <a:pt x="36360" y="584644"/>
                </a:lnTo>
                <a:lnTo>
                  <a:pt x="73075" y="594360"/>
                </a:lnTo>
                <a:lnTo>
                  <a:pt x="2304351" y="594004"/>
                </a:lnTo>
                <a:lnTo>
                  <a:pt x="2348729" y="578900"/>
                </a:lnTo>
                <a:lnTo>
                  <a:pt x="2371892" y="549175"/>
                </a:lnTo>
                <a:lnTo>
                  <a:pt x="2371969" y="549019"/>
                </a:lnTo>
                <a:lnTo>
                  <a:pt x="2374949" y="540135"/>
                </a:lnTo>
                <a:lnTo>
                  <a:pt x="2375009" y="539956"/>
                </a:lnTo>
                <a:lnTo>
                  <a:pt x="2376792" y="530760"/>
                </a:lnTo>
                <a:lnTo>
                  <a:pt x="2376832" y="530555"/>
                </a:lnTo>
                <a:lnTo>
                  <a:pt x="2377416" y="521284"/>
                </a:lnTo>
                <a:lnTo>
                  <a:pt x="2377440" y="520915"/>
                </a:lnTo>
                <a:lnTo>
                  <a:pt x="2377071" y="73075"/>
                </a:lnTo>
                <a:lnTo>
                  <a:pt x="2361980" y="28705"/>
                </a:lnTo>
                <a:lnTo>
                  <a:pt x="2323030" y="2428"/>
                </a:lnTo>
                <a:lnTo>
                  <a:pt x="2313629" y="607"/>
                </a:lnTo>
                <a:lnTo>
                  <a:pt x="230399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505064" y="3934345"/>
            <a:ext cx="82931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3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65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3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30" b="1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dirty="0" sz="13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2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3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95" b="1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13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50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278784" y="3934345"/>
            <a:ext cx="555053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feedparser</a:t>
            </a:r>
            <a:r>
              <a:rPr dirty="0" sz="1300" spc="3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•</a:t>
            </a:r>
            <a:r>
              <a:rPr dirty="0" sz="1300" spc="3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requests</a:t>
            </a:r>
            <a:r>
              <a:rPr dirty="0" sz="1300" spc="3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•</a:t>
            </a:r>
            <a:r>
              <a:rPr dirty="0" sz="1300" spc="3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newspaper3k</a:t>
            </a:r>
            <a:r>
              <a:rPr dirty="0" sz="1300" spc="3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•</a:t>
            </a:r>
            <a:r>
              <a:rPr dirty="0" sz="1300" spc="3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MurmurHash3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+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SimHash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 dedup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31164" y="4526279"/>
            <a:ext cx="2377440" cy="594360"/>
          </a:xfrm>
          <a:custGeom>
            <a:avLst/>
            <a:gdLst/>
            <a:ahLst/>
            <a:cxnLst/>
            <a:rect l="l" t="t" r="r" b="b"/>
            <a:pathLst>
              <a:path w="2377440" h="594360">
                <a:moveTo>
                  <a:pt x="2303995" y="0"/>
                </a:moveTo>
                <a:lnTo>
                  <a:pt x="73075" y="0"/>
                </a:lnTo>
                <a:lnTo>
                  <a:pt x="63597" y="607"/>
                </a:lnTo>
                <a:lnTo>
                  <a:pt x="21418" y="21467"/>
                </a:lnTo>
                <a:lnTo>
                  <a:pt x="607" y="63443"/>
                </a:lnTo>
                <a:lnTo>
                  <a:pt x="0" y="73075"/>
                </a:lnTo>
                <a:lnTo>
                  <a:pt x="0" y="521284"/>
                </a:lnTo>
                <a:lnTo>
                  <a:pt x="594" y="530555"/>
                </a:lnTo>
                <a:lnTo>
                  <a:pt x="607" y="530760"/>
                </a:lnTo>
                <a:lnTo>
                  <a:pt x="2394" y="539956"/>
                </a:lnTo>
                <a:lnTo>
                  <a:pt x="2428" y="540135"/>
                </a:lnTo>
                <a:lnTo>
                  <a:pt x="5412" y="549019"/>
                </a:lnTo>
                <a:lnTo>
                  <a:pt x="36360" y="584644"/>
                </a:lnTo>
                <a:lnTo>
                  <a:pt x="73075" y="594360"/>
                </a:lnTo>
                <a:lnTo>
                  <a:pt x="2304351" y="594004"/>
                </a:lnTo>
                <a:lnTo>
                  <a:pt x="2348729" y="578900"/>
                </a:lnTo>
                <a:lnTo>
                  <a:pt x="2371892" y="549175"/>
                </a:lnTo>
                <a:lnTo>
                  <a:pt x="2371969" y="549019"/>
                </a:lnTo>
                <a:lnTo>
                  <a:pt x="2374949" y="540135"/>
                </a:lnTo>
                <a:lnTo>
                  <a:pt x="2375009" y="539956"/>
                </a:lnTo>
                <a:lnTo>
                  <a:pt x="2376792" y="530760"/>
                </a:lnTo>
                <a:lnTo>
                  <a:pt x="2376832" y="530555"/>
                </a:lnTo>
                <a:lnTo>
                  <a:pt x="2377416" y="521284"/>
                </a:lnTo>
                <a:lnTo>
                  <a:pt x="2377440" y="520915"/>
                </a:lnTo>
                <a:lnTo>
                  <a:pt x="2377071" y="73075"/>
                </a:lnTo>
                <a:lnTo>
                  <a:pt x="2361980" y="28705"/>
                </a:lnTo>
                <a:lnTo>
                  <a:pt x="2323030" y="2428"/>
                </a:lnTo>
                <a:lnTo>
                  <a:pt x="2313629" y="607"/>
                </a:lnTo>
                <a:lnTo>
                  <a:pt x="230399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386979" y="4711585"/>
            <a:ext cx="106553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95" b="1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13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300" spc="-1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90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13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3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3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0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300" spc="-1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30" b="1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dirty="0" sz="13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7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14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3278784" y="4711585"/>
            <a:ext cx="532765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Supabase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 (PostgreSQL</a:t>
            </a:r>
            <a:r>
              <a:rPr dirty="0" sz="1300" spc="-6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+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pgvector)</a:t>
            </a:r>
            <a:r>
              <a:rPr dirty="0" sz="1300" spc="3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•</a:t>
            </a:r>
            <a:r>
              <a:rPr dirty="0" sz="1300" spc="3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384-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dim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LaBSE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 embedding index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66863" y="5488825"/>
            <a:ext cx="190563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90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13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3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3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35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1300" spc="-10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b="1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z="13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25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300" spc="-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95" b="1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13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3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35" b="1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3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0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300" spc="-1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300" spc="-1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3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90" b="1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13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15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278784" y="5488825"/>
            <a:ext cx="420243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GitHub</a:t>
            </a:r>
            <a:r>
              <a:rPr dirty="0" sz="1300" spc="-8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Actions</a:t>
            </a:r>
            <a:r>
              <a:rPr dirty="0" sz="1300" spc="30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•</a:t>
            </a:r>
            <a:r>
              <a:rPr dirty="0" sz="1300" spc="3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6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scheduled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workflows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(zero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infra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cost)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59" y="1279791"/>
            <a:ext cx="7680604" cy="512028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9903" y="444144"/>
            <a:ext cx="953516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40965" algn="l"/>
                <a:tab pos="3325495" algn="l"/>
                <a:tab pos="6275705" algn="l"/>
              </a:tabLst>
            </a:pPr>
            <a:r>
              <a:rPr dirty="0" spc="595"/>
              <a:t>RESULTS</a:t>
            </a:r>
            <a:r>
              <a:rPr dirty="0"/>
              <a:t>	</a:t>
            </a:r>
            <a:r>
              <a:rPr dirty="0" spc="875"/>
              <a:t>—</a:t>
            </a:r>
            <a:r>
              <a:rPr dirty="0"/>
              <a:t>	</a:t>
            </a:r>
            <a:r>
              <a:rPr dirty="0" spc="545"/>
              <a:t>QUESTION</a:t>
            </a:r>
            <a:r>
              <a:rPr dirty="0"/>
              <a:t>	</a:t>
            </a:r>
            <a:r>
              <a:rPr dirty="0" spc="620"/>
              <a:t>ANSWERING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8137804" y="1416964"/>
            <a:ext cx="3474720" cy="1463040"/>
          </a:xfrm>
          <a:custGeom>
            <a:avLst/>
            <a:gdLst/>
            <a:ahLst/>
            <a:cxnLst/>
            <a:rect l="l" t="t" r="r" b="b"/>
            <a:pathLst>
              <a:path w="3474720" h="1463039">
                <a:moveTo>
                  <a:pt x="3474351" y="0"/>
                </a:moveTo>
                <a:lnTo>
                  <a:pt x="0" y="0"/>
                </a:lnTo>
                <a:lnTo>
                  <a:pt x="0" y="1462671"/>
                </a:lnTo>
                <a:lnTo>
                  <a:pt x="1737359" y="1462671"/>
                </a:lnTo>
                <a:lnTo>
                  <a:pt x="3474351" y="1462671"/>
                </a:lnTo>
                <a:lnTo>
                  <a:pt x="3474351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148940" y="1434490"/>
            <a:ext cx="1454150" cy="1237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5600" spc="445" b="1">
                <a:solidFill>
                  <a:srgbClr val="5DE9D3"/>
                </a:solidFill>
                <a:latin typeface="Trebuchet MS"/>
                <a:cs typeface="Trebuchet MS"/>
              </a:rPr>
              <a:t>0%</a:t>
            </a:r>
            <a:endParaRPr sz="5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260"/>
              </a:spcBef>
            </a:pP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hallucination</a:t>
            </a:r>
            <a:r>
              <a:rPr dirty="0" sz="13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FFFFFF"/>
                </a:solidFill>
                <a:latin typeface="Microsoft Sans Serif"/>
                <a:cs typeface="Microsoft Sans Serif"/>
              </a:rPr>
              <a:t>on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Microsoft Sans Serif"/>
                <a:cs typeface="Microsoft Sans Serif"/>
              </a:rPr>
              <a:t>QA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15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8137804" y="3017164"/>
            <a:ext cx="3474720" cy="1463040"/>
          </a:xfrm>
          <a:prstGeom prst="rect">
            <a:avLst/>
          </a:prstGeom>
          <a:ln w="25559">
            <a:solidFill>
              <a:srgbClr val="0C9387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dirty="0" sz="5600" spc="-20" b="1">
                <a:solidFill>
                  <a:srgbClr val="0C9387"/>
                </a:solidFill>
                <a:latin typeface="Trebuchet MS"/>
                <a:cs typeface="Trebuchet MS"/>
              </a:rPr>
              <a:t>1.6×</a:t>
            </a:r>
            <a:endParaRPr sz="5600">
              <a:latin typeface="Trebuchet MS"/>
              <a:cs typeface="Trebuchet MS"/>
            </a:endParaRPr>
          </a:p>
          <a:p>
            <a:pPr algn="ctr" marL="1905">
              <a:lnSpc>
                <a:spcPct val="100000"/>
              </a:lnSpc>
              <a:spcBef>
                <a:spcPts val="1255"/>
              </a:spcBef>
            </a:pP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faster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than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rule-based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215096" y="4695380"/>
            <a:ext cx="329374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Adaptive-SLM-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RAG</a:t>
            </a:r>
            <a:r>
              <a:rPr dirty="0" sz="1200" spc="-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matches</a:t>
            </a:r>
            <a:r>
              <a:rPr dirty="0" sz="1200" spc="1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Standard-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RAG</a:t>
            </a:r>
            <a:r>
              <a:rPr dirty="0" sz="1200" spc="1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25" i="1">
                <a:solidFill>
                  <a:srgbClr val="333333"/>
                </a:solidFill>
                <a:latin typeface="Arial"/>
                <a:cs typeface="Arial"/>
              </a:rPr>
              <a:t>on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F1</a:t>
            </a:r>
            <a:r>
              <a:rPr dirty="0" sz="1200" spc="-3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while</a:t>
            </a:r>
            <a:r>
              <a:rPr dirty="0" sz="1200" spc="-3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eliminating</a:t>
            </a:r>
            <a:r>
              <a:rPr dirty="0" sz="1200" spc="-3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hallucinations</a:t>
            </a:r>
            <a:r>
              <a:rPr dirty="0" sz="1200" spc="-3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entirely.</a:t>
            </a:r>
            <a:r>
              <a:rPr dirty="0" sz="1200" spc="-2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20" i="1">
                <a:solidFill>
                  <a:srgbClr val="333333"/>
                </a:solidFill>
                <a:latin typeface="Arial"/>
                <a:cs typeface="Arial"/>
              </a:rPr>
              <a:t>Rule-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based</a:t>
            </a:r>
            <a:r>
              <a:rPr dirty="0" sz="1200" spc="-5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Adaptive-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RAG</a:t>
            </a:r>
            <a:r>
              <a:rPr dirty="0" sz="1200" spc="-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drops</a:t>
            </a:r>
            <a:r>
              <a:rPr dirty="0" sz="1200" spc="-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dirty="0" sz="1200" spc="-2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0.55 —</a:t>
            </a:r>
            <a:r>
              <a:rPr dirty="0" sz="1200" spc="-20" i="1">
                <a:solidFill>
                  <a:srgbClr val="333333"/>
                </a:solidFill>
                <a:latin typeface="Arial"/>
                <a:cs typeface="Arial"/>
              </a:rPr>
              <a:t> fixed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weights</a:t>
            </a:r>
            <a:r>
              <a:rPr dirty="0" sz="1200" spc="-3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inject</a:t>
            </a:r>
            <a:r>
              <a:rPr dirty="0" sz="1200" spc="-2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noise.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59" y="1279791"/>
            <a:ext cx="7680604" cy="512028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420456" y="444144"/>
            <a:ext cx="921512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40965" algn="l"/>
                <a:tab pos="3325495" algn="l"/>
                <a:tab pos="6580505" algn="l"/>
              </a:tabLst>
            </a:pPr>
            <a:r>
              <a:rPr dirty="0" sz="3600" spc="595" b="1">
                <a:solidFill>
                  <a:srgbClr val="191919"/>
                </a:solidFill>
                <a:latin typeface="Trebuchet MS"/>
                <a:cs typeface="Trebuchet MS"/>
              </a:rPr>
              <a:t>RESULTS</a:t>
            </a:r>
            <a:r>
              <a:rPr dirty="0" sz="3600" b="1">
                <a:solidFill>
                  <a:srgbClr val="191919"/>
                </a:solidFill>
                <a:latin typeface="Trebuchet MS"/>
                <a:cs typeface="Trebuchet MS"/>
              </a:rPr>
              <a:t>	</a:t>
            </a:r>
            <a:r>
              <a:rPr dirty="0" sz="3600" spc="875" b="1">
                <a:solidFill>
                  <a:srgbClr val="191919"/>
                </a:solidFill>
                <a:latin typeface="Trebuchet MS"/>
                <a:cs typeface="Trebuchet MS"/>
              </a:rPr>
              <a:t>—</a:t>
            </a:r>
            <a:r>
              <a:rPr dirty="0" sz="3600" b="1">
                <a:solidFill>
                  <a:srgbClr val="191919"/>
                </a:solidFill>
                <a:latin typeface="Trebuchet MS"/>
                <a:cs typeface="Trebuchet MS"/>
              </a:rPr>
              <a:t>	</a:t>
            </a:r>
            <a:r>
              <a:rPr dirty="0" sz="3600" spc="545" b="1">
                <a:solidFill>
                  <a:srgbClr val="191919"/>
                </a:solidFill>
                <a:latin typeface="Trebuchet MS"/>
                <a:cs typeface="Trebuchet MS"/>
              </a:rPr>
              <a:t>SENTIMENT</a:t>
            </a:r>
            <a:r>
              <a:rPr dirty="0" sz="3600" b="1">
                <a:solidFill>
                  <a:srgbClr val="191919"/>
                </a:solidFill>
                <a:latin typeface="Trebuchet MS"/>
                <a:cs typeface="Trebuchet MS"/>
              </a:rPr>
              <a:t>	</a:t>
            </a:r>
            <a:r>
              <a:rPr dirty="0" sz="3600" spc="580" b="1">
                <a:solidFill>
                  <a:srgbClr val="191919"/>
                </a:solidFill>
                <a:latin typeface="Trebuchet MS"/>
                <a:cs typeface="Trebuchet MS"/>
              </a:rPr>
              <a:t>ANALYSIS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137804" y="1416964"/>
            <a:ext cx="3474720" cy="1463040"/>
          </a:xfrm>
          <a:custGeom>
            <a:avLst/>
            <a:gdLst/>
            <a:ahLst/>
            <a:cxnLst/>
            <a:rect l="l" t="t" r="r" b="b"/>
            <a:pathLst>
              <a:path w="3474720" h="1463039">
                <a:moveTo>
                  <a:pt x="3474351" y="0"/>
                </a:moveTo>
                <a:lnTo>
                  <a:pt x="0" y="0"/>
                </a:lnTo>
                <a:lnTo>
                  <a:pt x="0" y="1462671"/>
                </a:lnTo>
                <a:lnTo>
                  <a:pt x="1737359" y="1462671"/>
                </a:lnTo>
                <a:lnTo>
                  <a:pt x="3474351" y="1462671"/>
                </a:lnTo>
                <a:lnTo>
                  <a:pt x="3474351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82696" y="1495691"/>
            <a:ext cx="158305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85">
                <a:solidFill>
                  <a:srgbClr val="5DE9D3"/>
                </a:solidFill>
              </a:rPr>
              <a:t>100%</a:t>
            </a:r>
            <a:endParaRPr sz="4800"/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16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9072626" y="2447899"/>
            <a:ext cx="160591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accuracy,</a:t>
            </a:r>
            <a:r>
              <a:rPr dirty="0" sz="1300" spc="-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FFFFFF"/>
                </a:solidFill>
                <a:latin typeface="Microsoft Sans Serif"/>
                <a:cs typeface="Microsoft Sans Serif"/>
              </a:rPr>
              <a:t>zero</a:t>
            </a:r>
            <a:r>
              <a:rPr dirty="0" sz="1300" spc="-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halluc.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137804" y="3017164"/>
            <a:ext cx="3474720" cy="1463040"/>
          </a:xfrm>
          <a:prstGeom prst="rect">
            <a:avLst/>
          </a:prstGeom>
          <a:ln w="25559">
            <a:solidFill>
              <a:srgbClr val="0C9387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dirty="0" sz="5600" spc="-20" b="1">
                <a:solidFill>
                  <a:srgbClr val="0C9387"/>
                </a:solidFill>
                <a:latin typeface="Trebuchet MS"/>
                <a:cs typeface="Trebuchet MS"/>
              </a:rPr>
              <a:t>2.3×</a:t>
            </a:r>
            <a:endParaRPr sz="5600">
              <a:latin typeface="Trebuchet MS"/>
              <a:cs typeface="Trebuchet MS"/>
            </a:endParaRPr>
          </a:p>
          <a:p>
            <a:pPr algn="ctr" marL="1905">
              <a:lnSpc>
                <a:spcPct val="100000"/>
              </a:lnSpc>
              <a:spcBef>
                <a:spcPts val="1255"/>
              </a:spcBef>
            </a:pP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faster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(156ms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vs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363ms)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215096" y="4695380"/>
            <a:ext cx="330454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Adaptive-SLM-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RAG</a:t>
            </a:r>
            <a:r>
              <a:rPr dirty="0" sz="1200" spc="-2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matches</a:t>
            </a:r>
            <a:r>
              <a:rPr dirty="0" sz="1200" spc="-1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dirty="0" sz="1200" spc="-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best</a:t>
            </a:r>
            <a:r>
              <a:rPr dirty="0" sz="1200" spc="-1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models</a:t>
            </a: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35" i="1">
                <a:solidFill>
                  <a:srgbClr val="333333"/>
                </a:solidFill>
                <a:latin typeface="Arial"/>
                <a:cs typeface="Arial"/>
              </a:rPr>
              <a:t>on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accuracy</a:t>
            </a:r>
            <a:r>
              <a:rPr dirty="0" sz="1200" spc="-3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while</a:t>
            </a:r>
            <a:r>
              <a:rPr dirty="0" sz="1200" spc="-3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running</a:t>
            </a:r>
            <a:r>
              <a:rPr dirty="0" sz="1200" spc="-2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2.3×</a:t>
            </a:r>
            <a:r>
              <a:rPr dirty="0" sz="1200" spc="-2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faster</a:t>
            </a:r>
            <a:r>
              <a:rPr dirty="0" sz="1200" spc="-1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than</a:t>
            </a:r>
            <a:r>
              <a:rPr dirty="0" sz="1200" spc="-3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20" i="1">
                <a:solidFill>
                  <a:srgbClr val="333333"/>
                </a:solidFill>
                <a:latin typeface="Arial"/>
                <a:cs typeface="Arial"/>
              </a:rPr>
              <a:t>rule-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based</a:t>
            </a:r>
            <a:r>
              <a:rPr dirty="0" sz="1200" spc="-2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—</a:t>
            </a:r>
            <a:r>
              <a:rPr dirty="0" sz="1200" spc="-2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dirty="0" sz="1200" spc="-3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same</a:t>
            </a:r>
            <a:r>
              <a:rPr dirty="0" sz="1200" spc="-2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predictor</a:t>
            </a:r>
            <a:r>
              <a:rPr dirty="0" sz="1200" spc="-3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generalises</a:t>
            </a:r>
            <a:r>
              <a:rPr dirty="0" sz="1200" spc="-2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20" i="1">
                <a:solidFill>
                  <a:srgbClr val="333333"/>
                </a:solidFill>
                <a:latin typeface="Arial"/>
                <a:cs typeface="Arial"/>
              </a:rPr>
              <a:t>with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zero</a:t>
            </a:r>
            <a:r>
              <a:rPr dirty="0" sz="1200" spc="-2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task-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specific</a:t>
            </a:r>
            <a:r>
              <a:rPr dirty="0" sz="1200" spc="-2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tuning.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59" y="1279791"/>
            <a:ext cx="7680604" cy="512028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19579" y="444144"/>
            <a:ext cx="78193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40965" algn="l"/>
                <a:tab pos="3325495" algn="l"/>
              </a:tabLst>
            </a:pPr>
            <a:r>
              <a:rPr dirty="0" spc="595"/>
              <a:t>RESULTS</a:t>
            </a:r>
            <a:r>
              <a:rPr dirty="0"/>
              <a:t>	</a:t>
            </a:r>
            <a:r>
              <a:rPr dirty="0" spc="875"/>
              <a:t>—</a:t>
            </a:r>
            <a:r>
              <a:rPr dirty="0"/>
              <a:t>	</a:t>
            </a:r>
            <a:r>
              <a:rPr dirty="0" spc="585"/>
              <a:t>SUMMARISATION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8137804" y="1416964"/>
            <a:ext cx="3474720" cy="1463040"/>
          </a:xfrm>
          <a:custGeom>
            <a:avLst/>
            <a:gdLst/>
            <a:ahLst/>
            <a:cxnLst/>
            <a:rect l="l" t="t" r="r" b="b"/>
            <a:pathLst>
              <a:path w="3474720" h="1463039">
                <a:moveTo>
                  <a:pt x="3474351" y="0"/>
                </a:moveTo>
                <a:lnTo>
                  <a:pt x="0" y="0"/>
                </a:lnTo>
                <a:lnTo>
                  <a:pt x="0" y="1462671"/>
                </a:lnTo>
                <a:lnTo>
                  <a:pt x="1737359" y="1462671"/>
                </a:lnTo>
                <a:lnTo>
                  <a:pt x="3474351" y="1462671"/>
                </a:lnTo>
                <a:lnTo>
                  <a:pt x="3474351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071178" y="1434490"/>
            <a:ext cx="1609090" cy="1237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5600" spc="-305" b="1">
                <a:solidFill>
                  <a:srgbClr val="5DE9D3"/>
                </a:solidFill>
                <a:latin typeface="Trebuchet MS"/>
                <a:cs typeface="Trebuchet MS"/>
              </a:rPr>
              <a:t>0.19</a:t>
            </a:r>
            <a:endParaRPr sz="5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260"/>
              </a:spcBef>
            </a:pP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ROUGE-</a:t>
            </a:r>
            <a:r>
              <a:rPr dirty="0" sz="130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r>
              <a:rPr dirty="0" sz="13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FFFFFF"/>
                </a:solidFill>
                <a:latin typeface="Microsoft Sans Serif"/>
                <a:cs typeface="Microsoft Sans Serif"/>
              </a:rPr>
              <a:t>(top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 score)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17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8137804" y="3017164"/>
            <a:ext cx="3474720" cy="1463040"/>
          </a:xfrm>
          <a:prstGeom prst="rect">
            <a:avLst/>
          </a:prstGeom>
          <a:ln w="25559">
            <a:solidFill>
              <a:srgbClr val="0C9387"/>
            </a:solidFill>
          </a:ln>
        </p:spPr>
        <p:txBody>
          <a:bodyPr wrap="square" lIns="0" tIns="304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dirty="0" sz="5600" spc="-20" b="1">
                <a:solidFill>
                  <a:srgbClr val="0C9387"/>
                </a:solidFill>
                <a:latin typeface="Trebuchet MS"/>
                <a:cs typeface="Trebuchet MS"/>
              </a:rPr>
              <a:t>2.2×</a:t>
            </a:r>
            <a:endParaRPr sz="5600">
              <a:latin typeface="Trebuchet MS"/>
              <a:cs typeface="Trebuchet MS"/>
            </a:endParaRPr>
          </a:p>
          <a:p>
            <a:pPr algn="ctr" marL="1905">
              <a:lnSpc>
                <a:spcPct val="100000"/>
              </a:lnSpc>
              <a:spcBef>
                <a:spcPts val="1255"/>
              </a:spcBef>
            </a:pP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faster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(708ms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vs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1533ms)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215096" y="4695380"/>
            <a:ext cx="324548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Adaptive-SLM-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RAG</a:t>
            </a:r>
            <a:r>
              <a:rPr dirty="0" sz="1200" spc="-2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hits</a:t>
            </a:r>
            <a:r>
              <a:rPr dirty="0" sz="1200" spc="-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dirty="0" sz="1200" spc="-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highest</a:t>
            </a:r>
            <a:r>
              <a:rPr dirty="0" sz="1200" spc="-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score</a:t>
            </a:r>
            <a:r>
              <a:rPr dirty="0" sz="1200" spc="-2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on</a:t>
            </a: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25" i="1">
                <a:solidFill>
                  <a:srgbClr val="333333"/>
                </a:solidFill>
                <a:latin typeface="Arial"/>
                <a:cs typeface="Arial"/>
              </a:rPr>
              <a:t>all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three</a:t>
            </a:r>
            <a:r>
              <a:rPr dirty="0" sz="1200" spc="-4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ROUGE</a:t>
            </a:r>
            <a:r>
              <a:rPr dirty="0" sz="1200" spc="-3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metrics.</a:t>
            </a:r>
            <a:r>
              <a:rPr dirty="0" sz="1200" spc="-4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Filtering</a:t>
            </a:r>
            <a:r>
              <a:rPr dirty="0" sz="1200" spc="-4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low-confidence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documents</a:t>
            </a:r>
            <a:r>
              <a:rPr dirty="0" sz="1200" spc="-4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before</a:t>
            </a:r>
            <a:r>
              <a:rPr dirty="0" sz="1200" spc="-3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generation</a:t>
            </a:r>
            <a:r>
              <a:rPr dirty="0" sz="1200" spc="-4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yields</a:t>
            </a:r>
            <a:r>
              <a:rPr dirty="0" sz="1200" spc="-30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tighter,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more</a:t>
            </a:r>
            <a:r>
              <a:rPr dirty="0" sz="1200" spc="-3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333333"/>
                </a:solidFill>
                <a:latin typeface="Arial"/>
                <a:cs typeface="Arial"/>
              </a:rPr>
              <a:t>grounded</a:t>
            </a:r>
            <a:r>
              <a:rPr dirty="0" sz="1200" spc="-25" i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333333"/>
                </a:solidFill>
                <a:latin typeface="Arial"/>
                <a:cs typeface="Arial"/>
              </a:rPr>
              <a:t>summaries.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7904" y="444144"/>
            <a:ext cx="69843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57475" algn="l"/>
                <a:tab pos="3342004" algn="l"/>
                <a:tab pos="5321935" algn="l"/>
              </a:tabLst>
            </a:pPr>
            <a:r>
              <a:rPr dirty="0" spc="515"/>
              <a:t>LATENCY</a:t>
            </a:r>
            <a:r>
              <a:rPr dirty="0"/>
              <a:t>	</a:t>
            </a:r>
            <a:r>
              <a:rPr dirty="0" spc="875"/>
              <a:t>—</a:t>
            </a:r>
            <a:r>
              <a:rPr dirty="0"/>
              <a:t>	</a:t>
            </a:r>
            <a:r>
              <a:rPr dirty="0" spc="665"/>
              <a:t>SPEED</a:t>
            </a:r>
            <a:r>
              <a:rPr dirty="0"/>
              <a:t>	</a:t>
            </a:r>
            <a:r>
              <a:rPr dirty="0" spc="590"/>
              <a:t>GAINS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4863" y="444144"/>
            <a:ext cx="66700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36060" algn="l"/>
              </a:tabLst>
            </a:pPr>
            <a:r>
              <a:rPr dirty="0" spc="545"/>
              <a:t>COMPARATIVE</a:t>
            </a:r>
            <a:r>
              <a:rPr dirty="0"/>
              <a:t>	</a:t>
            </a:r>
            <a:r>
              <a:rPr dirty="0" spc="575"/>
              <a:t>ANALYSIS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19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54341" y="1551621"/>
          <a:ext cx="11329035" cy="3838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7440"/>
                <a:gridCol w="1463039"/>
                <a:gridCol w="1737360"/>
                <a:gridCol w="1463039"/>
                <a:gridCol w="1554479"/>
                <a:gridCol w="2651759"/>
              </a:tblGrid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Variant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8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QA</a:t>
                      </a:r>
                      <a:r>
                        <a:rPr dirty="0" sz="1200" spc="-6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3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Sentiment </a:t>
                      </a:r>
                      <a:r>
                        <a:rPr dirty="0" sz="1200" spc="3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Acc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7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ROUGE-</a:t>
                      </a:r>
                      <a:r>
                        <a:rPr dirty="0" sz="1200" spc="-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Halluc.</a:t>
                      </a:r>
                      <a:r>
                        <a:rPr dirty="0" sz="1200" spc="-7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Rate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Notes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B="0" marT="4508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No-</a:t>
                      </a:r>
                      <a:r>
                        <a:rPr dirty="0" sz="1100" spc="8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RAG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0.00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39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—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39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—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0.50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39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—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Standard</a:t>
                      </a:r>
                      <a:r>
                        <a:rPr dirty="0" sz="1100" spc="13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8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RAG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0.73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1.00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0.18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0.10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Baseline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Re-ranking</a:t>
                      </a:r>
                      <a:r>
                        <a:rPr dirty="0" sz="1100" spc="11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75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RAG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0.73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1.00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0.18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0.10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Baseline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dirty="0" sz="1100" spc="-25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reranker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Adaptive</a:t>
                      </a:r>
                      <a:r>
                        <a:rPr dirty="0" sz="1100" spc="25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191919"/>
                          </a:solidFill>
                          <a:latin typeface="Trebuchet MS"/>
                          <a:cs typeface="Trebuchet MS"/>
                        </a:rPr>
                        <a:t>(rule)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0.55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0.90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0.16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0.40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Fixed</a:t>
                      </a:r>
                      <a:r>
                        <a:rPr dirty="0" sz="1100" spc="-3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weights</a:t>
                      </a:r>
                      <a:r>
                        <a:rPr dirty="0" sz="1100" spc="-20">
                          <a:solidFill>
                            <a:srgbClr val="191919"/>
                          </a:solidFill>
                          <a:latin typeface="Microsoft Sans Serif"/>
                          <a:cs typeface="Microsoft Sans Serif"/>
                        </a:rPr>
                        <a:t> fail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055E45"/>
                          </a:solidFill>
                          <a:latin typeface="Trebuchet MS"/>
                          <a:cs typeface="Trebuchet MS"/>
                        </a:rPr>
                        <a:t>Adaptive-</a:t>
                      </a:r>
                      <a:r>
                        <a:rPr dirty="0" sz="1100" spc="65" b="1">
                          <a:solidFill>
                            <a:srgbClr val="055E45"/>
                          </a:solidFill>
                          <a:latin typeface="Trebuchet MS"/>
                          <a:cs typeface="Trebuchet MS"/>
                        </a:rPr>
                        <a:t>SLM-</a:t>
                      </a:r>
                      <a:r>
                        <a:rPr dirty="0" sz="1100" spc="75" b="1">
                          <a:solidFill>
                            <a:srgbClr val="055E45"/>
                          </a:solidFill>
                          <a:latin typeface="Trebuchet MS"/>
                          <a:cs typeface="Trebuchet MS"/>
                        </a:rPr>
                        <a:t>RAG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20" b="1">
                          <a:solidFill>
                            <a:srgbClr val="055E45"/>
                          </a:solidFill>
                          <a:latin typeface="Trebuchet MS"/>
                          <a:cs typeface="Trebuchet MS"/>
                        </a:rPr>
                        <a:t>0.65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20" b="1">
                          <a:solidFill>
                            <a:srgbClr val="055E45"/>
                          </a:solidFill>
                          <a:latin typeface="Trebuchet MS"/>
                          <a:cs typeface="Trebuchet MS"/>
                        </a:rPr>
                        <a:t>1.00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20" b="1">
                          <a:solidFill>
                            <a:srgbClr val="055E45"/>
                          </a:solidFill>
                          <a:latin typeface="Trebuchet MS"/>
                          <a:cs typeface="Trebuchet MS"/>
                        </a:rPr>
                        <a:t>0.19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20" b="1">
                          <a:solidFill>
                            <a:srgbClr val="055E45"/>
                          </a:solidFill>
                          <a:latin typeface="Trebuchet MS"/>
                          <a:cs typeface="Trebuchet MS"/>
                        </a:rPr>
                        <a:t>0.00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b="1">
                          <a:solidFill>
                            <a:srgbClr val="055E45"/>
                          </a:solidFill>
                          <a:latin typeface="Trebuchet MS"/>
                          <a:cs typeface="Trebuchet MS"/>
                        </a:rPr>
                        <a:t>Best</a:t>
                      </a:r>
                      <a:r>
                        <a:rPr dirty="0" sz="1100" spc="135" b="1">
                          <a:solidFill>
                            <a:srgbClr val="055E4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055E45"/>
                          </a:solidFill>
                          <a:latin typeface="Trebuchet MS"/>
                          <a:cs typeface="Trebuchet MS"/>
                        </a:rPr>
                        <a:t>overall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B="0" marT="67945">
                    <a:lnL w="6350">
                      <a:solidFill>
                        <a:srgbClr val="E4E6EA"/>
                      </a:solidFill>
                      <a:prstDash val="solid"/>
                    </a:lnL>
                    <a:lnR w="6350">
                      <a:solidFill>
                        <a:srgbClr val="E4E6EA"/>
                      </a:solidFill>
                      <a:prstDash val="solid"/>
                    </a:lnR>
                    <a:lnT w="6350">
                      <a:solidFill>
                        <a:srgbClr val="E4E6EA"/>
                      </a:solidFill>
                      <a:prstDash val="solid"/>
                    </a:lnT>
                    <a:lnB w="6350">
                      <a:solidFill>
                        <a:srgbClr val="E4E6EA"/>
                      </a:solidFill>
                      <a:prstDash val="solid"/>
                    </a:lnB>
                    <a:solidFill>
                      <a:srgbClr val="EBFCF4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976579" y="5915062"/>
            <a:ext cx="10217150" cy="422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92345" marR="5080" indent="-4780280">
              <a:lnSpc>
                <a:spcPct val="100000"/>
              </a:lnSpc>
              <a:spcBef>
                <a:spcPts val="100"/>
              </a:spcBef>
            </a:pPr>
            <a:r>
              <a:rPr dirty="0" sz="1300" i="1">
                <a:solidFill>
                  <a:srgbClr val="6A717F"/>
                </a:solidFill>
                <a:latin typeface="Arial"/>
                <a:cs typeface="Arial"/>
              </a:rPr>
              <a:t>The</a:t>
            </a:r>
            <a:r>
              <a:rPr dirty="0" sz="1300" spc="-8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6A717F"/>
                </a:solidFill>
                <a:latin typeface="Arial"/>
                <a:cs typeface="Arial"/>
              </a:rPr>
              <a:t>Adaptive-</a:t>
            </a:r>
            <a:r>
              <a:rPr dirty="0" sz="1300" spc="-20" i="1">
                <a:solidFill>
                  <a:srgbClr val="6A717F"/>
                </a:solidFill>
                <a:latin typeface="Arial"/>
                <a:cs typeface="Arial"/>
              </a:rPr>
              <a:t>SLM-</a:t>
            </a:r>
            <a:r>
              <a:rPr dirty="0" sz="1300" i="1">
                <a:solidFill>
                  <a:srgbClr val="6A717F"/>
                </a:solidFill>
                <a:latin typeface="Arial"/>
                <a:cs typeface="Arial"/>
              </a:rPr>
              <a:t>RAG</a:t>
            </a:r>
            <a:r>
              <a:rPr dirty="0" sz="1300" spc="-3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6A717F"/>
                </a:solidFill>
                <a:latin typeface="Arial"/>
                <a:cs typeface="Arial"/>
              </a:rPr>
              <a:t>row</a:t>
            </a:r>
            <a:r>
              <a:rPr dirty="0" sz="1300" spc="-35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6A717F"/>
                </a:solidFill>
                <a:latin typeface="Arial"/>
                <a:cs typeface="Arial"/>
              </a:rPr>
              <a:t>dominates:</a:t>
            </a:r>
            <a:r>
              <a:rPr dirty="0" sz="1300" spc="-3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6A717F"/>
                </a:solidFill>
                <a:latin typeface="Arial"/>
                <a:cs typeface="Arial"/>
              </a:rPr>
              <a:t>highest</a:t>
            </a:r>
            <a:r>
              <a:rPr dirty="0" sz="1300" spc="-3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6A717F"/>
                </a:solidFill>
                <a:latin typeface="Arial"/>
                <a:cs typeface="Arial"/>
              </a:rPr>
              <a:t>ROUGE-</a:t>
            </a:r>
            <a:r>
              <a:rPr dirty="0" sz="1300" i="1">
                <a:solidFill>
                  <a:srgbClr val="6A717F"/>
                </a:solidFill>
                <a:latin typeface="Arial"/>
                <a:cs typeface="Arial"/>
              </a:rPr>
              <a:t>1,</a:t>
            </a:r>
            <a:r>
              <a:rPr dirty="0" sz="1300" spc="-3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6A717F"/>
                </a:solidFill>
                <a:latin typeface="Arial"/>
                <a:cs typeface="Arial"/>
              </a:rPr>
              <a:t>perfect</a:t>
            </a:r>
            <a:r>
              <a:rPr dirty="0" sz="1300" spc="-35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6A717F"/>
                </a:solidFill>
                <a:latin typeface="Arial"/>
                <a:cs typeface="Arial"/>
              </a:rPr>
              <a:t>sentiment</a:t>
            </a:r>
            <a:r>
              <a:rPr dirty="0" sz="1300" spc="-3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6A717F"/>
                </a:solidFill>
                <a:latin typeface="Arial"/>
                <a:cs typeface="Arial"/>
              </a:rPr>
              <a:t>accuracy,</a:t>
            </a:r>
            <a:r>
              <a:rPr dirty="0" sz="1300" spc="-3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6A717F"/>
                </a:solidFill>
                <a:latin typeface="Arial"/>
                <a:cs typeface="Arial"/>
              </a:rPr>
              <a:t>zero</a:t>
            </a:r>
            <a:r>
              <a:rPr dirty="0" sz="1300" spc="-35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6A717F"/>
                </a:solidFill>
                <a:latin typeface="Arial"/>
                <a:cs typeface="Arial"/>
              </a:rPr>
              <a:t>hallucination</a:t>
            </a:r>
            <a:r>
              <a:rPr dirty="0" sz="1300" spc="-3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6A717F"/>
                </a:solidFill>
                <a:latin typeface="Arial"/>
                <a:cs typeface="Arial"/>
              </a:rPr>
              <a:t>—</a:t>
            </a:r>
            <a:r>
              <a:rPr dirty="0" sz="1300" spc="-35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6A717F"/>
                </a:solidFill>
                <a:latin typeface="Arial"/>
                <a:cs typeface="Arial"/>
              </a:rPr>
              <a:t>and</a:t>
            </a:r>
            <a:r>
              <a:rPr dirty="0" sz="1300" spc="-3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6A717F"/>
                </a:solidFill>
                <a:latin typeface="Arial"/>
                <a:cs typeface="Arial"/>
              </a:rPr>
              <a:t>the</a:t>
            </a:r>
            <a:r>
              <a:rPr dirty="0" sz="1300" spc="-35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6A717F"/>
                </a:solidFill>
                <a:latin typeface="Arial"/>
                <a:cs typeface="Arial"/>
              </a:rPr>
              <a:t>fastest</a:t>
            </a:r>
            <a:r>
              <a:rPr dirty="0" sz="1300" spc="-3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6A717F"/>
                </a:solidFill>
                <a:latin typeface="Arial"/>
                <a:cs typeface="Arial"/>
              </a:rPr>
              <a:t>of</a:t>
            </a:r>
            <a:r>
              <a:rPr dirty="0" sz="1300" spc="-3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6A717F"/>
                </a:solidFill>
                <a:latin typeface="Arial"/>
                <a:cs typeface="Arial"/>
              </a:rPr>
              <a:t>the</a:t>
            </a:r>
            <a:r>
              <a:rPr dirty="0" sz="1300" spc="-30" i="1">
                <a:solidFill>
                  <a:srgbClr val="6A717F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6A717F"/>
                </a:solidFill>
                <a:latin typeface="Arial"/>
                <a:cs typeface="Arial"/>
              </a:rPr>
              <a:t>adaptive variants.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1164" y="4525924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371600" h="1371600">
                <a:moveTo>
                  <a:pt x="1371231" y="0"/>
                </a:moveTo>
                <a:lnTo>
                  <a:pt x="0" y="0"/>
                </a:lnTo>
                <a:lnTo>
                  <a:pt x="0" y="1371231"/>
                </a:lnTo>
                <a:lnTo>
                  <a:pt x="685800" y="1371231"/>
                </a:lnTo>
                <a:lnTo>
                  <a:pt x="1371231" y="1371231"/>
                </a:lnTo>
                <a:lnTo>
                  <a:pt x="1371231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13381" y="444144"/>
            <a:ext cx="80314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37585" algn="l"/>
                <a:tab pos="4221480" algn="l"/>
                <a:tab pos="5481955" algn="l"/>
              </a:tabLst>
            </a:pPr>
            <a:r>
              <a:rPr dirty="0" spc="635"/>
              <a:t>DISCUSSION</a:t>
            </a:r>
            <a:r>
              <a:rPr dirty="0"/>
              <a:t>	</a:t>
            </a:r>
            <a:r>
              <a:rPr dirty="0" spc="875"/>
              <a:t>—</a:t>
            </a:r>
            <a:r>
              <a:rPr dirty="0"/>
              <a:t>	</a:t>
            </a:r>
            <a:r>
              <a:rPr dirty="0" spc="530"/>
              <a:t>KEY</a:t>
            </a:r>
            <a:r>
              <a:rPr dirty="0"/>
              <a:t>	</a:t>
            </a:r>
            <a:r>
              <a:rPr dirty="0" spc="540"/>
              <a:t>FINDINGS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731164" y="1416964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371600" h="1371600">
                <a:moveTo>
                  <a:pt x="1371231" y="0"/>
                </a:moveTo>
                <a:lnTo>
                  <a:pt x="0" y="0"/>
                </a:lnTo>
                <a:lnTo>
                  <a:pt x="0" y="1371231"/>
                </a:lnTo>
                <a:lnTo>
                  <a:pt x="685800" y="1371231"/>
                </a:lnTo>
                <a:lnTo>
                  <a:pt x="1371231" y="1371231"/>
                </a:lnTo>
                <a:lnTo>
                  <a:pt x="1371231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067816" y="1525930"/>
            <a:ext cx="9950450" cy="728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17295">
              <a:lnSpc>
                <a:spcPts val="1330"/>
              </a:lnSpc>
              <a:spcBef>
                <a:spcPts val="100"/>
              </a:spcBef>
            </a:pPr>
            <a:r>
              <a:rPr dirty="0" sz="2000" b="1">
                <a:solidFill>
                  <a:srgbClr val="191919"/>
                </a:solidFill>
                <a:latin typeface="Trebuchet MS"/>
                <a:cs typeface="Trebuchet MS"/>
              </a:rPr>
              <a:t>Multilingual</a:t>
            </a:r>
            <a:r>
              <a:rPr dirty="0" sz="2000" spc="145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2000" spc="-10" b="1">
                <a:solidFill>
                  <a:srgbClr val="191919"/>
                </a:solidFill>
                <a:latin typeface="Trebuchet MS"/>
                <a:cs typeface="Trebuchet MS"/>
              </a:rPr>
              <a:t>matters</a:t>
            </a:r>
            <a:endParaRPr sz="2000">
              <a:latin typeface="Trebuchet MS"/>
              <a:cs typeface="Trebuchet MS"/>
            </a:endParaRPr>
          </a:p>
          <a:p>
            <a:pPr marL="38100">
              <a:lnSpc>
                <a:spcPts val="4210"/>
              </a:lnSpc>
              <a:tabLst>
                <a:tab pos="1307465" algn="l"/>
              </a:tabLst>
            </a:pPr>
            <a:r>
              <a:rPr dirty="0" baseline="-19570" sz="6600" spc="-37" b="1">
                <a:solidFill>
                  <a:srgbClr val="5DE9D3"/>
                </a:solidFill>
                <a:latin typeface="Trebuchet MS"/>
                <a:cs typeface="Trebuchet MS"/>
              </a:rPr>
              <a:t>01</a:t>
            </a:r>
            <a:r>
              <a:rPr dirty="0" baseline="-19570" sz="6600" b="1">
                <a:solidFill>
                  <a:srgbClr val="5DE9D3"/>
                </a:solidFill>
                <a:latin typeface="Trebuchet MS"/>
                <a:cs typeface="Trebuchet MS"/>
              </a:rPr>
              <a:t>	</a:t>
            </a:r>
            <a:r>
              <a:rPr dirty="0" baseline="-66239" sz="1950" spc="-44">
                <a:solidFill>
                  <a:srgbClr val="333333"/>
                </a:solidFill>
                <a:latin typeface="Microsoft Sans Serif"/>
                <a:cs typeface="Microsoft Sans Serif"/>
              </a:rPr>
              <a:t>m</a:t>
            </a:r>
            <a:r>
              <a:rPr dirty="0" baseline="-66239" sz="1950" spc="-2737">
                <a:solidFill>
                  <a:srgbClr val="333333"/>
                </a:solidFill>
                <a:latin typeface="Microsoft Sans Serif"/>
                <a:cs typeface="Microsoft Sans Serif"/>
              </a:rPr>
              <a:t>u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n</a:t>
            </a:r>
            <a:r>
              <a:rPr dirty="0" sz="1300" spc="-530">
                <a:solidFill>
                  <a:srgbClr val="333333"/>
                </a:solidFill>
                <a:latin typeface="Microsoft Sans Serif"/>
                <a:cs typeface="Microsoft Sans Serif"/>
              </a:rPr>
              <a:t>g</a:t>
            </a:r>
            <a:r>
              <a:rPr dirty="0" baseline="-66239" sz="1950" spc="-30">
                <a:solidFill>
                  <a:srgbClr val="333333"/>
                </a:solidFill>
                <a:latin typeface="Microsoft Sans Serif"/>
                <a:cs typeface="Microsoft Sans Serif"/>
              </a:rPr>
              <a:t>ltilingua</a:t>
            </a:r>
            <a:r>
              <a:rPr dirty="0" baseline="-66239" sz="1950" spc="-6547">
                <a:solidFill>
                  <a:srgbClr val="333333"/>
                </a:solidFill>
                <a:latin typeface="Microsoft Sans Serif"/>
                <a:cs typeface="Microsoft Sans Serif"/>
              </a:rPr>
              <a:t>l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l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i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sh-on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l</a:t>
            </a:r>
            <a:r>
              <a:rPr dirty="0" sz="1300" spc="-235">
                <a:solidFill>
                  <a:srgbClr val="333333"/>
                </a:solidFill>
                <a:latin typeface="Microsoft Sans Serif"/>
                <a:cs typeface="Microsoft Sans Serif"/>
              </a:rPr>
              <a:t>y</a:t>
            </a:r>
            <a:r>
              <a:rPr dirty="0" baseline="-66239" sz="1950" spc="-22">
                <a:solidFill>
                  <a:srgbClr val="333333"/>
                </a:solidFill>
                <a:latin typeface="Microsoft Sans Serif"/>
                <a:cs typeface="Microsoft Sans Serif"/>
              </a:rPr>
              <a:t>s</a:t>
            </a:r>
            <a:r>
              <a:rPr dirty="0" baseline="-66239" sz="1950" spc="-30">
                <a:solidFill>
                  <a:srgbClr val="333333"/>
                </a:solidFill>
                <a:latin typeface="Microsoft Sans Serif"/>
                <a:cs typeface="Microsoft Sans Serif"/>
              </a:rPr>
              <a:t>ta</a:t>
            </a:r>
            <a:r>
              <a:rPr dirty="0" baseline="-66239" sz="1950" spc="-22">
                <a:solidFill>
                  <a:srgbClr val="333333"/>
                </a:solidFill>
                <a:latin typeface="Microsoft Sans Serif"/>
                <a:cs typeface="Microsoft Sans Serif"/>
              </a:rPr>
              <a:t>c</a:t>
            </a:r>
            <a:r>
              <a:rPr dirty="0" baseline="-66239" sz="1950" spc="-3697">
                <a:solidFill>
                  <a:srgbClr val="333333"/>
                </a:solidFill>
                <a:latin typeface="Microsoft Sans Serif"/>
                <a:cs typeface="Microsoft Sans Serif"/>
              </a:rPr>
              <a:t>k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N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L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P</a:t>
            </a:r>
            <a:r>
              <a:rPr dirty="0" sz="1300" spc="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baseline="-66239" sz="1950" spc="-15">
                <a:solidFill>
                  <a:srgbClr val="333333"/>
                </a:solidFill>
                <a:latin typeface="Microsoft Sans Serif"/>
                <a:cs typeface="Microsoft Sans Serif"/>
              </a:rPr>
              <a:t>c</a:t>
            </a:r>
            <a:r>
              <a:rPr dirty="0" baseline="-66239" sz="1950" spc="-22">
                <a:solidFill>
                  <a:srgbClr val="333333"/>
                </a:solidFill>
                <a:latin typeface="Microsoft Sans Serif"/>
                <a:cs typeface="Microsoft Sans Serif"/>
              </a:rPr>
              <a:t>lo</a:t>
            </a:r>
            <a:r>
              <a:rPr dirty="0" baseline="-66239" sz="1950" spc="-15">
                <a:solidFill>
                  <a:srgbClr val="333333"/>
                </a:solidFill>
                <a:latin typeface="Microsoft Sans Serif"/>
                <a:cs typeface="Microsoft Sans Serif"/>
              </a:rPr>
              <a:t>s</a:t>
            </a:r>
            <a:r>
              <a:rPr dirty="0" baseline="-66239" sz="1950" spc="-22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baseline="-66239" sz="1950" spc="-5452">
                <a:solidFill>
                  <a:srgbClr val="333333"/>
                </a:solidFill>
                <a:latin typeface="Microsoft Sans Serif"/>
                <a:cs typeface="Microsoft Sans Serif"/>
              </a:rPr>
              <a:t>s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tool</a:t>
            </a:r>
            <a:r>
              <a:rPr dirty="0" sz="1300" spc="-5">
                <a:solidFill>
                  <a:srgbClr val="333333"/>
                </a:solidFill>
                <a:latin typeface="Microsoft Sans Serif"/>
                <a:cs typeface="Microsoft Sans Serif"/>
              </a:rPr>
              <a:t>s</a:t>
            </a:r>
            <a:r>
              <a:rPr dirty="0" sz="1300" spc="1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(</a:t>
            </a:r>
            <a:r>
              <a:rPr dirty="0" sz="1300" spc="-425">
                <a:solidFill>
                  <a:srgbClr val="333333"/>
                </a:solidFill>
                <a:latin typeface="Microsoft Sans Serif"/>
                <a:cs typeface="Microsoft Sans Serif"/>
              </a:rPr>
              <a:t>V</a:t>
            </a:r>
            <a:r>
              <a:rPr dirty="0" baseline="-66239" sz="1950" spc="-30">
                <a:solidFill>
                  <a:srgbClr val="333333"/>
                </a:solidFill>
                <a:latin typeface="Microsoft Sans Serif"/>
                <a:cs typeface="Microsoft Sans Serif"/>
              </a:rPr>
              <a:t>tha</a:t>
            </a:r>
            <a:r>
              <a:rPr dirty="0" baseline="-66239" sz="1950" spc="-2820">
                <a:solidFill>
                  <a:srgbClr val="333333"/>
                </a:solidFill>
                <a:latin typeface="Microsoft Sans Serif"/>
                <a:cs typeface="Microsoft Sans Serif"/>
              </a:rPr>
              <a:t>t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AD</a:t>
            </a:r>
            <a:r>
              <a:rPr dirty="0" sz="1300" spc="-475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baseline="-66239" sz="1950" spc="-30">
                <a:solidFill>
                  <a:srgbClr val="333333"/>
                </a:solidFill>
                <a:latin typeface="Microsoft Sans Serif"/>
                <a:cs typeface="Microsoft Sans Serif"/>
              </a:rPr>
              <a:t>ga</a:t>
            </a:r>
            <a:r>
              <a:rPr dirty="0" baseline="-66239" sz="1950" spc="-2610">
                <a:solidFill>
                  <a:srgbClr val="333333"/>
                </a:solidFill>
                <a:latin typeface="Microsoft Sans Serif"/>
                <a:cs typeface="Microsoft Sans Serif"/>
              </a:rPr>
              <a:t>p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R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,</a:t>
            </a:r>
            <a:r>
              <a:rPr dirty="0" sz="1300" spc="114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395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baseline="-66239" sz="1950" spc="-592">
                <a:solidFill>
                  <a:srgbClr val="333333"/>
                </a:solidFill>
                <a:latin typeface="Microsoft Sans Serif"/>
                <a:cs typeface="Microsoft Sans Serif"/>
              </a:rPr>
              <a:t>—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t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c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.</a:t>
            </a:r>
            <a:r>
              <a:rPr dirty="0" sz="1300" spc="-480">
                <a:solidFill>
                  <a:srgbClr val="333333"/>
                </a:solidFill>
                <a:latin typeface="Microsoft Sans Serif"/>
                <a:cs typeface="Microsoft Sans Serif"/>
              </a:rPr>
              <a:t>)</a:t>
            </a:r>
            <a:r>
              <a:rPr dirty="0" baseline="-66239" sz="1950" spc="-30">
                <a:solidFill>
                  <a:srgbClr val="333333"/>
                </a:solidFill>
                <a:latin typeface="Microsoft Sans Serif"/>
                <a:cs typeface="Microsoft Sans Serif"/>
              </a:rPr>
              <a:t>ful</a:t>
            </a:r>
            <a:r>
              <a:rPr dirty="0" baseline="-66239" sz="1950" spc="-1327">
                <a:solidFill>
                  <a:srgbClr val="333333"/>
                </a:solidFill>
                <a:latin typeface="Microsoft Sans Serif"/>
                <a:cs typeface="Microsoft Sans Serif"/>
              </a:rPr>
              <a:t>l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fai</a:t>
            </a:r>
            <a:r>
              <a:rPr dirty="0" sz="1300" spc="-495">
                <a:solidFill>
                  <a:srgbClr val="333333"/>
                </a:solidFill>
                <a:latin typeface="Microsoft Sans Serif"/>
                <a:cs typeface="Microsoft Sans Serif"/>
              </a:rPr>
              <a:t>l</a:t>
            </a:r>
            <a:r>
              <a:rPr dirty="0" baseline="-66239" sz="1950" spc="-30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baseline="-66239" sz="1950" spc="-975">
                <a:solidFill>
                  <a:srgbClr val="333333"/>
                </a:solidFill>
                <a:latin typeface="Microsoft Sans Serif"/>
                <a:cs typeface="Microsoft Sans Serif"/>
              </a:rPr>
              <a:t>n</a:t>
            </a:r>
            <a:r>
              <a:rPr dirty="0" sz="1300" spc="-105">
                <a:solidFill>
                  <a:srgbClr val="333333"/>
                </a:solidFill>
                <a:latin typeface="Microsoft Sans Serif"/>
                <a:cs typeface="Microsoft Sans Serif"/>
              </a:rPr>
              <a:t>o</a:t>
            </a:r>
            <a:r>
              <a:rPr dirty="0" baseline="-66239" sz="1950" spc="-44">
                <a:solidFill>
                  <a:srgbClr val="333333"/>
                </a:solidFill>
                <a:latin typeface="Microsoft Sans Serif"/>
                <a:cs typeface="Microsoft Sans Serif"/>
              </a:rPr>
              <a:t>r</a:t>
            </a:r>
            <a:r>
              <a:rPr dirty="0" baseline="-66239" sz="1950" spc="-15">
                <a:solidFill>
                  <a:srgbClr val="333333"/>
                </a:solidFill>
                <a:latin typeface="Microsoft Sans Serif"/>
                <a:cs typeface="Microsoft Sans Serif"/>
              </a:rPr>
              <a:t>i</a:t>
            </a:r>
            <a:r>
              <a:rPr dirty="0" baseline="-66239" sz="1950" spc="-30">
                <a:solidFill>
                  <a:srgbClr val="333333"/>
                </a:solidFill>
                <a:latin typeface="Microsoft Sans Serif"/>
                <a:cs typeface="Microsoft Sans Serif"/>
              </a:rPr>
              <a:t>c</a:t>
            </a:r>
            <a:r>
              <a:rPr dirty="0" baseline="-66239" sz="1950" spc="-3045">
                <a:solidFill>
                  <a:srgbClr val="333333"/>
                </a:solidFill>
                <a:latin typeface="Microsoft Sans Serif"/>
                <a:cs typeface="Microsoft Sans Serif"/>
              </a:rPr>
              <a:t>h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n</a:t>
            </a:r>
            <a:r>
              <a:rPr dirty="0" sz="1300" spc="114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5">
                <a:solidFill>
                  <a:srgbClr val="333333"/>
                </a:solidFill>
                <a:latin typeface="Microsoft Sans Serif"/>
                <a:cs typeface="Microsoft Sans Serif"/>
              </a:rPr>
              <a:t>4</a:t>
            </a:r>
            <a:r>
              <a:rPr dirty="0" sz="1300" spc="-525">
                <a:solidFill>
                  <a:srgbClr val="333333"/>
                </a:solidFill>
                <a:latin typeface="Microsoft Sans Serif"/>
                <a:cs typeface="Microsoft Sans Serif"/>
              </a:rPr>
              <a:t>0</a:t>
            </a:r>
            <a:r>
              <a:rPr dirty="0" baseline="-66239" sz="1950" spc="7">
                <a:solidFill>
                  <a:srgbClr val="333333"/>
                </a:solidFill>
                <a:latin typeface="Microsoft Sans Serif"/>
                <a:cs typeface="Microsoft Sans Serif"/>
              </a:rPr>
              <a:t>men</a:t>
            </a:r>
            <a:r>
              <a:rPr dirty="0" baseline="-66239" sz="1950" spc="-3540">
                <a:solidFill>
                  <a:srgbClr val="333333"/>
                </a:solidFill>
                <a:latin typeface="Microsoft Sans Serif"/>
                <a:cs typeface="Microsoft Sans Serif"/>
              </a:rPr>
              <a:t>t</a:t>
            </a:r>
            <a:r>
              <a:rPr dirty="0" sz="1300" spc="10">
                <a:solidFill>
                  <a:srgbClr val="333333"/>
                </a:solidFill>
                <a:latin typeface="Microsoft Sans Serif"/>
                <a:cs typeface="Microsoft Sans Serif"/>
              </a:rPr>
              <a:t>–</a:t>
            </a:r>
            <a:r>
              <a:rPr dirty="0" sz="1300" spc="5">
                <a:solidFill>
                  <a:srgbClr val="333333"/>
                </a:solidFill>
                <a:latin typeface="Microsoft Sans Serif"/>
                <a:cs typeface="Microsoft Sans Serif"/>
              </a:rPr>
              <a:t>50</a:t>
            </a:r>
            <a:r>
              <a:rPr dirty="0" sz="1300" spc="-600">
                <a:solidFill>
                  <a:srgbClr val="333333"/>
                </a:solidFill>
                <a:latin typeface="Microsoft Sans Serif"/>
                <a:cs typeface="Microsoft Sans Serif"/>
              </a:rPr>
              <a:t>%</a:t>
            </a:r>
            <a:r>
              <a:rPr dirty="0" baseline="-66239" sz="1950" spc="15">
                <a:solidFill>
                  <a:srgbClr val="333333"/>
                </a:solidFill>
                <a:latin typeface="Microsoft Sans Serif"/>
                <a:cs typeface="Microsoft Sans Serif"/>
              </a:rPr>
              <a:t>c</a:t>
            </a:r>
            <a:r>
              <a:rPr dirty="0" baseline="-66239" sz="1950" spc="7">
                <a:solidFill>
                  <a:srgbClr val="333333"/>
                </a:solidFill>
                <a:latin typeface="Microsoft Sans Serif"/>
                <a:cs typeface="Microsoft Sans Serif"/>
              </a:rPr>
              <a:t>o</a:t>
            </a:r>
            <a:r>
              <a:rPr dirty="0" baseline="-66239" sz="1950" spc="15">
                <a:solidFill>
                  <a:srgbClr val="333333"/>
                </a:solidFill>
                <a:latin typeface="Microsoft Sans Serif"/>
                <a:cs typeface="Microsoft Sans Serif"/>
              </a:rPr>
              <a:t>v</a:t>
            </a:r>
            <a:r>
              <a:rPr dirty="0" baseline="-66239" sz="1950" spc="7">
                <a:solidFill>
                  <a:srgbClr val="333333"/>
                </a:solidFill>
                <a:latin typeface="Microsoft Sans Serif"/>
                <a:cs typeface="Microsoft Sans Serif"/>
              </a:rPr>
              <a:t>erag</a:t>
            </a:r>
            <a:r>
              <a:rPr dirty="0" baseline="-66239" sz="1950" spc="-6600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sz="1300" spc="5">
                <a:solidFill>
                  <a:srgbClr val="333333"/>
                </a:solidFill>
                <a:latin typeface="Microsoft Sans Serif"/>
                <a:cs typeface="Microsoft Sans Serif"/>
              </a:rPr>
              <a:t>o</a:t>
            </a:r>
            <a:r>
              <a:rPr dirty="0" sz="1300" spc="15">
                <a:solidFill>
                  <a:srgbClr val="333333"/>
                </a:solidFill>
                <a:latin typeface="Microsoft Sans Serif"/>
                <a:cs typeface="Microsoft Sans Serif"/>
              </a:rPr>
              <a:t>f</a:t>
            </a:r>
            <a:r>
              <a:rPr dirty="0" sz="1300" spc="114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70">
                <a:solidFill>
                  <a:srgbClr val="333333"/>
                </a:solidFill>
                <a:latin typeface="Microsoft Sans Serif"/>
                <a:cs typeface="Microsoft Sans Serif"/>
              </a:rPr>
              <a:t>H</a:t>
            </a:r>
            <a:r>
              <a:rPr dirty="0" sz="1300" spc="65">
                <a:solidFill>
                  <a:srgbClr val="333333"/>
                </a:solidFill>
                <a:latin typeface="Microsoft Sans Serif"/>
                <a:cs typeface="Microsoft Sans Serif"/>
              </a:rPr>
              <a:t>indi</a:t>
            </a:r>
            <a:r>
              <a:rPr dirty="0" sz="1300" spc="35">
                <a:solidFill>
                  <a:srgbClr val="333333"/>
                </a:solidFill>
                <a:latin typeface="Microsoft Sans Serif"/>
                <a:cs typeface="Microsoft Sans Serif"/>
              </a:rPr>
              <a:t>,</a:t>
            </a:r>
            <a:r>
              <a:rPr dirty="0" baseline="-66239" sz="1950" spc="97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dirty="0" baseline="-66239" sz="1950" spc="104">
                <a:solidFill>
                  <a:srgbClr val="333333"/>
                </a:solidFill>
                <a:latin typeface="Microsoft Sans Serif"/>
                <a:cs typeface="Microsoft Sans Serif"/>
              </a:rPr>
              <a:t>c</a:t>
            </a:r>
            <a:r>
              <a:rPr dirty="0" baseline="-66239" sz="1950" spc="97">
                <a:solidFill>
                  <a:srgbClr val="333333"/>
                </a:solidFill>
                <a:latin typeface="Microsoft Sans Serif"/>
                <a:cs typeface="Microsoft Sans Serif"/>
              </a:rPr>
              <a:t>ro</a:t>
            </a:r>
            <a:r>
              <a:rPr dirty="0" baseline="-66239" sz="1950" spc="104">
                <a:solidFill>
                  <a:srgbClr val="333333"/>
                </a:solidFill>
                <a:latin typeface="Microsoft Sans Serif"/>
                <a:cs typeface="Microsoft Sans Serif"/>
              </a:rPr>
              <a:t>s</a:t>
            </a:r>
            <a:r>
              <a:rPr dirty="0" baseline="-66239" sz="1950" spc="-5077">
                <a:solidFill>
                  <a:srgbClr val="333333"/>
                </a:solidFill>
                <a:latin typeface="Microsoft Sans Serif"/>
                <a:cs typeface="Microsoft Sans Serif"/>
              </a:rPr>
              <a:t>s</a:t>
            </a:r>
            <a:r>
              <a:rPr dirty="0" sz="1300" spc="-80">
                <a:solidFill>
                  <a:srgbClr val="333333"/>
                </a:solidFill>
                <a:latin typeface="Microsoft Sans Serif"/>
                <a:cs typeface="Microsoft Sans Serif"/>
              </a:rPr>
              <a:t>T</a:t>
            </a:r>
            <a:r>
              <a:rPr dirty="0" sz="1300" spc="65">
                <a:solidFill>
                  <a:srgbClr val="333333"/>
                </a:solidFill>
                <a:latin typeface="Microsoft Sans Serif"/>
                <a:cs typeface="Microsoft Sans Serif"/>
              </a:rPr>
              <a:t>amil</a:t>
            </a:r>
            <a:r>
              <a:rPr dirty="0" sz="1300" spc="75">
                <a:solidFill>
                  <a:srgbClr val="333333"/>
                </a:solidFill>
                <a:latin typeface="Microsoft Sans Serif"/>
                <a:cs typeface="Microsoft Sans Serif"/>
              </a:rPr>
              <a:t>,</a:t>
            </a:r>
            <a:r>
              <a:rPr dirty="0" sz="1300" spc="-1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925">
                <a:solidFill>
                  <a:srgbClr val="333333"/>
                </a:solidFill>
                <a:latin typeface="Microsoft Sans Serif"/>
                <a:cs typeface="Microsoft Sans Serif"/>
              </a:rPr>
              <a:t>T</a:t>
            </a:r>
            <a:r>
              <a:rPr dirty="0" baseline="-66239" sz="1950" spc="-330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baseline="-66239" sz="1950" spc="-322">
                <a:solidFill>
                  <a:srgbClr val="333333"/>
                </a:solidFill>
                <a:latin typeface="Microsoft Sans Serif"/>
                <a:cs typeface="Microsoft Sans Serif"/>
              </a:rPr>
              <a:t>v</a:t>
            </a:r>
            <a:r>
              <a:rPr dirty="0" baseline="-66239" sz="1950" spc="-330">
                <a:solidFill>
                  <a:srgbClr val="333333"/>
                </a:solidFill>
                <a:latin typeface="Microsoft Sans Serif"/>
                <a:cs typeface="Microsoft Sans Serif"/>
              </a:rPr>
              <a:t>er</a:t>
            </a:r>
            <a:r>
              <a:rPr dirty="0" baseline="-66239" sz="1950" spc="-4245">
                <a:solidFill>
                  <a:srgbClr val="333333"/>
                </a:solidFill>
                <a:latin typeface="Microsoft Sans Serif"/>
                <a:cs typeface="Microsoft Sans Serif"/>
              </a:rPr>
              <a:t>y</a:t>
            </a:r>
            <a:r>
              <a:rPr dirty="0" sz="1300" spc="-220">
                <a:solidFill>
                  <a:srgbClr val="333333"/>
                </a:solidFill>
                <a:latin typeface="Microsoft Sans Serif"/>
                <a:cs typeface="Microsoft Sans Serif"/>
              </a:rPr>
              <a:t>elug</a:t>
            </a:r>
            <a:r>
              <a:rPr dirty="0" sz="1300" spc="-415">
                <a:solidFill>
                  <a:srgbClr val="333333"/>
                </a:solidFill>
                <a:latin typeface="Microsoft Sans Serif"/>
                <a:cs typeface="Microsoft Sans Serif"/>
              </a:rPr>
              <a:t>u</a:t>
            </a:r>
            <a:r>
              <a:rPr dirty="0" baseline="-66239" sz="1950" spc="-337">
                <a:solidFill>
                  <a:srgbClr val="333333"/>
                </a:solidFill>
                <a:latin typeface="Microsoft Sans Serif"/>
                <a:cs typeface="Microsoft Sans Serif"/>
              </a:rPr>
              <a:t>l</a:t>
            </a:r>
            <a:r>
              <a:rPr dirty="0" baseline="-66239" sz="1950" spc="-330">
                <a:solidFill>
                  <a:srgbClr val="333333"/>
                </a:solidFill>
                <a:latin typeface="Microsoft Sans Serif"/>
                <a:cs typeface="Microsoft Sans Serif"/>
              </a:rPr>
              <a:t>angua</a:t>
            </a:r>
            <a:r>
              <a:rPr dirty="0" baseline="-66239" sz="1950" spc="-7019">
                <a:solidFill>
                  <a:srgbClr val="333333"/>
                </a:solidFill>
                <a:latin typeface="Microsoft Sans Serif"/>
                <a:cs typeface="Microsoft Sans Serif"/>
              </a:rPr>
              <a:t>g</a:t>
            </a:r>
            <a:r>
              <a:rPr dirty="0" sz="1300" spc="-215">
                <a:solidFill>
                  <a:srgbClr val="333333"/>
                </a:solidFill>
                <a:latin typeface="Microsoft Sans Serif"/>
                <a:cs typeface="Microsoft Sans Serif"/>
              </a:rPr>
              <a:t>,</a:t>
            </a:r>
            <a:r>
              <a:rPr dirty="0" sz="1300" spc="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and</a:t>
            </a:r>
            <a:r>
              <a:rPr dirty="0" sz="1300" spc="6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B</a:t>
            </a:r>
            <a:r>
              <a:rPr dirty="0" sz="1300" spc="-434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baseline="-66239" sz="1950" spc="-494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sz="1300" spc="-75">
                <a:solidFill>
                  <a:srgbClr val="333333"/>
                </a:solidFill>
                <a:latin typeface="Microsoft Sans Serif"/>
                <a:cs typeface="Microsoft Sans Serif"/>
              </a:rPr>
              <a:t>n</a:t>
            </a:r>
            <a:r>
              <a:rPr dirty="0" baseline="-66239" sz="1950" spc="-22">
                <a:solidFill>
                  <a:srgbClr val="333333"/>
                </a:solidFill>
                <a:latin typeface="Microsoft Sans Serif"/>
                <a:cs typeface="Microsoft Sans Serif"/>
              </a:rPr>
              <a:t>w</a:t>
            </a:r>
            <a:r>
              <a:rPr dirty="0" baseline="-66239" sz="1950" spc="-2460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gal</a:t>
            </a:r>
            <a:r>
              <a:rPr dirty="0" sz="1300" spc="-70">
                <a:solidFill>
                  <a:srgbClr val="333333"/>
                </a:solidFill>
                <a:latin typeface="Microsoft Sans Serif"/>
                <a:cs typeface="Microsoft Sans Serif"/>
              </a:rPr>
              <a:t>i</a:t>
            </a:r>
            <a:r>
              <a:rPr dirty="0" baseline="-66239" sz="1950" spc="-30">
                <a:solidFill>
                  <a:srgbClr val="333333"/>
                </a:solidFill>
                <a:latin typeface="Microsoft Sans Serif"/>
                <a:cs typeface="Microsoft Sans Serif"/>
              </a:rPr>
              <a:t>inge</a:t>
            </a:r>
            <a:r>
              <a:rPr dirty="0" baseline="-66239" sz="1950" spc="-22">
                <a:solidFill>
                  <a:srgbClr val="333333"/>
                </a:solidFill>
                <a:latin typeface="Microsoft Sans Serif"/>
                <a:cs typeface="Microsoft Sans Serif"/>
              </a:rPr>
              <a:t>s</a:t>
            </a:r>
            <a:r>
              <a:rPr dirty="0" baseline="-66239" sz="1950" spc="-30">
                <a:solidFill>
                  <a:srgbClr val="333333"/>
                </a:solidFill>
                <a:latin typeface="Microsoft Sans Serif"/>
                <a:cs typeface="Microsoft Sans Serif"/>
              </a:rPr>
              <a:t>t</a:t>
            </a:r>
            <a:r>
              <a:rPr dirty="0" baseline="-66239" sz="1950" spc="-5182">
                <a:solidFill>
                  <a:srgbClr val="333333"/>
                </a:solidFill>
                <a:latin typeface="Microsoft Sans Serif"/>
                <a:cs typeface="Microsoft Sans Serif"/>
              </a:rPr>
              <a:t>.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ar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ti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cle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s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.</a:t>
            </a:r>
            <a:r>
              <a:rPr dirty="0" sz="1300" spc="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dirty="0" sz="1300" spc="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Wiser</a:t>
            </a:r>
            <a:r>
              <a:rPr dirty="0" sz="1300" spc="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pipeline's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731164" y="2971444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371600" h="1371600">
                <a:moveTo>
                  <a:pt x="1371231" y="0"/>
                </a:moveTo>
                <a:lnTo>
                  <a:pt x="0" y="0"/>
                </a:lnTo>
                <a:lnTo>
                  <a:pt x="0" y="1371231"/>
                </a:lnTo>
                <a:lnTo>
                  <a:pt x="685800" y="1371231"/>
                </a:lnTo>
                <a:lnTo>
                  <a:pt x="1371231" y="1371231"/>
                </a:lnTo>
                <a:lnTo>
                  <a:pt x="1371231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067816" y="3080410"/>
            <a:ext cx="10494010" cy="728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17295">
              <a:lnSpc>
                <a:spcPts val="1330"/>
              </a:lnSpc>
              <a:spcBef>
                <a:spcPts val="100"/>
              </a:spcBef>
            </a:pPr>
            <a:r>
              <a:rPr dirty="0" sz="2000" b="1">
                <a:solidFill>
                  <a:srgbClr val="191919"/>
                </a:solidFill>
                <a:latin typeface="Trebuchet MS"/>
                <a:cs typeface="Trebuchet MS"/>
              </a:rPr>
              <a:t>Fixed</a:t>
            </a:r>
            <a:r>
              <a:rPr dirty="0" sz="2000" spc="5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2000" b="1">
                <a:solidFill>
                  <a:srgbClr val="191919"/>
                </a:solidFill>
                <a:latin typeface="Trebuchet MS"/>
                <a:cs typeface="Trebuchet MS"/>
              </a:rPr>
              <a:t>weights</a:t>
            </a:r>
            <a:r>
              <a:rPr dirty="0" sz="2000" spc="55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2000" b="1">
                <a:solidFill>
                  <a:srgbClr val="191919"/>
                </a:solidFill>
                <a:latin typeface="Trebuchet MS"/>
                <a:cs typeface="Trebuchet MS"/>
              </a:rPr>
              <a:t>don't</a:t>
            </a:r>
            <a:r>
              <a:rPr dirty="0" sz="2000" spc="6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2000" spc="-10" b="1">
                <a:solidFill>
                  <a:srgbClr val="191919"/>
                </a:solidFill>
                <a:latin typeface="Trebuchet MS"/>
                <a:cs typeface="Trebuchet MS"/>
              </a:rPr>
              <a:t>generalise</a:t>
            </a:r>
            <a:endParaRPr sz="2000">
              <a:latin typeface="Trebuchet MS"/>
              <a:cs typeface="Trebuchet MS"/>
            </a:endParaRPr>
          </a:p>
          <a:p>
            <a:pPr marL="38100">
              <a:lnSpc>
                <a:spcPts val="4210"/>
              </a:lnSpc>
              <a:tabLst>
                <a:tab pos="1307465" algn="l"/>
              </a:tabLst>
            </a:pPr>
            <a:r>
              <a:rPr dirty="0" baseline="-19570" sz="6600" spc="-37" b="1">
                <a:solidFill>
                  <a:srgbClr val="5DE9D3"/>
                </a:solidFill>
                <a:latin typeface="Trebuchet MS"/>
                <a:cs typeface="Trebuchet MS"/>
              </a:rPr>
              <a:t>02</a:t>
            </a:r>
            <a:r>
              <a:rPr dirty="0" baseline="-19570" sz="6600" b="1">
                <a:solidFill>
                  <a:srgbClr val="5DE9D3"/>
                </a:solidFill>
                <a:latin typeface="Trebuchet MS"/>
                <a:cs typeface="Trebuchet MS"/>
              </a:rPr>
              <a:t>	</a:t>
            </a:r>
            <a:r>
              <a:rPr dirty="0" baseline="-66239" sz="1950" spc="-44">
                <a:solidFill>
                  <a:srgbClr val="333333"/>
                </a:solidFill>
                <a:latin typeface="Microsoft Sans Serif"/>
                <a:cs typeface="Microsoft Sans Serif"/>
              </a:rPr>
              <a:t>l</a:t>
            </a:r>
            <a:r>
              <a:rPr dirty="0" baseline="-66239" sz="1950" spc="-1537">
                <a:solidFill>
                  <a:srgbClr val="333333"/>
                </a:solidFill>
                <a:latin typeface="Microsoft Sans Serif"/>
                <a:cs typeface="Microsoft Sans Serif"/>
              </a:rPr>
              <a:t>o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R</a:t>
            </a:r>
            <a:r>
              <a:rPr dirty="0" sz="1300" spc="-660">
                <a:solidFill>
                  <a:srgbClr val="333333"/>
                </a:solidFill>
                <a:latin typeface="Microsoft Sans Serif"/>
                <a:cs typeface="Microsoft Sans Serif"/>
              </a:rPr>
              <a:t>u</a:t>
            </a:r>
            <a:r>
              <a:rPr dirty="0" baseline="-66239" sz="1950" spc="-22">
                <a:solidFill>
                  <a:srgbClr val="333333"/>
                </a:solidFill>
                <a:latin typeface="Microsoft Sans Serif"/>
                <a:cs typeface="Microsoft Sans Serif"/>
              </a:rPr>
              <a:t>w</a:t>
            </a:r>
            <a:r>
              <a:rPr dirty="0" baseline="-66239" sz="1950" spc="-30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baseline="-66239" sz="1950" spc="-2204">
                <a:solidFill>
                  <a:srgbClr val="333333"/>
                </a:solidFill>
                <a:latin typeface="Microsoft Sans Serif"/>
                <a:cs typeface="Microsoft Sans Serif"/>
              </a:rPr>
              <a:t>r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le-</a:t>
            </a:r>
            <a:r>
              <a:rPr dirty="0" sz="1300" spc="-375">
                <a:solidFill>
                  <a:srgbClr val="333333"/>
                </a:solidFill>
                <a:latin typeface="Microsoft Sans Serif"/>
                <a:cs typeface="Microsoft Sans Serif"/>
              </a:rPr>
              <a:t>b</a:t>
            </a:r>
            <a:r>
              <a:rPr dirty="0" baseline="-66239" sz="1950" spc="-22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dirty="0" baseline="-66239" sz="1950" spc="-15">
                <a:solidFill>
                  <a:srgbClr val="333333"/>
                </a:solidFill>
                <a:latin typeface="Microsoft Sans Serif"/>
                <a:cs typeface="Microsoft Sans Serif"/>
              </a:rPr>
              <a:t>cc</a:t>
            </a:r>
            <a:r>
              <a:rPr dirty="0" baseline="-66239" sz="1950" spc="-22">
                <a:solidFill>
                  <a:srgbClr val="333333"/>
                </a:solidFill>
                <a:latin typeface="Microsoft Sans Serif"/>
                <a:cs typeface="Microsoft Sans Serif"/>
              </a:rPr>
              <a:t>ura</a:t>
            </a:r>
            <a:r>
              <a:rPr dirty="0" baseline="-66239" sz="1950" spc="-15">
                <a:solidFill>
                  <a:srgbClr val="333333"/>
                </a:solidFill>
                <a:latin typeface="Microsoft Sans Serif"/>
                <a:cs typeface="Microsoft Sans Serif"/>
              </a:rPr>
              <a:t>c</a:t>
            </a:r>
            <a:r>
              <a:rPr dirty="0" baseline="-66239" sz="1950" spc="-157">
                <a:solidFill>
                  <a:srgbClr val="333333"/>
                </a:solidFill>
                <a:latin typeface="Microsoft Sans Serif"/>
                <a:cs typeface="Microsoft Sans Serif"/>
              </a:rPr>
              <a:t>y</a:t>
            </a:r>
            <a:r>
              <a:rPr dirty="0" baseline="-66239" sz="1950" spc="-7732">
                <a:solidFill>
                  <a:srgbClr val="333333"/>
                </a:solidFill>
                <a:latin typeface="Microsoft Sans Serif"/>
                <a:cs typeface="Microsoft Sans Serif"/>
              </a:rPr>
              <a:t>,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s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sz="1300" spc="-5">
                <a:solidFill>
                  <a:srgbClr val="333333"/>
                </a:solidFill>
                <a:latin typeface="Microsoft Sans Serif"/>
                <a:cs typeface="Microsoft Sans Serif"/>
              </a:rPr>
              <a:t>d</a:t>
            </a:r>
            <a:r>
              <a:rPr dirty="0" sz="1300" spc="-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da</a:t>
            </a:r>
            <a:r>
              <a:rPr dirty="0" sz="1300" spc="-700">
                <a:solidFill>
                  <a:srgbClr val="333333"/>
                </a:solidFill>
                <a:latin typeface="Microsoft Sans Serif"/>
                <a:cs typeface="Microsoft Sans Serif"/>
              </a:rPr>
              <a:t>p</a:t>
            </a:r>
            <a:r>
              <a:rPr dirty="0" baseline="-66239" sz="1950" spc="-30">
                <a:solidFill>
                  <a:srgbClr val="333333"/>
                </a:solidFill>
                <a:latin typeface="Microsoft Sans Serif"/>
                <a:cs typeface="Microsoft Sans Serif"/>
              </a:rPr>
              <a:t>lo</a:t>
            </a:r>
            <a:r>
              <a:rPr dirty="0" baseline="-66239" sz="1950" spc="-22">
                <a:solidFill>
                  <a:srgbClr val="333333"/>
                </a:solidFill>
                <a:latin typeface="Microsoft Sans Serif"/>
                <a:cs typeface="Microsoft Sans Serif"/>
              </a:rPr>
              <a:t>w</a:t>
            </a:r>
            <a:r>
              <a:rPr dirty="0" baseline="-66239" sz="1950" spc="-30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baseline="-66239" sz="1950" spc="-3697">
                <a:solidFill>
                  <a:srgbClr val="333333"/>
                </a:solidFill>
                <a:latin typeface="Microsoft Sans Serif"/>
                <a:cs typeface="Microsoft Sans Serif"/>
              </a:rPr>
              <a:t>r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ti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v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sz="1300" spc="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R</a:t>
            </a:r>
            <a:r>
              <a:rPr dirty="0" sz="1300" spc="-1405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dirty="0" baseline="-66239" sz="1950" spc="-15">
                <a:solidFill>
                  <a:srgbClr val="333333"/>
                </a:solidFill>
                <a:latin typeface="Microsoft Sans Serif"/>
                <a:cs typeface="Microsoft Sans Serif"/>
              </a:rPr>
              <a:t>ROU</a:t>
            </a:r>
            <a:r>
              <a:rPr dirty="0" baseline="-66239" sz="1950" spc="-22">
                <a:solidFill>
                  <a:srgbClr val="333333"/>
                </a:solidFill>
                <a:latin typeface="Microsoft Sans Serif"/>
                <a:cs typeface="Microsoft Sans Serif"/>
              </a:rPr>
              <a:t>G</a:t>
            </a:r>
            <a:r>
              <a:rPr dirty="0" baseline="-66239" sz="1950" spc="-15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baseline="-66239" sz="1950" spc="-5655">
                <a:solidFill>
                  <a:srgbClr val="333333"/>
                </a:solidFill>
                <a:latin typeface="Microsoft Sans Serif"/>
                <a:cs typeface="Microsoft Sans Serif"/>
              </a:rPr>
              <a:t>,</a:t>
            </a:r>
            <a:r>
              <a:rPr dirty="0" sz="1300" spc="-5">
                <a:solidFill>
                  <a:srgbClr val="333333"/>
                </a:solidFill>
                <a:latin typeface="Microsoft Sans Serif"/>
                <a:cs typeface="Microsoft Sans Serif"/>
              </a:rPr>
              <a:t>G</a:t>
            </a:r>
            <a:r>
              <a:rPr dirty="0" sz="1300" spc="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with</a:t>
            </a:r>
            <a:r>
              <a:rPr dirty="0" sz="1300" spc="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670">
                <a:solidFill>
                  <a:srgbClr val="333333"/>
                </a:solidFill>
                <a:latin typeface="Microsoft Sans Serif"/>
                <a:cs typeface="Microsoft Sans Serif"/>
              </a:rPr>
              <a:t>h</a:t>
            </a:r>
            <a:r>
              <a:rPr dirty="0" baseline="-66239" sz="1950" spc="15">
                <a:solidFill>
                  <a:srgbClr val="333333"/>
                </a:solidFill>
                <a:latin typeface="Microsoft Sans Serif"/>
                <a:cs typeface="Microsoft Sans Serif"/>
              </a:rPr>
              <a:t>plu</a:t>
            </a:r>
            <a:r>
              <a:rPr dirty="0" baseline="-66239" sz="1950" spc="-2527">
                <a:solidFill>
                  <a:srgbClr val="333333"/>
                </a:solidFill>
                <a:latin typeface="Microsoft Sans Serif"/>
                <a:cs typeface="Microsoft Sans Serif"/>
              </a:rPr>
              <a:t>s</a:t>
            </a:r>
            <a:r>
              <a:rPr dirty="0" sz="1300" spc="10">
                <a:solidFill>
                  <a:srgbClr val="333333"/>
                </a:solidFill>
                <a:latin typeface="Microsoft Sans Serif"/>
                <a:cs typeface="Microsoft Sans Serif"/>
              </a:rPr>
              <a:t>an</a:t>
            </a:r>
            <a:r>
              <a:rPr dirty="0" sz="1300" spc="-90">
                <a:solidFill>
                  <a:srgbClr val="333333"/>
                </a:solidFill>
                <a:latin typeface="Microsoft Sans Serif"/>
                <a:cs typeface="Microsoft Sans Serif"/>
              </a:rPr>
              <a:t>d</a:t>
            </a:r>
            <a:r>
              <a:rPr dirty="0" baseline="-66239" sz="1950" spc="15">
                <a:solidFill>
                  <a:srgbClr val="333333"/>
                </a:solidFill>
                <a:latin typeface="Microsoft Sans Serif"/>
                <a:cs typeface="Microsoft Sans Serif"/>
              </a:rPr>
              <a:t>3</a:t>
            </a:r>
            <a:r>
              <a:rPr dirty="0" baseline="-66239" sz="1950" spc="22">
                <a:solidFill>
                  <a:srgbClr val="333333"/>
                </a:solidFill>
                <a:latin typeface="Microsoft Sans Serif"/>
                <a:cs typeface="Microsoft Sans Serif"/>
              </a:rPr>
              <a:t>–</a:t>
            </a:r>
            <a:r>
              <a:rPr dirty="0" baseline="-66239" sz="1950" spc="15">
                <a:solidFill>
                  <a:srgbClr val="333333"/>
                </a:solidFill>
                <a:latin typeface="Microsoft Sans Serif"/>
                <a:cs typeface="Microsoft Sans Serif"/>
              </a:rPr>
              <a:t>4</a:t>
            </a:r>
            <a:r>
              <a:rPr dirty="0" baseline="-66239" sz="1950" spc="-4237">
                <a:solidFill>
                  <a:srgbClr val="333333"/>
                </a:solidFill>
                <a:latin typeface="Microsoft Sans Serif"/>
                <a:cs typeface="Microsoft Sans Serif"/>
              </a:rPr>
              <a:t>×</a:t>
            </a:r>
            <a:r>
              <a:rPr dirty="0" sz="1300" spc="10">
                <a:solidFill>
                  <a:srgbClr val="333333"/>
                </a:solidFill>
                <a:latin typeface="Microsoft Sans Serif"/>
                <a:cs typeface="Microsoft Sans Serif"/>
              </a:rPr>
              <a:t>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tune</a:t>
            </a:r>
            <a:r>
              <a:rPr dirty="0" sz="1300" spc="-509">
                <a:solidFill>
                  <a:srgbClr val="333333"/>
                </a:solidFill>
                <a:latin typeface="Microsoft Sans Serif"/>
                <a:cs typeface="Microsoft Sans Serif"/>
              </a:rPr>
              <a:t>d</a:t>
            </a:r>
            <a:r>
              <a:rPr dirty="0" baseline="-66239" sz="1950">
                <a:solidFill>
                  <a:srgbClr val="333333"/>
                </a:solidFill>
                <a:latin typeface="Microsoft Sans Serif"/>
                <a:cs typeface="Microsoft Sans Serif"/>
              </a:rPr>
              <a:t>high</a:t>
            </a:r>
            <a:r>
              <a:rPr dirty="0" baseline="-66239" sz="1950" spc="-3487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sz="1300" spc="5">
                <a:solidFill>
                  <a:srgbClr val="333333"/>
                </a:solidFill>
                <a:latin typeface="Microsoft Sans Serif"/>
                <a:cs typeface="Microsoft Sans Serif"/>
              </a:rPr>
              <a:t>c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onfi</a:t>
            </a:r>
            <a:r>
              <a:rPr dirty="0" sz="1300" spc="-80">
                <a:solidFill>
                  <a:srgbClr val="333333"/>
                </a:solidFill>
                <a:latin typeface="Microsoft Sans Serif"/>
                <a:cs typeface="Microsoft Sans Serif"/>
              </a:rPr>
              <a:t>d</a:t>
            </a:r>
            <a:r>
              <a:rPr dirty="0" baseline="-66239" sz="1950" spc="-1522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dirty="0" baseline="-66239" sz="1950" spc="-1664">
                <a:solidFill>
                  <a:srgbClr val="333333"/>
                </a:solidFill>
                <a:latin typeface="Microsoft Sans Serif"/>
                <a:cs typeface="Microsoft Sans Serif"/>
              </a:rPr>
              <a:t>l</a:t>
            </a:r>
            <a:r>
              <a:rPr dirty="0" baseline="-66239" sz="1950" spc="15">
                <a:solidFill>
                  <a:srgbClr val="333333"/>
                </a:solidFill>
                <a:latin typeface="Microsoft Sans Serif"/>
                <a:cs typeface="Microsoft Sans Serif"/>
              </a:rPr>
              <a:t>r</a:t>
            </a:r>
            <a:r>
              <a:rPr dirty="0" baseline="-66239" sz="1950" spc="622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85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baseline="-66239" sz="1950" spc="-22">
                <a:solidFill>
                  <a:srgbClr val="333333"/>
                </a:solidFill>
                <a:latin typeface="Microsoft Sans Serif"/>
                <a:cs typeface="Microsoft Sans Serif"/>
              </a:rPr>
              <a:t>ten</a:t>
            </a:r>
            <a:r>
              <a:rPr dirty="0" baseline="-66239" sz="1950" spc="-15">
                <a:solidFill>
                  <a:srgbClr val="333333"/>
                </a:solidFill>
                <a:latin typeface="Microsoft Sans Serif"/>
                <a:cs typeface="Microsoft Sans Serif"/>
              </a:rPr>
              <a:t>c</a:t>
            </a:r>
            <a:r>
              <a:rPr dirty="0" baseline="-66239" sz="1950" spc="-157">
                <a:solidFill>
                  <a:srgbClr val="333333"/>
                </a:solidFill>
                <a:latin typeface="Microsoft Sans Serif"/>
                <a:cs typeface="Microsoft Sans Serif"/>
              </a:rPr>
              <a:t>y</a:t>
            </a:r>
            <a:r>
              <a:rPr dirty="0" baseline="-66239" sz="1950" spc="-5009">
                <a:solidFill>
                  <a:srgbClr val="333333"/>
                </a:solidFill>
                <a:latin typeface="Microsoft Sans Serif"/>
                <a:cs typeface="Microsoft Sans Serif"/>
              </a:rPr>
              <a:t>.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n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c</a:t>
            </a:r>
            <a:r>
              <a:rPr dirty="0" sz="1300" spc="-5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sz="1300" spc="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w</a:t>
            </a:r>
            <a:r>
              <a:rPr dirty="0" sz="1300" spc="-490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baseline="-66239" sz="1950" spc="-22">
                <a:solidFill>
                  <a:srgbClr val="333333"/>
                </a:solidFill>
                <a:latin typeface="Microsoft Sans Serif"/>
                <a:cs typeface="Microsoft Sans Serif"/>
              </a:rPr>
              <a:t>Th</a:t>
            </a:r>
            <a:r>
              <a:rPr dirty="0" baseline="-66239" sz="1950" spc="-2685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igh</a:t>
            </a:r>
            <a:r>
              <a:rPr dirty="0" sz="1300" spc="-5">
                <a:solidFill>
                  <a:srgbClr val="333333"/>
                </a:solidFill>
                <a:latin typeface="Microsoft Sans Serif"/>
                <a:cs typeface="Microsoft Sans Serif"/>
              </a:rPr>
              <a:t>t</a:t>
            </a:r>
            <a:r>
              <a:rPr dirty="0" sz="1300" spc="-635">
                <a:solidFill>
                  <a:srgbClr val="333333"/>
                </a:solidFill>
                <a:latin typeface="Microsoft Sans Serif"/>
                <a:cs typeface="Microsoft Sans Serif"/>
              </a:rPr>
              <a:t>s</a:t>
            </a:r>
            <a:r>
              <a:rPr dirty="0" baseline="-66239" sz="1950" spc="-22">
                <a:solidFill>
                  <a:srgbClr val="333333"/>
                </a:solidFill>
                <a:latin typeface="Microsoft Sans Serif"/>
                <a:cs typeface="Microsoft Sans Serif"/>
              </a:rPr>
              <a:t>failur</a:t>
            </a:r>
            <a:r>
              <a:rPr dirty="0" baseline="-66239" sz="1950" spc="-3884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i</a:t>
            </a:r>
            <a:r>
              <a:rPr dirty="0" sz="1300" spc="-5">
                <a:solidFill>
                  <a:srgbClr val="333333"/>
                </a:solidFill>
                <a:latin typeface="Microsoft Sans Serif"/>
                <a:cs typeface="Microsoft Sans Serif"/>
              </a:rPr>
              <a:t>s</a:t>
            </a:r>
            <a:r>
              <a:rPr dirty="0" sz="1300" spc="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10">
                <a:solidFill>
                  <a:srgbClr val="333333"/>
                </a:solidFill>
                <a:latin typeface="Microsoft Sans Serif"/>
                <a:cs typeface="Microsoft Sans Serif"/>
              </a:rPr>
              <a:t>be</a:t>
            </a:r>
            <a:r>
              <a:rPr dirty="0" sz="1300" spc="-545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dirty="0" baseline="-66239" sz="1950" spc="15">
                <a:solidFill>
                  <a:srgbClr val="333333"/>
                </a:solidFill>
                <a:latin typeface="Microsoft Sans Serif"/>
                <a:cs typeface="Microsoft Sans Serif"/>
              </a:rPr>
              <a:t>mod</a:t>
            </a:r>
            <a:r>
              <a:rPr dirty="0" baseline="-66239" sz="1950" spc="-4050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sz="1300" spc="10">
                <a:solidFill>
                  <a:srgbClr val="333333"/>
                </a:solidFill>
                <a:latin typeface="Microsoft Sans Serif"/>
                <a:cs typeface="Microsoft Sans Serif"/>
              </a:rPr>
              <a:t>te</a:t>
            </a:r>
            <a:r>
              <a:rPr dirty="0" sz="1300" spc="20">
                <a:solidFill>
                  <a:srgbClr val="333333"/>
                </a:solidFill>
                <a:latin typeface="Microsoft Sans Serif"/>
                <a:cs typeface="Microsoft Sans Serif"/>
              </a:rPr>
              <a:t>n</a:t>
            </a:r>
            <a:r>
              <a:rPr dirty="0" sz="1300" spc="50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95">
                <a:solidFill>
                  <a:srgbClr val="333333"/>
                </a:solidFill>
                <a:latin typeface="Microsoft Sans Serif"/>
                <a:cs typeface="Microsoft Sans Serif"/>
              </a:rPr>
              <a:t>c</a:t>
            </a:r>
            <a:r>
              <a:rPr dirty="0" sz="1300" spc="-795">
                <a:solidFill>
                  <a:srgbClr val="333333"/>
                </a:solidFill>
                <a:latin typeface="Microsoft Sans Serif"/>
                <a:cs typeface="Microsoft Sans Serif"/>
              </a:rPr>
              <a:t>o</a:t>
            </a:r>
            <a:r>
              <a:rPr dirty="0" baseline="-66239" sz="1950" spc="-450">
                <a:solidFill>
                  <a:srgbClr val="333333"/>
                </a:solidFill>
                <a:latin typeface="Microsoft Sans Serif"/>
                <a:cs typeface="Microsoft Sans Serif"/>
              </a:rPr>
              <a:t>i</a:t>
            </a:r>
            <a:r>
              <a:rPr dirty="0" baseline="-66239" sz="1950" spc="-1139">
                <a:solidFill>
                  <a:srgbClr val="333333"/>
                </a:solidFill>
                <a:latin typeface="Microsoft Sans Serif"/>
                <a:cs typeface="Microsoft Sans Serif"/>
              </a:rPr>
              <a:t>s</a:t>
            </a:r>
            <a:r>
              <a:rPr dirty="0" sz="1300" spc="-300">
                <a:solidFill>
                  <a:srgbClr val="333333"/>
                </a:solidFill>
                <a:latin typeface="Microsoft Sans Serif"/>
                <a:cs typeface="Microsoft Sans Serif"/>
              </a:rPr>
              <a:t>n</a:t>
            </a:r>
            <a:r>
              <a:rPr dirty="0" sz="1300" spc="-850">
                <a:solidFill>
                  <a:srgbClr val="333333"/>
                </a:solidFill>
                <a:latin typeface="Microsoft Sans Serif"/>
                <a:cs typeface="Microsoft Sans Serif"/>
              </a:rPr>
              <a:t>s</a:t>
            </a:r>
            <a:r>
              <a:rPr dirty="0" baseline="-66239" sz="1950" spc="-442">
                <a:solidFill>
                  <a:srgbClr val="333333"/>
                </a:solidFill>
                <a:latin typeface="Microsoft Sans Serif"/>
                <a:cs typeface="Microsoft Sans Serif"/>
              </a:rPr>
              <a:t>c</a:t>
            </a:r>
            <a:r>
              <a:rPr dirty="0" baseline="-66239" sz="1950" spc="-450">
                <a:solidFill>
                  <a:srgbClr val="333333"/>
                </a:solidFill>
                <a:latin typeface="Microsoft Sans Serif"/>
                <a:cs typeface="Microsoft Sans Serif"/>
              </a:rPr>
              <a:t>on</a:t>
            </a:r>
            <a:r>
              <a:rPr dirty="0" baseline="-66239" sz="1950" spc="-442">
                <a:solidFill>
                  <a:srgbClr val="333333"/>
                </a:solidFill>
                <a:latin typeface="Microsoft Sans Serif"/>
                <a:cs typeface="Microsoft Sans Serif"/>
              </a:rPr>
              <a:t>s</a:t>
            </a:r>
            <a:r>
              <a:rPr dirty="0" baseline="-66239" sz="1950" spc="-465">
                <a:solidFill>
                  <a:srgbClr val="333333"/>
                </a:solidFill>
                <a:latin typeface="Microsoft Sans Serif"/>
                <a:cs typeface="Microsoft Sans Serif"/>
              </a:rPr>
              <a:t>i</a:t>
            </a:r>
            <a:r>
              <a:rPr dirty="0" baseline="-66239" sz="1950" spc="-442">
                <a:solidFill>
                  <a:srgbClr val="333333"/>
                </a:solidFill>
                <a:latin typeface="Microsoft Sans Serif"/>
                <a:cs typeface="Microsoft Sans Serif"/>
              </a:rPr>
              <a:t>s</a:t>
            </a:r>
            <a:r>
              <a:rPr dirty="0" baseline="-66239" sz="1950" spc="-450">
                <a:solidFill>
                  <a:srgbClr val="333333"/>
                </a:solidFill>
                <a:latin typeface="Microsoft Sans Serif"/>
                <a:cs typeface="Microsoft Sans Serif"/>
              </a:rPr>
              <a:t>ten</a:t>
            </a:r>
            <a:r>
              <a:rPr dirty="0" baseline="-66239" sz="1950" spc="-8452">
                <a:solidFill>
                  <a:srgbClr val="333333"/>
                </a:solidFill>
                <a:latin typeface="Microsoft Sans Serif"/>
                <a:cs typeface="Microsoft Sans Serif"/>
              </a:rPr>
              <a:t>t</a:t>
            </a:r>
            <a:r>
              <a:rPr dirty="0" sz="1300" spc="-300">
                <a:solidFill>
                  <a:srgbClr val="333333"/>
                </a:solidFill>
                <a:latin typeface="Microsoft Sans Serif"/>
                <a:cs typeface="Microsoft Sans Serif"/>
              </a:rPr>
              <a:t>i</a:t>
            </a:r>
            <a:r>
              <a:rPr dirty="0" sz="1300" spc="-305">
                <a:solidFill>
                  <a:srgbClr val="333333"/>
                </a:solidFill>
                <a:latin typeface="Microsoft Sans Serif"/>
                <a:cs typeface="Microsoft Sans Serif"/>
              </a:rPr>
              <a:t>s</a:t>
            </a:r>
            <a:r>
              <a:rPr dirty="0" sz="1300" spc="-300">
                <a:solidFill>
                  <a:srgbClr val="333333"/>
                </a:solidFill>
                <a:latin typeface="Microsoft Sans Serif"/>
                <a:cs typeface="Microsoft Sans Serif"/>
              </a:rPr>
              <a:t>ten</a:t>
            </a:r>
            <a:r>
              <a:rPr dirty="0" sz="1300" spc="-295">
                <a:solidFill>
                  <a:srgbClr val="333333"/>
                </a:solidFill>
                <a:latin typeface="Microsoft Sans Serif"/>
                <a:cs typeface="Microsoft Sans Serif"/>
              </a:rPr>
              <a:t>tl</a:t>
            </a:r>
            <a:r>
              <a:rPr dirty="0" sz="1300" spc="-295">
                <a:solidFill>
                  <a:srgbClr val="333333"/>
                </a:solidFill>
                <a:latin typeface="Microsoft Sans Serif"/>
                <a:cs typeface="Microsoft Sans Serif"/>
              </a:rPr>
              <a:t>y</a:t>
            </a:r>
            <a:r>
              <a:rPr dirty="0" sz="1300" spc="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b</a:t>
            </a:r>
            <a:r>
              <a:rPr dirty="0" sz="1300" spc="-140">
                <a:solidFill>
                  <a:srgbClr val="333333"/>
                </a:solidFill>
                <a:latin typeface="Microsoft Sans Serif"/>
                <a:cs typeface="Microsoft Sans Serif"/>
              </a:rPr>
              <a:t>y</a:t>
            </a:r>
            <a:r>
              <a:rPr dirty="0" baseline="-66239" sz="1950" spc="-30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dirty="0" baseline="-66239" sz="1950" spc="-22">
                <a:solidFill>
                  <a:srgbClr val="333333"/>
                </a:solidFill>
                <a:latin typeface="Microsoft Sans Serif"/>
                <a:cs typeface="Microsoft Sans Serif"/>
              </a:rPr>
              <a:t>c</a:t>
            </a:r>
            <a:r>
              <a:rPr dirty="0" baseline="-66239" sz="1950" spc="-30">
                <a:solidFill>
                  <a:srgbClr val="333333"/>
                </a:solidFill>
                <a:latin typeface="Microsoft Sans Serif"/>
                <a:cs typeface="Microsoft Sans Serif"/>
              </a:rPr>
              <a:t>r</a:t>
            </a:r>
            <a:r>
              <a:rPr dirty="0" baseline="-66239" sz="1950" spc="-3112">
                <a:solidFill>
                  <a:srgbClr val="333333"/>
                </a:solidFill>
                <a:latin typeface="Microsoft Sans Serif"/>
                <a:cs typeface="Microsoft Sans Serif"/>
              </a:rPr>
              <a:t>o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s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im</a:t>
            </a:r>
            <a:r>
              <a:rPr dirty="0" sz="1300" spc="-65">
                <a:solidFill>
                  <a:srgbClr val="333333"/>
                </a:solidFill>
                <a:latin typeface="Microsoft Sans Serif"/>
                <a:cs typeface="Microsoft Sans Serif"/>
              </a:rPr>
              <a:t>p</a:t>
            </a:r>
            <a:r>
              <a:rPr dirty="0" baseline="-66239" sz="1950" spc="-1964">
                <a:solidFill>
                  <a:srgbClr val="333333"/>
                </a:solidFill>
                <a:latin typeface="Microsoft Sans Serif"/>
                <a:cs typeface="Microsoft Sans Serif"/>
              </a:rPr>
              <a:t>s</a:t>
            </a:r>
            <a:r>
              <a:rPr dirty="0" baseline="-66239" sz="1950" spc="44">
                <a:solidFill>
                  <a:srgbClr val="333333"/>
                </a:solidFill>
                <a:latin typeface="Microsoft Sans Serif"/>
                <a:cs typeface="Microsoft Sans Serif"/>
              </a:rPr>
              <a:t>s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l</a:t>
            </a:r>
            <a:r>
              <a:rPr dirty="0" sz="1300" spc="-65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baseline="-66239" sz="1950" spc="-30">
                <a:solidFill>
                  <a:srgbClr val="333333"/>
                </a:solidFill>
                <a:latin typeface="Microsoft Sans Serif"/>
                <a:cs typeface="Microsoft Sans Serif"/>
              </a:rPr>
              <a:t>al</a:t>
            </a:r>
            <a:r>
              <a:rPr dirty="0" baseline="-66239" sz="1950" spc="-1979">
                <a:solidFill>
                  <a:srgbClr val="333333"/>
                </a:solidFill>
                <a:latin typeface="Microsoft Sans Serif"/>
                <a:cs typeface="Microsoft Sans Serif"/>
              </a:rPr>
              <a:t>l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r</a:t>
            </a:r>
            <a:r>
              <a:rPr dirty="0" sz="1300" spc="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r</a:t>
            </a:r>
            <a:r>
              <a:rPr dirty="0" sz="1300" spc="-345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baseline="-66239" sz="1950" spc="-22">
                <a:solidFill>
                  <a:srgbClr val="333333"/>
                </a:solidFill>
                <a:latin typeface="Microsoft Sans Serif"/>
                <a:cs typeface="Microsoft Sans Serif"/>
              </a:rPr>
              <a:t>thre</a:t>
            </a:r>
            <a:r>
              <a:rPr dirty="0" baseline="-66239" sz="1950" spc="-3997">
                <a:solidFill>
                  <a:srgbClr val="333333"/>
                </a:solidFill>
                <a:latin typeface="Microsoft Sans Serif"/>
                <a:cs typeface="Microsoft Sans Serif"/>
              </a:rPr>
              <a:t>e</a:t>
            </a:r>
            <a:r>
              <a:rPr dirty="0" sz="1300" spc="-5">
                <a:solidFill>
                  <a:srgbClr val="333333"/>
                </a:solidFill>
                <a:latin typeface="Microsoft Sans Serif"/>
                <a:cs typeface="Microsoft Sans Serif"/>
              </a:rPr>
              <a:t>t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rie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v</a:t>
            </a:r>
            <a:r>
              <a:rPr dirty="0" sz="1300" spc="-200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dirty="0" baseline="-66239" sz="1950" spc="-22">
                <a:solidFill>
                  <a:srgbClr val="333333"/>
                </a:solidFill>
                <a:latin typeface="Microsoft Sans Serif"/>
                <a:cs typeface="Microsoft Sans Serif"/>
              </a:rPr>
              <a:t>domain</a:t>
            </a:r>
            <a:r>
              <a:rPr dirty="0" baseline="-66239" sz="1950" spc="-15">
                <a:solidFill>
                  <a:srgbClr val="333333"/>
                </a:solidFill>
                <a:latin typeface="Microsoft Sans Serif"/>
                <a:cs typeface="Microsoft Sans Serif"/>
              </a:rPr>
              <a:t>s</a:t>
            </a:r>
            <a:r>
              <a:rPr dirty="0" baseline="-66239" sz="1950" spc="-7709">
                <a:solidFill>
                  <a:srgbClr val="333333"/>
                </a:solidFill>
                <a:latin typeface="Microsoft Sans Serif"/>
                <a:cs typeface="Microsoft Sans Serif"/>
              </a:rPr>
              <a:t>.</a:t>
            </a:r>
            <a:r>
              <a:rPr dirty="0" sz="1300" spc="-5">
                <a:solidFill>
                  <a:srgbClr val="333333"/>
                </a:solidFill>
                <a:latin typeface="Microsoft Sans Serif"/>
                <a:cs typeface="Microsoft Sans Serif"/>
              </a:rPr>
              <a:t>l</a:t>
            </a:r>
            <a:r>
              <a:rPr dirty="0" sz="1300" spc="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models</a:t>
            </a:r>
            <a:r>
              <a:rPr dirty="0" sz="1300" spc="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530">
                <a:solidFill>
                  <a:srgbClr val="333333"/>
                </a:solidFill>
                <a:latin typeface="Microsoft Sans Serif"/>
                <a:cs typeface="Microsoft Sans Serif"/>
              </a:rPr>
              <a:t>—</a:t>
            </a:r>
            <a:r>
              <a:rPr dirty="0" sz="1300" spc="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lower</a:t>
            </a:r>
            <a:r>
              <a:rPr dirty="0" sz="1300" spc="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F1,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20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093216" y="4863858"/>
            <a:ext cx="64706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110" b="1">
                <a:solidFill>
                  <a:srgbClr val="5DE9D3"/>
                </a:solidFill>
                <a:latin typeface="Trebuchet MS"/>
                <a:cs typeface="Trebuchet MS"/>
              </a:rPr>
              <a:t>03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272944" y="4634890"/>
            <a:ext cx="925004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191919"/>
                </a:solidFill>
                <a:latin typeface="Trebuchet MS"/>
                <a:cs typeface="Trebuchet MS"/>
              </a:rPr>
              <a:t>Learned</a:t>
            </a:r>
            <a:r>
              <a:rPr dirty="0" sz="2000" spc="-1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2000" spc="75" b="1">
                <a:solidFill>
                  <a:srgbClr val="191919"/>
                </a:solidFill>
                <a:latin typeface="Trebuchet MS"/>
                <a:cs typeface="Trebuchet MS"/>
              </a:rPr>
              <a:t>scoring</a:t>
            </a:r>
            <a:r>
              <a:rPr dirty="0" sz="2000" spc="-15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2000" spc="35" b="1">
                <a:solidFill>
                  <a:srgbClr val="191919"/>
                </a:solidFill>
                <a:latin typeface="Trebuchet MS"/>
                <a:cs typeface="Trebuchet MS"/>
              </a:rPr>
              <a:t>wins</a:t>
            </a:r>
            <a:endParaRPr sz="2000">
              <a:latin typeface="Trebuchet MS"/>
              <a:cs typeface="Trebuchet MS"/>
            </a:endParaRPr>
          </a:p>
          <a:p>
            <a:pPr marL="102235" marR="5080">
              <a:lnSpc>
                <a:spcPct val="100000"/>
              </a:lnSpc>
              <a:spcBef>
                <a:spcPts val="955"/>
              </a:spcBef>
            </a:pP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dirty="0" sz="1300" spc="-9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22M-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parameter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Sentence-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Transformer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encoder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+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2-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layer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MLP</a:t>
            </a:r>
            <a:r>
              <a:rPr dirty="0" sz="13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head,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trained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on</a:t>
            </a:r>
            <a:r>
              <a:rPr dirty="0" sz="13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just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1,350</a:t>
            </a:r>
            <a:r>
              <a:rPr dirty="0" sz="13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triples,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beats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333333"/>
                </a:solidFill>
                <a:latin typeface="Microsoft Sans Serif"/>
                <a:cs typeface="Microsoft Sans Serif"/>
              </a:rPr>
              <a:t>hand-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tuned</a:t>
            </a:r>
            <a:r>
              <a:rPr dirty="0" sz="13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weights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on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every</a:t>
            </a:r>
            <a:r>
              <a:rPr dirty="0" sz="13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metric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530">
                <a:solidFill>
                  <a:srgbClr val="333333"/>
                </a:solidFill>
                <a:latin typeface="Microsoft Sans Serif"/>
                <a:cs typeface="Microsoft Sans Serif"/>
              </a:rPr>
              <a:t>—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and</a:t>
            </a:r>
            <a:r>
              <a:rPr dirty="0" sz="13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runs</a:t>
            </a:r>
            <a:r>
              <a:rPr dirty="0" sz="13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1.6–2.2×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 faster.</a:t>
            </a:r>
            <a:r>
              <a:rPr dirty="0" sz="13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No</a:t>
            </a:r>
            <a:r>
              <a:rPr dirty="0" sz="13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task-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specific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tuning</a:t>
            </a:r>
            <a:r>
              <a:rPr dirty="0" sz="13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was</a:t>
            </a:r>
            <a:r>
              <a:rPr dirty="0" sz="13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needed across</a:t>
            </a:r>
            <a:r>
              <a:rPr dirty="0" sz="13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QA,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 sentiment,</a:t>
            </a:r>
            <a:r>
              <a:rPr dirty="0" sz="13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333333"/>
                </a:solidFill>
                <a:latin typeface="Microsoft Sans Serif"/>
                <a:cs typeface="Microsoft Sans Serif"/>
              </a:rPr>
              <a:t>or </a:t>
            </a:r>
            <a:r>
              <a:rPr dirty="0" sz="1300" spc="-10">
                <a:solidFill>
                  <a:srgbClr val="333333"/>
                </a:solidFill>
                <a:latin typeface="Microsoft Sans Serif"/>
                <a:cs typeface="Microsoft Sans Serif"/>
              </a:rPr>
              <a:t>summarisation.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86454">
              <a:lnSpc>
                <a:spcPct val="100000"/>
              </a:lnSpc>
              <a:spcBef>
                <a:spcPts val="100"/>
              </a:spcBef>
            </a:pPr>
            <a:r>
              <a:rPr dirty="0" spc="600"/>
              <a:t>CONCLUSION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21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8456" y="1420101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51534" y="1449260"/>
            <a:ext cx="10039350" cy="1031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58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Delivered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a 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three-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phase contribution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targeting the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gaps in standard RAG pipelines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across 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real-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world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 multilingual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and 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multi-</a:t>
            </a:r>
            <a:r>
              <a:rPr dirty="0" sz="1400" spc="-20">
                <a:solidFill>
                  <a:srgbClr val="333333"/>
                </a:solidFill>
                <a:latin typeface="Microsoft Sans Serif"/>
                <a:cs typeface="Microsoft Sans Serif"/>
              </a:rPr>
              <a:t>task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NLP</a:t>
            </a:r>
            <a:r>
              <a:rPr dirty="0" sz="1400" spc="-6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applications.</a:t>
            </a:r>
            <a:endParaRPr sz="14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Wiser pipeline: 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production-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grade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 multilingual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NLP</a:t>
            </a:r>
            <a:r>
              <a:rPr dirty="0" sz="14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enrichment at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zero</a:t>
            </a:r>
            <a:r>
              <a:rPr dirty="0" sz="14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infrastructure</a:t>
            </a:r>
            <a:r>
              <a:rPr dirty="0" sz="14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cost,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processing</a:t>
            </a:r>
            <a:r>
              <a:rPr dirty="0" sz="14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25,000+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RSS feeds 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across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six</a:t>
            </a:r>
            <a:r>
              <a:rPr dirty="0" sz="14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cadences.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08456" y="1999335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08456" y="2578582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51534" y="2607741"/>
            <a:ext cx="10166350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Benchmark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study: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confirmed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rule-based</a:t>
            </a:r>
            <a:r>
              <a:rPr dirty="0" sz="1400" spc="-7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Adaptive</a:t>
            </a:r>
            <a:r>
              <a:rPr dirty="0" sz="14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RAG</a:t>
            </a:r>
            <a:r>
              <a:rPr dirty="0" sz="14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underperforms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simpler</a:t>
            </a:r>
            <a:r>
              <a:rPr dirty="0" sz="14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baselines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565">
                <a:solidFill>
                  <a:srgbClr val="333333"/>
                </a:solidFill>
                <a:latin typeface="Microsoft Sans Serif"/>
                <a:cs typeface="Microsoft Sans Serif"/>
              </a:rPr>
              <a:t>—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fixed</a:t>
            </a:r>
            <a:r>
              <a:rPr dirty="0" sz="14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weights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actively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hurt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 generation quality.</a:t>
            </a:r>
            <a:endParaRPr sz="1400">
              <a:latin typeface="Microsoft Sans Serif"/>
              <a:cs typeface="Microsoft Sans Serif"/>
            </a:endParaRPr>
          </a:p>
          <a:p>
            <a:pPr marL="12700" marR="111125">
              <a:lnSpc>
                <a:spcPct val="100000"/>
              </a:lnSpc>
              <a:spcBef>
                <a:spcPts val="1200"/>
              </a:spcBef>
            </a:pP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Adaptive-SLM-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RAG: lightweight learned</a:t>
            </a:r>
            <a:r>
              <a:rPr dirty="0" sz="1400" spc="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confidence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predictor (22M-param</a:t>
            </a:r>
            <a:r>
              <a:rPr dirty="0" sz="14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encoder + 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2-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layer MLP</a:t>
            </a:r>
            <a:r>
              <a:rPr dirty="0" sz="14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head</a:t>
            </a:r>
            <a:r>
              <a:rPr dirty="0" sz="14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trained on</a:t>
            </a:r>
            <a:r>
              <a:rPr dirty="0" sz="14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1,350</a:t>
            </a:r>
            <a:r>
              <a:rPr dirty="0" sz="14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triples)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hits</a:t>
            </a:r>
            <a:r>
              <a:rPr dirty="0" sz="14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0%</a:t>
            </a:r>
            <a:r>
              <a:rPr dirty="0" sz="14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hallucination</a:t>
            </a:r>
            <a:r>
              <a:rPr dirty="0" sz="14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on</a:t>
            </a:r>
            <a:r>
              <a:rPr dirty="0" sz="1400" spc="-25">
                <a:solidFill>
                  <a:srgbClr val="333333"/>
                </a:solidFill>
                <a:latin typeface="Microsoft Sans Serif"/>
                <a:cs typeface="Microsoft Sans Serif"/>
              </a:rPr>
              <a:t> QA.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Cross-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task</a:t>
            </a:r>
            <a:r>
              <a:rPr dirty="0" sz="1400" spc="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efficiency:</a:t>
            </a:r>
            <a:r>
              <a:rPr dirty="0" sz="1400" spc="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1.6–2.2×</a:t>
            </a:r>
            <a:r>
              <a:rPr dirty="0" sz="1400" spc="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faster</a:t>
            </a:r>
            <a:r>
              <a:rPr dirty="0" sz="1400" spc="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than</a:t>
            </a:r>
            <a:r>
              <a:rPr dirty="0" sz="1400" spc="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rule-based</a:t>
            </a:r>
            <a:r>
              <a:rPr dirty="0" sz="1400" spc="-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Adaptive</a:t>
            </a:r>
            <a:r>
              <a:rPr dirty="0" sz="1400" spc="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RAG</a:t>
            </a:r>
            <a:r>
              <a:rPr dirty="0" sz="1400" spc="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with</a:t>
            </a:r>
            <a:r>
              <a:rPr dirty="0" sz="1400" spc="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no</a:t>
            </a:r>
            <a:r>
              <a:rPr dirty="0" sz="1400" spc="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task-specific</a:t>
            </a:r>
            <a:r>
              <a:rPr dirty="0" sz="1400" spc="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tuning</a:t>
            </a:r>
            <a:r>
              <a:rPr dirty="0" sz="1400" spc="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of</a:t>
            </a:r>
            <a:r>
              <a:rPr dirty="0" sz="1400" spc="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dirty="0" sz="1400" spc="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predictor.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08456" y="3157816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08456" y="3737063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08456" y="4102823"/>
            <a:ext cx="88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333333"/>
                </a:solidFill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51534" y="4131983"/>
            <a:ext cx="978090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End-to-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end: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 real-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world 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multilingual</a:t>
            </a:r>
            <a:r>
              <a:rPr dirty="0" sz="14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ingestion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→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systematic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evaluation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→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learned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filtering yields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dirty="0" sz="14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reproducible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framework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5">
                <a:solidFill>
                  <a:srgbClr val="333333"/>
                </a:solidFill>
                <a:latin typeface="Microsoft Sans Serif"/>
                <a:cs typeface="Microsoft Sans Serif"/>
              </a:rPr>
              <a:t>for </a:t>
            </a:r>
            <a:r>
              <a:rPr dirty="0" sz="1400" spc="-10">
                <a:solidFill>
                  <a:srgbClr val="333333"/>
                </a:solidFill>
                <a:latin typeface="Microsoft Sans Serif"/>
                <a:cs typeface="Microsoft Sans Serif"/>
              </a:rPr>
              <a:t>multi-</a:t>
            </a:r>
            <a:r>
              <a:rPr dirty="0" sz="1400">
                <a:solidFill>
                  <a:srgbClr val="333333"/>
                </a:solidFill>
                <a:latin typeface="Microsoft Sans Serif"/>
                <a:cs typeface="Microsoft Sans Serif"/>
              </a:rPr>
              <a:t>domain</a:t>
            </a:r>
            <a:r>
              <a:rPr dirty="0" sz="14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333333"/>
                </a:solidFill>
                <a:latin typeface="Microsoft Sans Serif"/>
                <a:cs typeface="Microsoft Sans Serif"/>
              </a:rPr>
              <a:t>NLP.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3833824"/>
            <a:ext cx="4211955" cy="3023870"/>
            <a:chOff x="0" y="3833824"/>
            <a:chExt cx="4211955" cy="3023870"/>
          </a:xfrm>
        </p:grpSpPr>
        <p:sp>
          <p:nvSpPr>
            <p:cNvPr id="3" name="object 3" descr=""/>
            <p:cNvSpPr/>
            <p:nvPr/>
          </p:nvSpPr>
          <p:spPr>
            <a:xfrm>
              <a:off x="548284" y="3840124"/>
              <a:ext cx="3657600" cy="2011680"/>
            </a:xfrm>
            <a:custGeom>
              <a:avLst/>
              <a:gdLst/>
              <a:ahLst/>
              <a:cxnLst/>
              <a:rect l="l" t="t" r="r" b="b"/>
              <a:pathLst>
                <a:path w="3657600" h="2011679">
                  <a:moveTo>
                    <a:pt x="3657231" y="0"/>
                  </a:moveTo>
                  <a:lnTo>
                    <a:pt x="0" y="0"/>
                  </a:lnTo>
                  <a:lnTo>
                    <a:pt x="0" y="2011311"/>
                  </a:lnTo>
                  <a:lnTo>
                    <a:pt x="1828800" y="2011311"/>
                  </a:lnTo>
                  <a:lnTo>
                    <a:pt x="3657231" y="2011311"/>
                  </a:lnTo>
                  <a:lnTo>
                    <a:pt x="36572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48284" y="3840124"/>
              <a:ext cx="3657600" cy="2011680"/>
            </a:xfrm>
            <a:custGeom>
              <a:avLst/>
              <a:gdLst/>
              <a:ahLst/>
              <a:cxnLst/>
              <a:rect l="l" t="t" r="r" b="b"/>
              <a:pathLst>
                <a:path w="3657600" h="2011679">
                  <a:moveTo>
                    <a:pt x="1828800" y="2011311"/>
                  </a:moveTo>
                  <a:lnTo>
                    <a:pt x="0" y="2011311"/>
                  </a:lnTo>
                  <a:lnTo>
                    <a:pt x="0" y="0"/>
                  </a:lnTo>
                  <a:lnTo>
                    <a:pt x="3657231" y="0"/>
                  </a:lnTo>
                  <a:lnTo>
                    <a:pt x="3657231" y="2011311"/>
                  </a:lnTo>
                  <a:lnTo>
                    <a:pt x="1828800" y="2011311"/>
                  </a:lnTo>
                  <a:close/>
                </a:path>
              </a:pathLst>
            </a:custGeom>
            <a:ln w="1259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77240" y="4068724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637" y="0"/>
                  </a:moveTo>
                  <a:lnTo>
                    <a:pt x="186348" y="8682"/>
                  </a:lnTo>
                  <a:lnTo>
                    <a:pt x="125641" y="33832"/>
                  </a:lnTo>
                  <a:lnTo>
                    <a:pt x="73666" y="73837"/>
                  </a:lnTo>
                  <a:lnTo>
                    <a:pt x="33845" y="125996"/>
                  </a:lnTo>
                  <a:lnTo>
                    <a:pt x="8550" y="186521"/>
                  </a:lnTo>
                  <a:lnTo>
                    <a:pt x="0" y="251637"/>
                  </a:lnTo>
                  <a:lnTo>
                    <a:pt x="2148" y="284579"/>
                  </a:lnTo>
                  <a:lnTo>
                    <a:pt x="19138" y="347773"/>
                  </a:lnTo>
                  <a:lnTo>
                    <a:pt x="52085" y="404684"/>
                  </a:lnTo>
                  <a:lnTo>
                    <a:pt x="98285" y="451132"/>
                  </a:lnTo>
                  <a:lnTo>
                    <a:pt x="155202" y="483931"/>
                  </a:lnTo>
                  <a:lnTo>
                    <a:pt x="218640" y="500776"/>
                  </a:lnTo>
                  <a:lnTo>
                    <a:pt x="251637" y="502919"/>
                  </a:lnTo>
                  <a:lnTo>
                    <a:pt x="284429" y="500776"/>
                  </a:lnTo>
                  <a:lnTo>
                    <a:pt x="347723" y="483931"/>
                  </a:lnTo>
                  <a:lnTo>
                    <a:pt x="404634" y="451132"/>
                  </a:lnTo>
                  <a:lnTo>
                    <a:pt x="450834" y="404684"/>
                  </a:lnTo>
                  <a:lnTo>
                    <a:pt x="483781" y="347773"/>
                  </a:lnTo>
                  <a:lnTo>
                    <a:pt x="500771" y="284579"/>
                  </a:lnTo>
                  <a:lnTo>
                    <a:pt x="502919" y="251637"/>
                  </a:lnTo>
                  <a:lnTo>
                    <a:pt x="500771" y="218690"/>
                  </a:lnTo>
                  <a:lnTo>
                    <a:pt x="483781" y="155500"/>
                  </a:lnTo>
                  <a:lnTo>
                    <a:pt x="450834" y="98583"/>
                  </a:lnTo>
                  <a:lnTo>
                    <a:pt x="404634" y="52130"/>
                  </a:lnTo>
                  <a:lnTo>
                    <a:pt x="347723" y="19282"/>
                  </a:lnTo>
                  <a:lnTo>
                    <a:pt x="284429" y="2198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54221" y="444144"/>
            <a:ext cx="395668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43785" algn="l"/>
              </a:tabLst>
            </a:pPr>
            <a:r>
              <a:rPr dirty="0" spc="495"/>
              <a:t>FUTURE</a:t>
            </a:r>
            <a:r>
              <a:rPr dirty="0"/>
              <a:t>	</a:t>
            </a:r>
            <a:r>
              <a:rPr dirty="0" spc="575"/>
              <a:t>WORK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541984" y="1547824"/>
            <a:ext cx="3670300" cy="2024380"/>
            <a:chOff x="541984" y="1547824"/>
            <a:chExt cx="3670300" cy="2024380"/>
          </a:xfrm>
        </p:grpSpPr>
        <p:sp>
          <p:nvSpPr>
            <p:cNvPr id="8" name="object 8" descr=""/>
            <p:cNvSpPr/>
            <p:nvPr/>
          </p:nvSpPr>
          <p:spPr>
            <a:xfrm>
              <a:off x="548284" y="1554124"/>
              <a:ext cx="3657600" cy="2011680"/>
            </a:xfrm>
            <a:custGeom>
              <a:avLst/>
              <a:gdLst/>
              <a:ahLst/>
              <a:cxnLst/>
              <a:rect l="l" t="t" r="r" b="b"/>
              <a:pathLst>
                <a:path w="3657600" h="2011679">
                  <a:moveTo>
                    <a:pt x="1828800" y="2011311"/>
                  </a:moveTo>
                  <a:lnTo>
                    <a:pt x="0" y="2011311"/>
                  </a:lnTo>
                  <a:lnTo>
                    <a:pt x="0" y="0"/>
                  </a:lnTo>
                  <a:lnTo>
                    <a:pt x="3657231" y="0"/>
                  </a:lnTo>
                  <a:lnTo>
                    <a:pt x="3657231" y="2011311"/>
                  </a:lnTo>
                  <a:lnTo>
                    <a:pt x="1828800" y="2011311"/>
                  </a:lnTo>
                  <a:close/>
                </a:path>
              </a:pathLst>
            </a:custGeom>
            <a:ln w="1259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77240" y="178308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637" y="0"/>
                  </a:moveTo>
                  <a:lnTo>
                    <a:pt x="186348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202" y="483576"/>
                  </a:lnTo>
                  <a:lnTo>
                    <a:pt x="218640" y="500421"/>
                  </a:lnTo>
                  <a:lnTo>
                    <a:pt x="251637" y="502564"/>
                  </a:lnTo>
                  <a:lnTo>
                    <a:pt x="284429" y="500421"/>
                  </a:lnTo>
                  <a:lnTo>
                    <a:pt x="347723" y="483576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19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867244" y="1899983"/>
            <a:ext cx="2852420" cy="946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  <a:tabLst>
                <a:tab pos="549910" algn="l"/>
              </a:tabLst>
            </a:pPr>
            <a:r>
              <a:rPr dirty="0" sz="1600" spc="-50" b="1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60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600" b="1">
                <a:solidFill>
                  <a:srgbClr val="191919"/>
                </a:solidFill>
                <a:latin typeface="Trebuchet MS"/>
                <a:cs typeface="Trebuchet MS"/>
              </a:rPr>
              <a:t>Large-scale</a:t>
            </a:r>
            <a:r>
              <a:rPr dirty="0" sz="1600" spc="26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191919"/>
                </a:solidFill>
                <a:latin typeface="Trebuchet MS"/>
                <a:cs typeface="Trebuchet MS"/>
              </a:rPr>
              <a:t>training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600">
              <a:latin typeface="Trebuchet MS"/>
              <a:cs typeface="Trebuchet MS"/>
            </a:endParaRPr>
          </a:p>
          <a:p>
            <a:pPr marR="5080">
              <a:lnSpc>
                <a:spcPct val="100000"/>
              </a:lnSpc>
            </a:pP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Retrain on</a:t>
            </a:r>
            <a:r>
              <a:rPr dirty="0" sz="12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full</a:t>
            </a:r>
            <a:r>
              <a:rPr dirty="0" sz="12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93,738-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entry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QA</a:t>
            </a:r>
            <a:r>
              <a:rPr dirty="0" sz="1200" spc="-7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corpus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with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balanced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labels.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382464" y="1547824"/>
            <a:ext cx="3670300" cy="2024380"/>
            <a:chOff x="4382464" y="1547824"/>
            <a:chExt cx="3670300" cy="2024380"/>
          </a:xfrm>
        </p:grpSpPr>
        <p:sp>
          <p:nvSpPr>
            <p:cNvPr id="12" name="object 12" descr=""/>
            <p:cNvSpPr/>
            <p:nvPr/>
          </p:nvSpPr>
          <p:spPr>
            <a:xfrm>
              <a:off x="4388764" y="1554124"/>
              <a:ext cx="3657600" cy="2011680"/>
            </a:xfrm>
            <a:custGeom>
              <a:avLst/>
              <a:gdLst/>
              <a:ahLst/>
              <a:cxnLst/>
              <a:rect l="l" t="t" r="r" b="b"/>
              <a:pathLst>
                <a:path w="3657600" h="2011679">
                  <a:moveTo>
                    <a:pt x="1828800" y="2011311"/>
                  </a:moveTo>
                  <a:lnTo>
                    <a:pt x="0" y="2011311"/>
                  </a:lnTo>
                  <a:lnTo>
                    <a:pt x="0" y="0"/>
                  </a:lnTo>
                  <a:lnTo>
                    <a:pt x="3657231" y="0"/>
                  </a:lnTo>
                  <a:lnTo>
                    <a:pt x="3657231" y="2011311"/>
                  </a:lnTo>
                  <a:lnTo>
                    <a:pt x="1828800" y="2011311"/>
                  </a:lnTo>
                  <a:close/>
                </a:path>
              </a:pathLst>
            </a:custGeom>
            <a:ln w="1259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617720" y="178308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637" y="0"/>
                  </a:moveTo>
                  <a:lnTo>
                    <a:pt x="186348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202" y="483576"/>
                  </a:lnTo>
                  <a:lnTo>
                    <a:pt x="218640" y="500421"/>
                  </a:lnTo>
                  <a:lnTo>
                    <a:pt x="251637" y="502564"/>
                  </a:lnTo>
                  <a:lnTo>
                    <a:pt x="284429" y="500421"/>
                  </a:lnTo>
                  <a:lnTo>
                    <a:pt x="347723" y="483576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19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4707725" y="1899983"/>
            <a:ext cx="2929255" cy="946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  <a:tabLst>
                <a:tab pos="549910" algn="l"/>
              </a:tabLst>
            </a:pPr>
            <a:r>
              <a:rPr dirty="0" sz="1600" spc="-50" b="1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60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600" b="1">
                <a:solidFill>
                  <a:srgbClr val="191919"/>
                </a:solidFill>
                <a:latin typeface="Trebuchet MS"/>
                <a:cs typeface="Trebuchet MS"/>
              </a:rPr>
              <a:t>Dynamic</a:t>
            </a:r>
            <a:r>
              <a:rPr dirty="0" sz="1600" spc="19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191919"/>
                </a:solidFill>
                <a:latin typeface="Trebuchet MS"/>
                <a:cs typeface="Trebuchet MS"/>
              </a:rPr>
              <a:t>thresholds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600">
              <a:latin typeface="Trebuchet MS"/>
              <a:cs typeface="Trebuchet MS"/>
            </a:endParaRPr>
          </a:p>
          <a:p>
            <a:pPr marR="5080">
              <a:lnSpc>
                <a:spcPct val="100000"/>
              </a:lnSpc>
            </a:pP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Learn</a:t>
            </a:r>
            <a:r>
              <a:rPr dirty="0" sz="12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task-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specific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filter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thresholds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via</a:t>
            </a:r>
            <a:r>
              <a:rPr dirty="0" sz="12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dev-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set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optimisation.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8222944" y="1547824"/>
            <a:ext cx="3670300" cy="2024380"/>
            <a:chOff x="8222944" y="1547824"/>
            <a:chExt cx="3670300" cy="2024380"/>
          </a:xfrm>
        </p:grpSpPr>
        <p:sp>
          <p:nvSpPr>
            <p:cNvPr id="16" name="object 16" descr=""/>
            <p:cNvSpPr/>
            <p:nvPr/>
          </p:nvSpPr>
          <p:spPr>
            <a:xfrm>
              <a:off x="8229244" y="1554124"/>
              <a:ext cx="3657600" cy="2011680"/>
            </a:xfrm>
            <a:custGeom>
              <a:avLst/>
              <a:gdLst/>
              <a:ahLst/>
              <a:cxnLst/>
              <a:rect l="l" t="t" r="r" b="b"/>
              <a:pathLst>
                <a:path w="3657600" h="2011679">
                  <a:moveTo>
                    <a:pt x="3657231" y="0"/>
                  </a:moveTo>
                  <a:lnTo>
                    <a:pt x="0" y="0"/>
                  </a:lnTo>
                  <a:lnTo>
                    <a:pt x="0" y="2011311"/>
                  </a:lnTo>
                  <a:lnTo>
                    <a:pt x="1828800" y="2011311"/>
                  </a:lnTo>
                  <a:lnTo>
                    <a:pt x="3657231" y="2011311"/>
                  </a:lnTo>
                  <a:lnTo>
                    <a:pt x="36572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229244" y="1554124"/>
              <a:ext cx="3657600" cy="2011680"/>
            </a:xfrm>
            <a:custGeom>
              <a:avLst/>
              <a:gdLst/>
              <a:ahLst/>
              <a:cxnLst/>
              <a:rect l="l" t="t" r="r" b="b"/>
              <a:pathLst>
                <a:path w="3657600" h="2011679">
                  <a:moveTo>
                    <a:pt x="1828800" y="2011311"/>
                  </a:moveTo>
                  <a:lnTo>
                    <a:pt x="0" y="2011311"/>
                  </a:lnTo>
                  <a:lnTo>
                    <a:pt x="0" y="0"/>
                  </a:lnTo>
                  <a:lnTo>
                    <a:pt x="3657231" y="0"/>
                  </a:lnTo>
                  <a:lnTo>
                    <a:pt x="3657231" y="2011311"/>
                  </a:lnTo>
                  <a:lnTo>
                    <a:pt x="1828800" y="2011311"/>
                  </a:lnTo>
                  <a:close/>
                </a:path>
              </a:pathLst>
            </a:custGeom>
            <a:ln w="1259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458200" y="178308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637" y="0"/>
                  </a:moveTo>
                  <a:lnTo>
                    <a:pt x="186348" y="8504"/>
                  </a:lnTo>
                  <a:lnTo>
                    <a:pt x="125641" y="33477"/>
                  </a:lnTo>
                  <a:lnTo>
                    <a:pt x="73666" y="73482"/>
                  </a:lnTo>
                  <a:lnTo>
                    <a:pt x="33845" y="125641"/>
                  </a:lnTo>
                  <a:lnTo>
                    <a:pt x="8550" y="186166"/>
                  </a:lnTo>
                  <a:lnTo>
                    <a:pt x="0" y="251282"/>
                  </a:lnTo>
                  <a:lnTo>
                    <a:pt x="2148" y="284224"/>
                  </a:lnTo>
                  <a:lnTo>
                    <a:pt x="19138" y="347417"/>
                  </a:lnTo>
                  <a:lnTo>
                    <a:pt x="52085" y="404328"/>
                  </a:lnTo>
                  <a:lnTo>
                    <a:pt x="98285" y="450777"/>
                  </a:lnTo>
                  <a:lnTo>
                    <a:pt x="155202" y="483576"/>
                  </a:lnTo>
                  <a:lnTo>
                    <a:pt x="218640" y="500421"/>
                  </a:lnTo>
                  <a:lnTo>
                    <a:pt x="251637" y="502564"/>
                  </a:lnTo>
                  <a:lnTo>
                    <a:pt x="284429" y="500421"/>
                  </a:lnTo>
                  <a:lnTo>
                    <a:pt x="347723" y="483576"/>
                  </a:lnTo>
                  <a:lnTo>
                    <a:pt x="404634" y="450777"/>
                  </a:lnTo>
                  <a:lnTo>
                    <a:pt x="450834" y="404328"/>
                  </a:lnTo>
                  <a:lnTo>
                    <a:pt x="483781" y="347417"/>
                  </a:lnTo>
                  <a:lnTo>
                    <a:pt x="500771" y="284224"/>
                  </a:lnTo>
                  <a:lnTo>
                    <a:pt x="502920" y="251282"/>
                  </a:lnTo>
                  <a:lnTo>
                    <a:pt x="500771" y="218334"/>
                  </a:lnTo>
                  <a:lnTo>
                    <a:pt x="483781" y="155145"/>
                  </a:lnTo>
                  <a:lnTo>
                    <a:pt x="450834" y="98228"/>
                  </a:lnTo>
                  <a:lnTo>
                    <a:pt x="404634" y="51774"/>
                  </a:lnTo>
                  <a:lnTo>
                    <a:pt x="347723" y="18982"/>
                  </a:lnTo>
                  <a:lnTo>
                    <a:pt x="284429" y="2142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8548204" y="1899983"/>
            <a:ext cx="2914650" cy="946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  <a:tabLst>
                <a:tab pos="549910" algn="l"/>
              </a:tabLst>
            </a:pPr>
            <a:r>
              <a:rPr dirty="0" sz="1600" spc="-50" b="1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60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600" spc="80" b="1">
                <a:solidFill>
                  <a:srgbClr val="191919"/>
                </a:solidFill>
                <a:latin typeface="Trebuchet MS"/>
                <a:cs typeface="Trebuchet MS"/>
              </a:rPr>
              <a:t>Cross-</a:t>
            </a:r>
            <a:r>
              <a:rPr dirty="0" sz="1600" b="1">
                <a:solidFill>
                  <a:srgbClr val="191919"/>
                </a:solidFill>
                <a:latin typeface="Trebuchet MS"/>
                <a:cs typeface="Trebuchet MS"/>
              </a:rPr>
              <a:t>lingual</a:t>
            </a:r>
            <a:r>
              <a:rPr dirty="0" sz="1600" spc="8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600" spc="125" b="1">
                <a:solidFill>
                  <a:srgbClr val="191919"/>
                </a:solidFill>
                <a:latin typeface="Trebuchet MS"/>
                <a:cs typeface="Trebuchet MS"/>
              </a:rPr>
              <a:t>RAG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600">
              <a:latin typeface="Trebuchet MS"/>
              <a:cs typeface="Trebuchet MS"/>
            </a:endParaRPr>
          </a:p>
          <a:p>
            <a:pPr marR="5080">
              <a:lnSpc>
                <a:spcPct val="100000"/>
              </a:lnSpc>
            </a:pP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Extend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evaluation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to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Hindi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Tamil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Telugu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0">
                <a:solidFill>
                  <a:srgbClr val="333333"/>
                </a:solidFill>
                <a:latin typeface="Microsoft Sans Serif"/>
                <a:cs typeface="Microsoft Sans Serif"/>
              </a:rPr>
              <a:t>/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Bengali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using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LaBSE.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67244" y="4185983"/>
            <a:ext cx="2861310" cy="946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  <a:tabLst>
                <a:tab pos="549910" algn="l"/>
              </a:tabLst>
            </a:pPr>
            <a:r>
              <a:rPr dirty="0" sz="1600" spc="-50" b="1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r>
              <a:rPr dirty="0" sz="160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600" b="1">
                <a:solidFill>
                  <a:srgbClr val="191919"/>
                </a:solidFill>
                <a:latin typeface="Trebuchet MS"/>
                <a:cs typeface="Trebuchet MS"/>
              </a:rPr>
              <a:t>Generator</a:t>
            </a:r>
            <a:r>
              <a:rPr dirty="0" sz="1600" spc="-114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191919"/>
                </a:solidFill>
                <a:latin typeface="Trebuchet MS"/>
                <a:cs typeface="Trebuchet MS"/>
              </a:rPr>
              <a:t>upgrade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600">
              <a:latin typeface="Trebuchet MS"/>
              <a:cs typeface="Trebuchet MS"/>
            </a:endParaRPr>
          </a:p>
          <a:p>
            <a:pPr marR="5080">
              <a:lnSpc>
                <a:spcPct val="100000"/>
              </a:lnSpc>
            </a:pP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Move</a:t>
            </a:r>
            <a:r>
              <a:rPr dirty="0" sz="12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FLAN-T5-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small</a:t>
            </a:r>
            <a:r>
              <a:rPr dirty="0" sz="1200" spc="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→</a:t>
            </a:r>
            <a:r>
              <a:rPr dirty="0" sz="1200" spc="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FLAN-T5-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base 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or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quantised</a:t>
            </a:r>
            <a:r>
              <a:rPr dirty="0" sz="12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Mistral-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7B.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4382464" y="3833824"/>
            <a:ext cx="3670300" cy="2024380"/>
            <a:chOff x="4382464" y="3833824"/>
            <a:chExt cx="3670300" cy="2024380"/>
          </a:xfrm>
        </p:grpSpPr>
        <p:sp>
          <p:nvSpPr>
            <p:cNvPr id="22" name="object 22" descr=""/>
            <p:cNvSpPr/>
            <p:nvPr/>
          </p:nvSpPr>
          <p:spPr>
            <a:xfrm>
              <a:off x="4388764" y="3840124"/>
              <a:ext cx="3657600" cy="2011680"/>
            </a:xfrm>
            <a:custGeom>
              <a:avLst/>
              <a:gdLst/>
              <a:ahLst/>
              <a:cxnLst/>
              <a:rect l="l" t="t" r="r" b="b"/>
              <a:pathLst>
                <a:path w="3657600" h="2011679">
                  <a:moveTo>
                    <a:pt x="1828800" y="2011311"/>
                  </a:moveTo>
                  <a:lnTo>
                    <a:pt x="0" y="2011311"/>
                  </a:lnTo>
                  <a:lnTo>
                    <a:pt x="0" y="0"/>
                  </a:lnTo>
                  <a:lnTo>
                    <a:pt x="3657231" y="0"/>
                  </a:lnTo>
                  <a:lnTo>
                    <a:pt x="3657231" y="2011311"/>
                  </a:lnTo>
                  <a:lnTo>
                    <a:pt x="1828800" y="2011311"/>
                  </a:lnTo>
                  <a:close/>
                </a:path>
              </a:pathLst>
            </a:custGeom>
            <a:ln w="1259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617720" y="4068724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637" y="0"/>
                  </a:moveTo>
                  <a:lnTo>
                    <a:pt x="186348" y="8682"/>
                  </a:lnTo>
                  <a:lnTo>
                    <a:pt x="125641" y="33832"/>
                  </a:lnTo>
                  <a:lnTo>
                    <a:pt x="73666" y="73837"/>
                  </a:lnTo>
                  <a:lnTo>
                    <a:pt x="33845" y="125996"/>
                  </a:lnTo>
                  <a:lnTo>
                    <a:pt x="8550" y="186521"/>
                  </a:lnTo>
                  <a:lnTo>
                    <a:pt x="0" y="251637"/>
                  </a:lnTo>
                  <a:lnTo>
                    <a:pt x="2148" y="284579"/>
                  </a:lnTo>
                  <a:lnTo>
                    <a:pt x="19138" y="347773"/>
                  </a:lnTo>
                  <a:lnTo>
                    <a:pt x="52085" y="404684"/>
                  </a:lnTo>
                  <a:lnTo>
                    <a:pt x="98285" y="451132"/>
                  </a:lnTo>
                  <a:lnTo>
                    <a:pt x="155202" y="483931"/>
                  </a:lnTo>
                  <a:lnTo>
                    <a:pt x="218640" y="500776"/>
                  </a:lnTo>
                  <a:lnTo>
                    <a:pt x="251637" y="502919"/>
                  </a:lnTo>
                  <a:lnTo>
                    <a:pt x="284429" y="500776"/>
                  </a:lnTo>
                  <a:lnTo>
                    <a:pt x="347723" y="483931"/>
                  </a:lnTo>
                  <a:lnTo>
                    <a:pt x="404634" y="451132"/>
                  </a:lnTo>
                  <a:lnTo>
                    <a:pt x="450834" y="404684"/>
                  </a:lnTo>
                  <a:lnTo>
                    <a:pt x="483781" y="347773"/>
                  </a:lnTo>
                  <a:lnTo>
                    <a:pt x="500771" y="284579"/>
                  </a:lnTo>
                  <a:lnTo>
                    <a:pt x="502919" y="251637"/>
                  </a:lnTo>
                  <a:lnTo>
                    <a:pt x="500771" y="218690"/>
                  </a:lnTo>
                  <a:lnTo>
                    <a:pt x="483781" y="155500"/>
                  </a:lnTo>
                  <a:lnTo>
                    <a:pt x="450834" y="98583"/>
                  </a:lnTo>
                  <a:lnTo>
                    <a:pt x="404634" y="52130"/>
                  </a:lnTo>
                  <a:lnTo>
                    <a:pt x="347723" y="19282"/>
                  </a:lnTo>
                  <a:lnTo>
                    <a:pt x="284429" y="2198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4707725" y="4185983"/>
            <a:ext cx="3021965" cy="946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  <a:tabLst>
                <a:tab pos="549910" algn="l"/>
              </a:tabLst>
            </a:pPr>
            <a:r>
              <a:rPr dirty="0" sz="1600" spc="-50" b="1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r>
              <a:rPr dirty="0" sz="160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600" b="1">
                <a:solidFill>
                  <a:srgbClr val="191919"/>
                </a:solidFill>
                <a:latin typeface="Trebuchet MS"/>
                <a:cs typeface="Trebuchet MS"/>
              </a:rPr>
              <a:t>Wiser</a:t>
            </a:r>
            <a:r>
              <a:rPr dirty="0" sz="1600" spc="-2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191919"/>
                </a:solidFill>
                <a:latin typeface="Trebuchet MS"/>
                <a:cs typeface="Trebuchet MS"/>
              </a:rPr>
              <a:t>+</a:t>
            </a:r>
            <a:r>
              <a:rPr dirty="0" sz="1600" spc="-65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600" spc="160" b="1">
                <a:solidFill>
                  <a:srgbClr val="191919"/>
                </a:solidFill>
                <a:latin typeface="Trebuchet MS"/>
                <a:cs typeface="Trebuchet MS"/>
              </a:rPr>
              <a:t>ARCC</a:t>
            </a:r>
            <a:r>
              <a:rPr dirty="0" sz="1600" spc="-10" b="1">
                <a:solidFill>
                  <a:srgbClr val="191919"/>
                </a:solidFill>
                <a:latin typeface="Trebuchet MS"/>
                <a:cs typeface="Trebuchet MS"/>
              </a:rPr>
              <a:t> integration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600">
              <a:latin typeface="Trebuchet MS"/>
              <a:cs typeface="Trebuchet MS"/>
            </a:endParaRPr>
          </a:p>
          <a:p>
            <a:pPr marR="283845">
              <a:lnSpc>
                <a:spcPct val="100000"/>
              </a:lnSpc>
            </a:pP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Wire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learned</a:t>
            </a:r>
            <a:r>
              <a:rPr dirty="0" sz="12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filtering</a:t>
            </a:r>
            <a:r>
              <a:rPr dirty="0" sz="12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directly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into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the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live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Wiser</a:t>
            </a:r>
            <a:r>
              <a:rPr dirty="0" sz="12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article</a:t>
            </a:r>
            <a:r>
              <a:rPr dirty="0" sz="12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store.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8222944" y="3833824"/>
            <a:ext cx="3670300" cy="2024380"/>
            <a:chOff x="8222944" y="3833824"/>
            <a:chExt cx="3670300" cy="2024380"/>
          </a:xfrm>
        </p:grpSpPr>
        <p:sp>
          <p:nvSpPr>
            <p:cNvPr id="26" name="object 26" descr=""/>
            <p:cNvSpPr/>
            <p:nvPr/>
          </p:nvSpPr>
          <p:spPr>
            <a:xfrm>
              <a:off x="8229244" y="3840124"/>
              <a:ext cx="3657600" cy="2011680"/>
            </a:xfrm>
            <a:custGeom>
              <a:avLst/>
              <a:gdLst/>
              <a:ahLst/>
              <a:cxnLst/>
              <a:rect l="l" t="t" r="r" b="b"/>
              <a:pathLst>
                <a:path w="3657600" h="2011679">
                  <a:moveTo>
                    <a:pt x="1828800" y="2011311"/>
                  </a:moveTo>
                  <a:lnTo>
                    <a:pt x="0" y="2011311"/>
                  </a:lnTo>
                  <a:lnTo>
                    <a:pt x="0" y="0"/>
                  </a:lnTo>
                  <a:lnTo>
                    <a:pt x="3657231" y="0"/>
                  </a:lnTo>
                  <a:lnTo>
                    <a:pt x="3657231" y="2011311"/>
                  </a:lnTo>
                  <a:lnTo>
                    <a:pt x="1828800" y="2011311"/>
                  </a:lnTo>
                  <a:close/>
                </a:path>
              </a:pathLst>
            </a:custGeom>
            <a:ln w="12599">
              <a:solidFill>
                <a:srgbClr val="E4E6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458200" y="4068724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637" y="0"/>
                  </a:moveTo>
                  <a:lnTo>
                    <a:pt x="186348" y="8682"/>
                  </a:lnTo>
                  <a:lnTo>
                    <a:pt x="125641" y="33832"/>
                  </a:lnTo>
                  <a:lnTo>
                    <a:pt x="73666" y="73837"/>
                  </a:lnTo>
                  <a:lnTo>
                    <a:pt x="33845" y="125996"/>
                  </a:lnTo>
                  <a:lnTo>
                    <a:pt x="8550" y="186521"/>
                  </a:lnTo>
                  <a:lnTo>
                    <a:pt x="0" y="251637"/>
                  </a:lnTo>
                  <a:lnTo>
                    <a:pt x="2148" y="284579"/>
                  </a:lnTo>
                  <a:lnTo>
                    <a:pt x="19138" y="347773"/>
                  </a:lnTo>
                  <a:lnTo>
                    <a:pt x="52085" y="404684"/>
                  </a:lnTo>
                  <a:lnTo>
                    <a:pt x="98285" y="451132"/>
                  </a:lnTo>
                  <a:lnTo>
                    <a:pt x="155202" y="483931"/>
                  </a:lnTo>
                  <a:lnTo>
                    <a:pt x="218640" y="500776"/>
                  </a:lnTo>
                  <a:lnTo>
                    <a:pt x="251637" y="502919"/>
                  </a:lnTo>
                  <a:lnTo>
                    <a:pt x="284429" y="500776"/>
                  </a:lnTo>
                  <a:lnTo>
                    <a:pt x="347723" y="483931"/>
                  </a:lnTo>
                  <a:lnTo>
                    <a:pt x="404634" y="451132"/>
                  </a:lnTo>
                  <a:lnTo>
                    <a:pt x="450834" y="404684"/>
                  </a:lnTo>
                  <a:lnTo>
                    <a:pt x="483781" y="347773"/>
                  </a:lnTo>
                  <a:lnTo>
                    <a:pt x="500771" y="284579"/>
                  </a:lnTo>
                  <a:lnTo>
                    <a:pt x="502920" y="251637"/>
                  </a:lnTo>
                  <a:lnTo>
                    <a:pt x="500771" y="218690"/>
                  </a:lnTo>
                  <a:lnTo>
                    <a:pt x="483781" y="155500"/>
                  </a:lnTo>
                  <a:lnTo>
                    <a:pt x="450834" y="98583"/>
                  </a:lnTo>
                  <a:lnTo>
                    <a:pt x="404634" y="52130"/>
                  </a:lnTo>
                  <a:lnTo>
                    <a:pt x="347723" y="19282"/>
                  </a:lnTo>
                  <a:lnTo>
                    <a:pt x="284429" y="2198"/>
                  </a:lnTo>
                  <a:lnTo>
                    <a:pt x="251637" y="0"/>
                  </a:lnTo>
                  <a:close/>
                </a:path>
              </a:pathLst>
            </a:custGeom>
            <a:solidFill>
              <a:srgbClr val="0C93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8548204" y="4185983"/>
            <a:ext cx="2861310" cy="946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  <a:tabLst>
                <a:tab pos="549910" algn="l"/>
              </a:tabLst>
            </a:pPr>
            <a:r>
              <a:rPr dirty="0" sz="1600" spc="-50" b="1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r>
              <a:rPr dirty="0" sz="1600" b="1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600" b="1">
                <a:solidFill>
                  <a:srgbClr val="191919"/>
                </a:solidFill>
                <a:latin typeface="Trebuchet MS"/>
                <a:cs typeface="Trebuchet MS"/>
              </a:rPr>
              <a:t>Domain</a:t>
            </a:r>
            <a:r>
              <a:rPr dirty="0" sz="1600" spc="17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191919"/>
                </a:solidFill>
                <a:latin typeface="Trebuchet MS"/>
                <a:cs typeface="Trebuchet MS"/>
              </a:rPr>
              <a:t>extension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600">
              <a:latin typeface="Trebuchet MS"/>
              <a:cs typeface="Trebuchet MS"/>
            </a:endParaRPr>
          </a:p>
          <a:p>
            <a:pPr marR="5080">
              <a:lnSpc>
                <a:spcPct val="100000"/>
              </a:lnSpc>
            </a:pP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Test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on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finance</a:t>
            </a:r>
            <a:r>
              <a:rPr dirty="0" sz="12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and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healthcare</a:t>
            </a:r>
            <a:r>
              <a:rPr dirty="0" sz="12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retrieval</a:t>
            </a:r>
            <a:r>
              <a:rPr dirty="0" sz="12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445">
                <a:solidFill>
                  <a:srgbClr val="333333"/>
                </a:solidFill>
                <a:latin typeface="Microsoft Sans Serif"/>
                <a:cs typeface="Microsoft Sans Serif"/>
              </a:rPr>
              <a:t>—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high-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stakes</a:t>
            </a:r>
            <a:r>
              <a:rPr dirty="0" sz="12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settings.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9" name="object 2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60420">
              <a:lnSpc>
                <a:spcPct val="100000"/>
              </a:lnSpc>
              <a:spcBef>
                <a:spcPts val="100"/>
              </a:spcBef>
            </a:pPr>
            <a:r>
              <a:rPr dirty="0" spc="685"/>
              <a:t>REFERENCES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25"/>
              <a:t>23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8456" y="1449260"/>
            <a:ext cx="9427845" cy="2560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4795" indent="-252095">
              <a:lnSpc>
                <a:spcPct val="100000"/>
              </a:lnSpc>
              <a:spcBef>
                <a:spcPts val="100"/>
              </a:spcBef>
              <a:buAutoNum type="arabicPlain"/>
              <a:tabLst>
                <a:tab pos="264795" algn="l"/>
              </a:tabLst>
            </a:pP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Lewis,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40">
                <a:solidFill>
                  <a:srgbClr val="333333"/>
                </a:solidFill>
                <a:latin typeface="Microsoft Sans Serif"/>
                <a:cs typeface="Microsoft Sans Serif"/>
              </a:rPr>
              <a:t>P.,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Perez,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E.,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Piktus,</a:t>
            </a:r>
            <a:r>
              <a:rPr dirty="0" sz="1200" spc="-7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A.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et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al.</a:t>
            </a:r>
            <a:r>
              <a:rPr dirty="0" sz="12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(2020).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Retrieval-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Augmented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Generation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for</a:t>
            </a:r>
            <a:r>
              <a:rPr dirty="0" sz="12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Knowledge-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Intensive NLP</a:t>
            </a:r>
            <a:r>
              <a:rPr dirty="0" sz="1200" spc="-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Tasks.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NeurIPS.</a:t>
            </a:r>
            <a:endParaRPr sz="1200">
              <a:latin typeface="Microsoft Sans Serif"/>
              <a:cs typeface="Microsoft Sans Serif"/>
            </a:endParaRPr>
          </a:p>
          <a:p>
            <a:pPr marL="264795" indent="-252095">
              <a:lnSpc>
                <a:spcPct val="100000"/>
              </a:lnSpc>
              <a:spcBef>
                <a:spcPts val="1000"/>
              </a:spcBef>
              <a:buAutoNum type="arabicPlain"/>
              <a:tabLst>
                <a:tab pos="264795" algn="l"/>
              </a:tabLst>
            </a:pP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Karpukhin,</a:t>
            </a:r>
            <a:r>
              <a:rPr dirty="0" sz="12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V.,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Oguz,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B.,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Min,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S.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et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al.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(2020).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Dense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Passage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Retrieval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for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Open-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Domain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Question</a:t>
            </a:r>
            <a:r>
              <a:rPr dirty="0" sz="1200" spc="-7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Answering.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EMNLP.</a:t>
            </a:r>
            <a:endParaRPr sz="1200">
              <a:latin typeface="Microsoft Sans Serif"/>
              <a:cs typeface="Microsoft Sans Serif"/>
            </a:endParaRPr>
          </a:p>
          <a:p>
            <a:pPr marL="264795" indent="-252095">
              <a:lnSpc>
                <a:spcPct val="100000"/>
              </a:lnSpc>
              <a:spcBef>
                <a:spcPts val="1000"/>
              </a:spcBef>
              <a:buAutoNum type="arabicPlain"/>
              <a:tabLst>
                <a:tab pos="264795" algn="l"/>
              </a:tabLst>
            </a:pP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Izacard,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G.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&amp;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Grave,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E.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(2021).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Leveraging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Passage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Retrieval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with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Generative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Models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for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Open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Domain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QA.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EACL.</a:t>
            </a:r>
            <a:endParaRPr sz="1200">
              <a:latin typeface="Microsoft Sans Serif"/>
              <a:cs typeface="Microsoft Sans Serif"/>
            </a:endParaRPr>
          </a:p>
          <a:p>
            <a:pPr marL="12700" marR="5080" indent="244475">
              <a:lnSpc>
                <a:spcPct val="100000"/>
              </a:lnSpc>
              <a:spcBef>
                <a:spcPts val="1000"/>
              </a:spcBef>
              <a:buAutoNum type="arabicPlain"/>
              <a:tabLst>
                <a:tab pos="257175" algn="l"/>
              </a:tabLst>
            </a:pP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Asai,</a:t>
            </a:r>
            <a:r>
              <a:rPr dirty="0" sz="1200" spc="-7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A.,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Wu,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Z.,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Wang,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45">
                <a:solidFill>
                  <a:srgbClr val="333333"/>
                </a:solidFill>
                <a:latin typeface="Microsoft Sans Serif"/>
                <a:cs typeface="Microsoft Sans Serif"/>
              </a:rPr>
              <a:t>Y.,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Sil,</a:t>
            </a:r>
            <a:r>
              <a:rPr dirty="0" sz="1200" spc="-7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A.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&amp;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Hajishirzi,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H.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(2023).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Self-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RAG: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Learning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to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Retrieve,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Generate,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and</a:t>
            </a:r>
            <a:r>
              <a:rPr dirty="0" sz="12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Critique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through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Self-Reflection. arXiv:2310.11511.</a:t>
            </a:r>
            <a:endParaRPr sz="1200">
              <a:latin typeface="Microsoft Sans Serif"/>
              <a:cs typeface="Microsoft Sans Serif"/>
            </a:endParaRPr>
          </a:p>
          <a:p>
            <a:pPr marL="264795" indent="-252095">
              <a:lnSpc>
                <a:spcPct val="100000"/>
              </a:lnSpc>
              <a:spcBef>
                <a:spcPts val="1000"/>
              </a:spcBef>
              <a:buAutoNum type="arabicPlain"/>
              <a:tabLst>
                <a:tab pos="264795" algn="l"/>
              </a:tabLst>
            </a:pP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Gao,</a:t>
            </a:r>
            <a:r>
              <a:rPr dirty="0" sz="12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45">
                <a:solidFill>
                  <a:srgbClr val="333333"/>
                </a:solidFill>
                <a:latin typeface="Microsoft Sans Serif"/>
                <a:cs typeface="Microsoft Sans Serif"/>
              </a:rPr>
              <a:t>Y.,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Xiong,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C.,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Gao,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M.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et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al.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(2023).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Retrieval-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Augmented</a:t>
            </a:r>
            <a:r>
              <a:rPr dirty="0" sz="1200" spc="-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Generation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for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Large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Language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Models:</a:t>
            </a:r>
            <a:r>
              <a:rPr dirty="0" sz="1200" spc="-7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A</a:t>
            </a:r>
            <a:r>
              <a:rPr dirty="0" sz="1200" spc="-7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Survey. arXiv:2312.10997.</a:t>
            </a:r>
            <a:endParaRPr sz="1200">
              <a:latin typeface="Microsoft Sans Serif"/>
              <a:cs typeface="Microsoft Sans Serif"/>
            </a:endParaRPr>
          </a:p>
          <a:p>
            <a:pPr marL="264795" indent="-252095">
              <a:lnSpc>
                <a:spcPct val="100000"/>
              </a:lnSpc>
              <a:spcBef>
                <a:spcPts val="1000"/>
              </a:spcBef>
              <a:buAutoNum type="arabicPlain"/>
              <a:tabLst>
                <a:tab pos="264795" algn="l"/>
              </a:tabLst>
            </a:pP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Reimers,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N.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&amp;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Gurevych,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I.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(2019).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Sentence-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BERT: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Sentence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Embeddings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using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Siamese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BERT-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Networks.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EMNLP.</a:t>
            </a:r>
            <a:endParaRPr sz="1200">
              <a:latin typeface="Microsoft Sans Serif"/>
              <a:cs typeface="Microsoft Sans Serif"/>
            </a:endParaRPr>
          </a:p>
          <a:p>
            <a:pPr marL="264795" indent="-252095">
              <a:lnSpc>
                <a:spcPct val="100000"/>
              </a:lnSpc>
              <a:spcBef>
                <a:spcPts val="1000"/>
              </a:spcBef>
              <a:buAutoNum type="arabicPlain"/>
              <a:tabLst>
                <a:tab pos="264795" algn="l"/>
              </a:tabLst>
            </a:pP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Feng,</a:t>
            </a:r>
            <a:r>
              <a:rPr dirty="0" sz="1200" spc="-5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45">
                <a:solidFill>
                  <a:srgbClr val="333333"/>
                </a:solidFill>
                <a:latin typeface="Microsoft Sans Serif"/>
                <a:cs typeface="Microsoft Sans Serif"/>
              </a:rPr>
              <a:t>F.,</a:t>
            </a:r>
            <a:r>
              <a:rPr dirty="0" sz="1200" spc="-3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Yang,</a:t>
            </a:r>
            <a:r>
              <a:rPr dirty="0" sz="1200" spc="-4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45">
                <a:solidFill>
                  <a:srgbClr val="333333"/>
                </a:solidFill>
                <a:latin typeface="Microsoft Sans Serif"/>
                <a:cs typeface="Microsoft Sans Serif"/>
              </a:rPr>
              <a:t>Y.,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Cer,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D.,</a:t>
            </a:r>
            <a:r>
              <a:rPr dirty="0" sz="1200" spc="-8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Arivazhagan,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N.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&amp;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Wang,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W.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(2022).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Language-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Agnostic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BERT</a:t>
            </a:r>
            <a:r>
              <a:rPr dirty="0" sz="1200" spc="-4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Sentence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Embedding</a:t>
            </a:r>
            <a:r>
              <a:rPr dirty="0" sz="1200" spc="-3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(LaBSE).</a:t>
            </a:r>
            <a:r>
              <a:rPr dirty="0" sz="1200" spc="-7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ACL.</a:t>
            </a:r>
            <a:endParaRPr sz="1200">
              <a:latin typeface="Microsoft Sans Serif"/>
              <a:cs typeface="Microsoft Sans Serif"/>
            </a:endParaRPr>
          </a:p>
          <a:p>
            <a:pPr marL="264795" indent="-252095">
              <a:lnSpc>
                <a:spcPct val="100000"/>
              </a:lnSpc>
              <a:spcBef>
                <a:spcPts val="1000"/>
              </a:spcBef>
              <a:buAutoNum type="arabicPlain"/>
              <a:tabLst>
                <a:tab pos="264795" algn="l"/>
              </a:tabLst>
            </a:pP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Khanuja,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S.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et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al.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(2021).</a:t>
            </a:r>
            <a:r>
              <a:rPr dirty="0" sz="1200" spc="-2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MuRIL: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Multilingual</a:t>
            </a:r>
            <a:r>
              <a:rPr dirty="0" sz="1200" spc="-15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Representations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for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Indian</a:t>
            </a:r>
            <a:r>
              <a:rPr dirty="0" sz="1200" spc="-2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333333"/>
                </a:solidFill>
                <a:latin typeface="Microsoft Sans Serif"/>
                <a:cs typeface="Microsoft Sans Serif"/>
              </a:rPr>
              <a:t>Languages.</a:t>
            </a:r>
            <a:r>
              <a:rPr dirty="0" sz="1200" spc="-10">
                <a:solidFill>
                  <a:srgbClr val="333333"/>
                </a:solidFill>
                <a:latin typeface="Microsoft Sans Serif"/>
                <a:cs typeface="Microsoft Sans Serif"/>
              </a:rPr>
              <a:t> arXiv:2103.10730.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8464" y="1328293"/>
            <a:ext cx="3883660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1019"/>
              <a:t>T</a:t>
            </a:r>
            <a:r>
              <a:rPr dirty="0" sz="8000" spc="1025"/>
              <a:t>H</a:t>
            </a:r>
            <a:r>
              <a:rPr dirty="0" sz="8000" spc="1019"/>
              <a:t>A</a:t>
            </a:r>
            <a:r>
              <a:rPr dirty="0" sz="8000" spc="1025"/>
              <a:t>N</a:t>
            </a:r>
            <a:r>
              <a:rPr dirty="0" sz="8000" spc="430"/>
              <a:t>K</a:t>
            </a:r>
            <a:endParaRPr sz="8000"/>
          </a:p>
        </p:txBody>
      </p:sp>
      <p:sp>
        <p:nvSpPr>
          <p:cNvPr id="3" name="object 3" descr=""/>
          <p:cNvSpPr txBox="1"/>
          <p:nvPr/>
        </p:nvSpPr>
        <p:spPr>
          <a:xfrm>
            <a:off x="718464" y="2547251"/>
            <a:ext cx="2792095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805" b="1">
                <a:solidFill>
                  <a:srgbClr val="191919"/>
                </a:solidFill>
                <a:latin typeface="Trebuchet MS"/>
                <a:cs typeface="Trebuchet MS"/>
              </a:rPr>
              <a:t>Y</a:t>
            </a:r>
            <a:r>
              <a:rPr dirty="0" sz="8000" spc="825" b="1">
                <a:solidFill>
                  <a:srgbClr val="191919"/>
                </a:solidFill>
                <a:latin typeface="Trebuchet MS"/>
                <a:cs typeface="Trebuchet MS"/>
              </a:rPr>
              <a:t>O</a:t>
            </a:r>
            <a:r>
              <a:rPr dirty="0" sz="8000" spc="819" b="1">
                <a:solidFill>
                  <a:srgbClr val="191919"/>
                </a:solidFill>
                <a:latin typeface="Trebuchet MS"/>
                <a:cs typeface="Trebuchet MS"/>
              </a:rPr>
              <a:t>U</a:t>
            </a:r>
            <a:r>
              <a:rPr dirty="0" sz="8000" spc="225" b="1">
                <a:solidFill>
                  <a:srgbClr val="191919"/>
                </a:solidFill>
                <a:latin typeface="Trebuchet MS"/>
                <a:cs typeface="Trebuchet MS"/>
              </a:rPr>
              <a:t>!</a:t>
            </a:r>
            <a:endParaRPr sz="80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18464" y="3553104"/>
            <a:ext cx="156654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i="1">
                <a:solidFill>
                  <a:srgbClr val="0C9387"/>
                </a:solidFill>
                <a:latin typeface="Arial"/>
                <a:cs typeface="Arial"/>
              </a:rPr>
              <a:t>Questions?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08456" y="4329620"/>
            <a:ext cx="1588135" cy="1426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20" b="1">
                <a:solidFill>
                  <a:srgbClr val="191919"/>
                </a:solidFill>
                <a:latin typeface="Trebuchet MS"/>
                <a:cs typeface="Trebuchet MS"/>
              </a:rPr>
              <a:t>HARSH</a:t>
            </a:r>
            <a:r>
              <a:rPr dirty="0" sz="1600" spc="-25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600" spc="105" b="1">
                <a:solidFill>
                  <a:srgbClr val="191919"/>
                </a:solidFill>
                <a:latin typeface="Trebuchet MS"/>
                <a:cs typeface="Trebuchet MS"/>
              </a:rPr>
              <a:t>DUBEY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200" spc="-10" i="1">
                <a:solidFill>
                  <a:srgbClr val="6A717F"/>
                </a:solidFill>
                <a:latin typeface="Arial"/>
                <a:cs typeface="Arial"/>
              </a:rPr>
              <a:t>2022UIT3012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600" spc="110" b="1">
                <a:solidFill>
                  <a:srgbClr val="191919"/>
                </a:solidFill>
                <a:latin typeface="Trebuchet MS"/>
                <a:cs typeface="Trebuchet MS"/>
              </a:rPr>
              <a:t>PRISHA</a:t>
            </a:r>
            <a:r>
              <a:rPr dirty="0" sz="1600" spc="-80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600" spc="85" b="1">
                <a:solidFill>
                  <a:srgbClr val="191919"/>
                </a:solidFill>
                <a:latin typeface="Trebuchet MS"/>
                <a:cs typeface="Trebuchet MS"/>
              </a:rPr>
              <a:t>MALIK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200" spc="-10" i="1">
                <a:solidFill>
                  <a:srgbClr val="6A717F"/>
                </a:solidFill>
                <a:latin typeface="Arial"/>
                <a:cs typeface="Arial"/>
              </a:rPr>
              <a:t>2022UIT3030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600" spc="80" b="1">
                <a:solidFill>
                  <a:srgbClr val="191919"/>
                </a:solidFill>
                <a:latin typeface="Trebuchet MS"/>
                <a:cs typeface="Trebuchet MS"/>
              </a:rPr>
              <a:t>HARSHIT</a:t>
            </a:r>
            <a:r>
              <a:rPr dirty="0" sz="1600" spc="-5" b="1">
                <a:solidFill>
                  <a:srgbClr val="191919"/>
                </a:solidFill>
                <a:latin typeface="Trebuchet MS"/>
                <a:cs typeface="Trebuchet MS"/>
              </a:rPr>
              <a:t> </a:t>
            </a:r>
            <a:r>
              <a:rPr dirty="0" sz="1600" spc="130" b="1">
                <a:solidFill>
                  <a:srgbClr val="191919"/>
                </a:solidFill>
                <a:latin typeface="Trebuchet MS"/>
                <a:cs typeface="Trebuchet MS"/>
              </a:rPr>
              <a:t>GARG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200" spc="-10" i="1">
                <a:solidFill>
                  <a:srgbClr val="6A717F"/>
                </a:solidFill>
                <a:latin typeface="Arial"/>
                <a:cs typeface="Arial"/>
              </a:rPr>
              <a:t>2022UIT3038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7920" y="91427"/>
            <a:ext cx="5851804" cy="6519621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-355" y="6034684"/>
            <a:ext cx="1097280" cy="822960"/>
          </a:xfrm>
          <a:custGeom>
            <a:avLst/>
            <a:gdLst/>
            <a:ahLst/>
            <a:cxnLst/>
            <a:rect l="l" t="t" r="r" b="b"/>
            <a:pathLst>
              <a:path w="1097280" h="822959">
                <a:moveTo>
                  <a:pt x="1096911" y="0"/>
                </a:moveTo>
                <a:lnTo>
                  <a:pt x="0" y="0"/>
                </a:lnTo>
                <a:lnTo>
                  <a:pt x="0" y="822591"/>
                </a:lnTo>
                <a:lnTo>
                  <a:pt x="548640" y="822591"/>
                </a:lnTo>
                <a:lnTo>
                  <a:pt x="1096911" y="822591"/>
                </a:lnTo>
                <a:lnTo>
                  <a:pt x="1096911" y="0"/>
                </a:lnTo>
                <a:close/>
              </a:path>
            </a:pathLst>
          </a:custGeom>
          <a:solidFill>
            <a:srgbClr val="E4E6E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Harsh Dubey, Prisha Malik, Harshit Garg</dc:creator>
  <dc:subject>PptxGenJS Presentation</dc:subject>
  <dc:title>Confidence-Aware Adaptive RAG with SLMs</dc:title>
  <dcterms:created xsi:type="dcterms:W3CDTF">2026-05-20T06:03:32Z</dcterms:created>
  <dcterms:modified xsi:type="dcterms:W3CDTF">2026-05-20T06:03:32Z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2026-05-12T00:00:00Z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24.2</vt:lpwstr>
  </property>
  <property fmtid="{D5CDD505-2E9C-101B-9397-08002B2CF9AE}" pid="5" name="LastSaved">
    <vt:filetime>2026-05-12T00:00:00Z</vt:filetime>
  </property>
</Properties>
</file>